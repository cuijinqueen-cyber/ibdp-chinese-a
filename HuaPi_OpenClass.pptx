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691640"/>
            <a:ext cx="1005840" cy="254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7A6C"/>
                </a:solidFill>
                <a:latin typeface="Microsoft YaHei"/>
                <a:ea typeface="Microsoft YaHei"/>
              </a:rPr>
              <a:t>高二文学 · 公开课 · 40分钟 · 5人小班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222220"/>
                </a:solidFill>
                <a:latin typeface="Microsoft YaHei"/>
                <a:ea typeface="Microsoft YaHei"/>
              </a:rPr>
              <a:t>识破「妍皮」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154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E6C66"/>
                </a:solidFill>
                <a:latin typeface="Microsoft YaHei"/>
                <a:ea typeface="Microsoft YaHei"/>
              </a:rPr>
              <a:t>《聊斋志异·画皮》精读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94760"/>
            <a:ext cx="2926080" cy="254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69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E6C66"/>
                </a:solidFill>
                <a:latin typeface="Microsoft YaHei"/>
                <a:ea typeface="Microsoft YaHei"/>
              </a:rPr>
              <a:t>先找证据，再争看法，最后自己写出结论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课前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这节课要弄清什么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教师少讲情节，学生多找原文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7A6C"/>
                </a:solidFill>
                <a:latin typeface="Microsoft YaHei"/>
                <a:ea typeface="Microsoft YaHei"/>
              </a:rPr>
              <a:t>核心问题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22220"/>
                </a:solidFill>
                <a:latin typeface="Microsoft YaHei"/>
                <a:ea typeface="Microsoft YaHei"/>
              </a:rPr>
              <a:t>王生是不知道，还是知道了仍不改？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657600"/>
            <a:ext cx="2651760" cy="21945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自己划出至少三处关键原文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657600"/>
            <a:ext cx="2651760" cy="21945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43484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给手法起名字，说清它起什么作用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657600"/>
            <a:ext cx="2651760" cy="21945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43484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争论后，共同写出一句站得住的主题句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3657600"/>
            <a:ext cx="2651760" cy="21945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43484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试挂一个具体的全球性议题（IO 预备）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四十分钟怎么走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每人抽一张任务卡：证据／手法／效果／异议／书记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11155680" cy="804672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" cy="804672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737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点火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76479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7A6C"/>
                </a:solidFill>
                <a:latin typeface="Microsoft YaHei"/>
                <a:ea typeface="Microsoft YaHei"/>
              </a:rPr>
              <a:t>4′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78308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看一句判词，先猜它在说什么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1155680" cy="804672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73152" cy="804672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791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6517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勘探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67919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7A6C"/>
                </a:solidFill>
                <a:latin typeface="Microsoft YaHei"/>
                <a:ea typeface="Microsoft YaHei"/>
              </a:rPr>
              <a:t>10′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9748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默读划线，五人分工找证据、定手法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11155680" cy="804672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429000"/>
            <a:ext cx="73152" cy="804672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593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566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庭辩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59359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7A6C"/>
                </a:solidFill>
                <a:latin typeface="Microsoft YaHei"/>
                <a:ea typeface="Microsoft YaHei"/>
              </a:rPr>
              <a:t>12′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61188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二选一辩题，发言必须带原文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343400"/>
            <a:ext cx="11155680" cy="804672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343400"/>
            <a:ext cx="73152" cy="804672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80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收束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50799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7A6C"/>
                </a:solidFill>
                <a:latin typeface="Microsoft YaHei"/>
                <a:ea typeface="Microsoft YaHei"/>
              </a:rPr>
              <a:t>8′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52628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共写主题句，试挂全球性议题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11155680" cy="804672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57800"/>
            <a:ext cx="73152" cy="804672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422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4A3E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394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出门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42239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7A6C"/>
                </a:solidFill>
                <a:latin typeface="Microsoft YaHei"/>
                <a:ea typeface="Microsoft YaHei"/>
              </a:rPr>
              <a:t>6′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44068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说改口或坚持的一点，交出门条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7A6C"/>
                </a:solidFill>
                <a:latin typeface="Microsoft YaHei"/>
                <a:ea typeface="Microsoft YaHei"/>
              </a:rPr>
              <a:t>环节一 · 点火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0"/>
                </a:solidFill>
                <a:latin typeface="Microsoft YaHei"/>
                <a:ea typeface="Microsoft YaHei"/>
              </a:rPr>
              <a:t>先看这句，别急着讲故事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9966960" cy="2194560"/>
          </a:xfrm>
          <a:prstGeom prst="rect">
            <a:avLst/>
          </a:prstGeom>
          <a:solidFill>
            <a:srgbClr val="EA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828800"/>
            <a:ext cx="91440" cy="219456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24028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0"/>
                </a:solidFill>
                <a:latin typeface="Microsoft YaHei"/>
                <a:ea typeface="Microsoft YaHei"/>
              </a:rPr>
              <a:t>「明明妖也，而以为美。」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——异史氏曰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C4A3E"/>
                </a:solidFill>
                <a:latin typeface="Microsoft YaHei"/>
                <a:ea typeface="Microsoft YaHei"/>
              </a:rPr>
              <a:t>任务（20秒独立写，再轮流说）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0"/>
                </a:solidFill>
                <a:latin typeface="Microsoft YaHei"/>
                <a:ea typeface="Microsoft YaHei"/>
              </a:rPr>
              <a:t>你觉得这句话在批评哪种人？先别翻书。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后面用原文检验：这句判词到底站不站得住。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环节二 · 勘探前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先把情节骨架钉住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出处点到即可；汇报时不要复述全文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备读：译经／唐人小说已有「美妇实鬼」；蒲松龄推进在「铺皮—彩笔细描—披上」，收束到「妍皮裹物，比比皆是」。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3172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0"/>
                </a:solidFill>
                <a:latin typeface="Microsoft YaHei"/>
                <a:ea typeface="Microsoft YaHei"/>
              </a:rPr>
              <a:t>遇美藏匿 → 道士示警，王生不信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44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9008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0"/>
                </a:solidFill>
                <a:latin typeface="Microsoft YaHei"/>
                <a:ea typeface="Microsoft YaHei"/>
              </a:rPr>
              <a:t>窥见绘皮、披皮化女 → 求道士，悬蝇拂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6027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6484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0"/>
                </a:solidFill>
                <a:latin typeface="Microsoft YaHei"/>
                <a:ea typeface="Microsoft YaHei"/>
              </a:rPr>
              <a:t>「心邪，当复有变」→ 鬼复至，裂腹掬心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6110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06824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220"/>
                </a:solidFill>
                <a:latin typeface="Microsoft YaHei"/>
                <a:ea typeface="Microsoft YaHei"/>
              </a:rPr>
              <a:t>道士收妖 → 陈氏忍辱 → 心归腔中，复生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29200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3E"/>
                </a:solidFill>
                <a:latin typeface="Microsoft YaHei"/>
                <a:ea typeface="Microsoft YaHei"/>
              </a:rPr>
              <a:t>划线优先盯四处：「执彩笔而绘之」　「以其言妄，拒之」　「裂腹，掬生心」　「明明妖也，而以为美」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环节二 · 勘探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最硬的一处：绘皮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手法：象征＋细节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1155680" cy="1234440"/>
          </a:xfrm>
          <a:prstGeom prst="rect">
            <a:avLst/>
          </a:prstGeom>
          <a:solidFill>
            <a:srgbClr val="EA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73152" cy="123444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0"/>
                </a:solidFill>
                <a:latin typeface="Microsoft YaHei"/>
                <a:ea typeface="Microsoft YaHei"/>
              </a:rPr>
              <a:t>「见一狞鬼……铺人皮于榻上，执彩笔而绘之。已而掷笔，举皮如振衣状，披于身，遂化为女子。」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17520"/>
            <a:ext cx="11155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5C4A3E"/>
                </a:solidFill>
                <a:latin typeface="Microsoft YaHei"/>
                <a:ea typeface="Microsoft YaHei"/>
              </a:rPr>
              <a:t>可以怎么读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20"/>
                </a:solidFill>
                <a:latin typeface="Microsoft YaHei"/>
                <a:ea typeface="Microsoft YaHei"/>
              </a:rPr>
              <a:t>美不是天生贴在身上的，是画上去、披上去的。越画得细，越说明这层「好看」靠不住。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222220"/>
                </a:solidFill>
                <a:latin typeface="Microsoft YaHei"/>
                <a:ea typeface="Microsoft YaHei"/>
              </a:rPr>
              <a:t>和前面「二八姝丽」「心相爱乐」一对照：王生爱上的，其实是那张皮。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小组追问：若直接写「此乃女鬼」，少了绘皮这一笔，劝诫力量会弱在哪里？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环节二 · 勘探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不是不知，是不改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手法：对比、延宕、反讽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3611880" cy="17373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3611880" cy="381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拒言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「以其言妄，拒之」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00200"/>
            <a:ext cx="3611880" cy="17373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00200"/>
            <a:ext cx="3611880" cy="381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7451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见皮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331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亲眼看见，仍心存侥幸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600200"/>
            <a:ext cx="3611880" cy="17373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600200"/>
            <a:ext cx="3611880" cy="381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7451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0"/>
                </a:solidFill>
                <a:latin typeface="Microsoft YaHei"/>
                <a:ea typeface="Microsoft YaHei"/>
              </a:rPr>
              <a:t>得拂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31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鬼暂退，却「心邪」复变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5760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22220"/>
                </a:solidFill>
                <a:latin typeface="Microsoft YaHei"/>
                <a:ea typeface="Microsoft YaHei"/>
              </a:rPr>
              <a:t>结构上的意思很清楚：机会给足了。他不是信息不够，是心里那点贪还在。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22220"/>
                </a:solidFill>
                <a:latin typeface="Microsoft YaHei"/>
                <a:ea typeface="Microsoft YaHei"/>
              </a:rPr>
              <a:t>夜半鬼复至，径裂腹掬心。异史氏后来说得更直：「既知之而不改，则愚而不可及矣。」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环节二 · 勘探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手法先起名，再说作用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五人卡：证据／手法／效果——给书记员对照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623560" cy="19659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" cy="196596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象征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绘皮、裂腹掬心——「美」和「心」都被写成可拆、可换的物件。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00200"/>
            <a:ext cx="5623560" cy="19659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600200"/>
            <a:ext cx="73152" cy="196596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874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二八姝丽 ↔ 狞鬼；道士示警 ↔ 王生拒之；陈氏忍辱 ↔ 王生贪色。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94760"/>
            <a:ext cx="5623560" cy="19659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94760"/>
            <a:ext cx="73152" cy="196596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延宕／反复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拒言 → 见皮 → 得拂 → 心邪复变。机会给足了，才显「不改」。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794760"/>
            <a:ext cx="5623560" cy="196596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794760"/>
            <a:ext cx="73152" cy="196596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反讽与论赞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57200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情节已够劝惩；异史氏再点「明明妖也，而以为美」，矛头从鬼推到世人。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环节二 · 勘探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两个人物，对照着看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女鬼与陈氏——先找原文，再谈评价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440680" cy="457200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440680" cy="381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画皮女鬼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外表：二八姝丽，哀告被鬻、受虐，求庇护。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内里：翠面锯齿，绘皮，裂腹取心。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无名无姓，来历含糊——更像「皮相」的符号。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注意：文本写「惑」，不等于把所有女性写成祸水。争论留到庭辩。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5440680" cy="457200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5440680" cy="381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5C4A3E"/>
                </a:solidFill>
                <a:latin typeface="Microsoft YaHei"/>
                <a:ea typeface="Microsoft YaHei"/>
              </a:rPr>
              <a:t>陈氏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劝遣媵妾，有分寸；夫死骇涕，仍奔告道士。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膝行求丐，受杖受辱，强啖痰唾。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救回来的是她的忍与诚，不是王生自己醒悟。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可问：复生写得很用力，代价是否过多压在妻子身上？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环节三 · 庭辩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二选一，发言先带原文半句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正方反方各二人；异议官可加盟或追问；每人不超过四十秒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182880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7A6C"/>
                </a:solidFill>
                <a:latin typeface="Microsoft YaHei"/>
                <a:ea typeface="Microsoft YaHei"/>
              </a:rPr>
              <a:t>辩题甲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0"/>
                </a:solidFill>
                <a:latin typeface="Microsoft YaHei"/>
                <a:ea typeface="Microsoft YaHei"/>
              </a:rPr>
              <a:t>王生的悲剧，主因是「不知」，还是「知之而不改」？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94760"/>
            <a:ext cx="11155680" cy="182880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7763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7A6C"/>
                </a:solidFill>
                <a:latin typeface="Microsoft YaHei"/>
                <a:ea typeface="Microsoft YaHei"/>
              </a:rPr>
              <a:t>辩题乙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891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0"/>
                </a:solidFill>
                <a:latin typeface="Microsoft YaHei"/>
                <a:ea typeface="Microsoft YaHei"/>
              </a:rPr>
              <a:t>「画皮」主要在骂鬼，还是在骂人间那些「妍皮裹物」的人？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最后六十秒允许改口。改口要说清：是哪一句原文把你说动的。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环节四 · 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一起写出一句主题句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尽量写进：表里、欲望、知行——至少两点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1155680" cy="1143000"/>
          </a:xfrm>
          <a:prstGeom prst="rect">
            <a:avLst/>
          </a:prstGeom>
          <a:solidFill>
            <a:srgbClr val="EA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73152" cy="1143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0"/>
                </a:solidFill>
                <a:latin typeface="Microsoft YaHei"/>
                <a:ea typeface="Microsoft YaHei"/>
              </a:rPr>
              <a:t>「愚哉世人！明明妖也，而以为美。……既知之而不改……天下妍皮裹物者，固比比皆是也。」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11155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C4A3E"/>
                </a:solidFill>
                <a:latin typeface="Microsoft YaHei"/>
                <a:ea typeface="Microsoft YaHei"/>
              </a:rPr>
              <a:t>可落成这样的意思（学生自己改，不要照抄）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222220"/>
                </a:solidFill>
                <a:latin typeface="Microsoft YaHei"/>
                <a:ea typeface="Microsoft YaHei"/>
              </a:rPr>
              <a:t>《画皮》借绘皮和多次拒警，写出人因贪欲看不清，甚至看清了仍不改，终致丧心；也提醒：披着好看外壳害人的，世间并不少见。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5C4A3E"/>
                </a:solidFill>
                <a:latin typeface="Microsoft YaHei"/>
                <a:ea typeface="Microsoft YaHei"/>
              </a:rPr>
              <a:t>还有一层可以提出来，不必强行统一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陈氏忍辱救夫写得很用力；作者夸「食人之唾而甘之」，是否也带出那个时代对妻子的要求？骂伪饰是显层，男权痕迹是潜层——可以争议。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环节四 · 延伸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若做个人口述，议题怎么挂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一个议题就够；大半时间仍贴着《画皮》原文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7A6C"/>
                </a:solidFill>
                <a:latin typeface="Microsoft YaHei"/>
                <a:ea typeface="Microsoft YaHei"/>
              </a:rPr>
              <a:t>比较好用的说法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0"/>
                </a:solidFill>
                <a:latin typeface="Microsoft YaHei"/>
                <a:ea typeface="Microsoft YaHei"/>
              </a:rPr>
              <a:t>人们怎样被精致的外表和欲望牵着走，预警来了也选择自欺？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80360"/>
            <a:ext cx="3611880" cy="155448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4A3E"/>
                </a:solidFill>
                <a:latin typeface="Microsoft YaHei"/>
                <a:ea typeface="Microsoft YaHei"/>
              </a:rPr>
              <a:t>绘皮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包装可以人造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880360"/>
            <a:ext cx="3611880" cy="155448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4A3E"/>
                </a:solidFill>
                <a:latin typeface="Microsoft YaHei"/>
                <a:ea typeface="Microsoft YaHei"/>
              </a:rPr>
              <a:t>拒警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6118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不是看不见，是不愿改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2880360"/>
            <a:ext cx="3611880" cy="155448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4A3E"/>
                </a:solidFill>
                <a:latin typeface="Microsoft YaHei"/>
                <a:ea typeface="Microsoft YaHei"/>
              </a:rPr>
              <a:t>陈氏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0"/>
                </a:solidFill>
                <a:latin typeface="Microsoft YaHei"/>
                <a:ea typeface="Microsoft YaHei"/>
              </a:rPr>
              <a:t>修复往往要别人付代价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若比《台北人》，可用《金大班的最后一夜》或《永远的尹雪艳》：同写「表层」，一个是妖伪，一个是舞台硬壳或魅惑；识破之后，判断并不一样。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C"/>
                </a:solidFill>
                <a:latin typeface="Microsoft YaHei"/>
                <a:ea typeface="Microsoft YaHei"/>
              </a:rPr>
              <a:t>环节五 · 出门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0"/>
                </a:solidFill>
                <a:latin typeface="Microsoft YaHei"/>
                <a:ea typeface="Microsoft YaHei"/>
              </a:rPr>
              <a:t>下课前完成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2700"/>
          </a:xfrm>
          <a:prstGeom prst="rect">
            <a:avLst/>
          </a:prstGeom>
          <a:solidFill>
            <a:srgbClr val="C8C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C66"/>
                </a:solidFill>
                <a:latin typeface="Microsoft YaHei"/>
                <a:ea typeface="Microsoft YaHei"/>
              </a:rPr>
              <a:t>公开课要让人看见过程，不是背标准答案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0"/>
                </a:solidFill>
                <a:latin typeface="Microsoft YaHei"/>
                <a:ea typeface="Microsoft YaHei"/>
              </a:rPr>
              <a:t>每人十五秒：今天我改口或坚持的一点是……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68880"/>
            <a:ext cx="11155680" cy="2926080"/>
          </a:xfrm>
          <a:prstGeom prst="rect">
            <a:avLst/>
          </a:prstGeom>
          <a:solidFill>
            <a:srgbClr val="E8E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468880"/>
            <a:ext cx="91440" cy="292608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432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7A6C"/>
                </a:solidFill>
                <a:latin typeface="Microsoft YaHei"/>
                <a:ea typeface="Microsoft YaHei"/>
              </a:rPr>
              <a:t>出门条（写下来交）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4612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22220"/>
                </a:solidFill>
                <a:latin typeface="Microsoft YaHei"/>
                <a:ea typeface="Microsoft YaHei"/>
              </a:rPr>
              <a:t>一处证据　＋　一个手法　＋　一句效果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例：证据「执彩笔而绘之」；手法：象征；效果：美被写成画上去的假面，读者开始怀疑「好看」。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0"/>
                </a:solidFill>
                <a:latin typeface="Microsoft YaHei"/>
                <a:ea typeface="Microsoft YaHei"/>
              </a:rPr>
              <a:t>识破的不是鬼，是那层「妍皮」。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3291840"/>
            <a:ext cx="2286000" cy="25400"/>
          </a:xfrm>
          <a:prstGeom prst="rect">
            <a:avLst/>
          </a:prstGeom>
          <a:solidFill>
            <a:srgbClr val="5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5661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C66"/>
                </a:solidFill>
                <a:latin typeface="Microsoft YaHei"/>
                <a:ea typeface="Microsoft YaHei"/>
              </a:rPr>
              <a:t>《画皮》· 高二文学公开课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