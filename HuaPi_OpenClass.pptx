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5C56"/>
                </a:solidFill>
                <a:latin typeface="Microsoft YaHei"/>
                <a:ea typeface="Microsoft YaHei"/>
              </a:rPr>
              <a:t>高二文学 · 公开课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2C2D2B"/>
                </a:solidFill>
                <a:latin typeface="Microsoft YaHei"/>
                <a:ea typeface="Microsoft YaHei"/>
              </a:rPr>
              <a:t>识破「妍皮」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A6E68"/>
                </a:solidFill>
                <a:latin typeface="Microsoft YaHei"/>
                <a:ea typeface="Microsoft YaHei"/>
              </a:rPr>
              <a:t>《聊斋志异·画皮》精读课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794760"/>
            <a:ext cx="3657600" cy="12700"/>
          </a:xfrm>
          <a:prstGeom prst="rect">
            <a:avLst/>
          </a:prstGeom>
          <a:solidFill>
            <a:srgbClr val="C9C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6E68"/>
                </a:solidFill>
                <a:latin typeface="Microsoft YaHei"/>
                <a:ea typeface="Microsoft YaHei"/>
              </a:rPr>
              <a:t>40分钟 · 5人小班
先找证据，再争看法，最后自己写出结论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C56"/>
                </a:solidFill>
                <a:latin typeface="Microsoft YaHei"/>
                <a:ea typeface="Microsoft YaHei"/>
              </a:rPr>
              <a:t>课前说明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C2D2B"/>
                </a:solidFill>
                <a:latin typeface="Microsoft YaHei"/>
                <a:ea typeface="Microsoft YaHei"/>
              </a:rPr>
              <a:t>这节课要弄清什么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C9C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6E68"/>
                </a:solidFill>
                <a:latin typeface="Microsoft YaHei"/>
                <a:ea typeface="Microsoft YaHei"/>
              </a:rPr>
              <a:t>教师少讲情节，学生多找原文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4A5C56"/>
                </a:solidFill>
                <a:latin typeface="Microsoft YaHei"/>
                <a:ea typeface="Microsoft YaHei"/>
              </a:rPr>
              <a:t>核心问题</a:t>
            </a:r>
          </a:p>
          <a:p>
            <a:pPr algn="l">
              <a:spcAft>
                <a:spcPts val="1800"/>
              </a:spcAft>
            </a:pPr>
            <a:r>
              <a:rPr sz="2200" b="1">
                <a:solidFill>
                  <a:srgbClr val="2C2D2B"/>
                </a:solidFill>
                <a:latin typeface="Microsoft YaHei"/>
                <a:ea typeface="Microsoft YaHei"/>
              </a:rPr>
              <a:t>王生是不知道，还是知道了仍不改？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2C2D2B"/>
                </a:solidFill>
                <a:latin typeface="Microsoft YaHei"/>
                <a:ea typeface="Microsoft YaHei"/>
              </a:rPr>
              <a:t>课堂上大家要能做到：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2D2B"/>
                </a:solidFill>
                <a:latin typeface="Microsoft YaHei"/>
                <a:ea typeface="Microsoft YaHei"/>
              </a:rPr>
              <a:t>1. 自己划出至少三处关键原文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2D2B"/>
                </a:solidFill>
                <a:latin typeface="Microsoft YaHei"/>
                <a:ea typeface="Microsoft YaHei"/>
              </a:rPr>
              <a:t>2. 给手法起名字，并说清它起什么作用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2D2B"/>
                </a:solidFill>
                <a:latin typeface="Microsoft YaHei"/>
                <a:ea typeface="Microsoft YaHei"/>
              </a:rPr>
              <a:t>3. 小组争论后，共同写出一句站得住的主题句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2D2B"/>
                </a:solidFill>
                <a:latin typeface="Microsoft YaHei"/>
                <a:ea typeface="Microsoft YaHei"/>
              </a:rPr>
              <a:t>4. 试着把故事连到一个具体的全球性议题（为个人口述做准备）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C56"/>
                </a:solidFill>
                <a:latin typeface="Microsoft YaHei"/>
                <a:ea typeface="Microsoft YaHei"/>
              </a:rPr>
              <a:t>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C2D2B"/>
                </a:solidFill>
                <a:latin typeface="Microsoft YaHei"/>
                <a:ea typeface="Microsoft YaHei"/>
              </a:rPr>
              <a:t>四十分钟怎么走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C9C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6E68"/>
                </a:solidFill>
                <a:latin typeface="Microsoft YaHei"/>
                <a:ea typeface="Microsoft YaHei"/>
              </a:rPr>
              <a:t>每人抽一张任务卡：证据／手法／效果／异议／书记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D2B"/>
                </a:solidFill>
                <a:latin typeface="Microsoft YaHei"/>
                <a:ea typeface="Microsoft YaHei"/>
              </a:rPr>
              <a:t>01  点火  4分钟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6E68"/>
                </a:solidFill>
                <a:latin typeface="Microsoft YaHei"/>
                <a:ea typeface="Microsoft YaHei"/>
              </a:rPr>
              <a:t>看一句判词，先猜它在说什么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D2B"/>
                </a:solidFill>
                <a:latin typeface="Microsoft YaHei"/>
                <a:ea typeface="Microsoft YaHei"/>
              </a:rPr>
              <a:t>02  勘探  10分钟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6E68"/>
                </a:solidFill>
                <a:latin typeface="Microsoft YaHei"/>
                <a:ea typeface="Microsoft YaHei"/>
              </a:rPr>
              <a:t>默读划线，五人分工找证据、定手法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D2B"/>
                </a:solidFill>
                <a:latin typeface="Microsoft YaHei"/>
                <a:ea typeface="Microsoft YaHei"/>
              </a:rPr>
              <a:t>03  庭辩  12分钟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11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6E68"/>
                </a:solidFill>
                <a:latin typeface="Microsoft YaHei"/>
                <a:ea typeface="Microsoft YaHei"/>
              </a:rPr>
              <a:t>二选一辩题，发言必须带原文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1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D2B"/>
                </a:solidFill>
                <a:latin typeface="Microsoft YaHei"/>
                <a:ea typeface="Microsoft YaHei"/>
              </a:rPr>
              <a:t>04  收束  8分钟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805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6E68"/>
                </a:solidFill>
                <a:latin typeface="Microsoft YaHei"/>
                <a:ea typeface="Microsoft YaHei"/>
              </a:rPr>
              <a:t>共写主题句，试挂全球性议题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D2B"/>
                </a:solidFill>
                <a:latin typeface="Microsoft YaHei"/>
                <a:ea typeface="Microsoft YaHei"/>
              </a:rPr>
              <a:t>05  出门  6分钟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6E68"/>
                </a:solidFill>
                <a:latin typeface="Microsoft YaHei"/>
                <a:ea typeface="Microsoft YaHei"/>
              </a:rPr>
              <a:t>每人说改口或坚持的一点，交出门条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C56"/>
                </a:solidFill>
                <a:latin typeface="Microsoft YaHei"/>
                <a:ea typeface="Microsoft YaHei"/>
              </a:rPr>
              <a:t>环节一 · 点火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C2D2B"/>
                </a:solidFill>
                <a:latin typeface="Microsoft YaHei"/>
                <a:ea typeface="Microsoft YaHei"/>
              </a:rPr>
              <a:t>先看这句，别急着讲故事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C9C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C2D2B"/>
                </a:solidFill>
                <a:latin typeface="Microsoft YaHei"/>
                <a:ea typeface="Microsoft YaHei"/>
              </a:rPr>
              <a:t>「明明妖也，而以为美。」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A6E68"/>
                </a:solidFill>
                <a:latin typeface="Microsoft YaHei"/>
                <a:ea typeface="Microsoft YaHei"/>
              </a:rPr>
              <a:t>——异史氏曰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4A5C56"/>
                </a:solidFill>
                <a:latin typeface="Microsoft YaHei"/>
                <a:ea typeface="Microsoft YaHei"/>
              </a:rPr>
              <a:t>任务（20秒独立写，再轮流说）：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2D2B"/>
                </a:solidFill>
                <a:latin typeface="Microsoft YaHei"/>
                <a:ea typeface="Microsoft YaHei"/>
              </a:rPr>
              <a:t>你觉得这句话在批评哪种人？先别翻书。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6A6E68"/>
                </a:solidFill>
                <a:latin typeface="Microsoft YaHei"/>
                <a:ea typeface="Microsoft YaHei"/>
              </a:rPr>
              <a:t>后面用原文检验：这句判词到底站不站得住。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C56"/>
                </a:solidFill>
                <a:latin typeface="Microsoft YaHei"/>
                <a:ea typeface="Microsoft YaHei"/>
              </a:rPr>
              <a:t>备读一笔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C2D2B"/>
                </a:solidFill>
                <a:latin typeface="Microsoft YaHei"/>
                <a:ea typeface="Microsoft YaHei"/>
              </a:rPr>
              <a:t>故事从哪来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C9C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6E68"/>
                </a:solidFill>
                <a:latin typeface="Microsoft YaHei"/>
                <a:ea typeface="Microsoft YaHei"/>
              </a:rPr>
              <a:t>公开课点到即可，不必展开考证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2C2D2B"/>
                </a:solidFill>
                <a:latin typeface="Microsoft YaHei"/>
                <a:ea typeface="Microsoft YaHei"/>
              </a:rPr>
              <a:t>《聊斋》多采里巷传闻、友人邮寄，也仿历代志传笔法。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C2D2B"/>
                </a:solidFill>
                <a:latin typeface="Microsoft YaHei"/>
                <a:ea typeface="Microsoft YaHei"/>
              </a:rPr>
              <a:t>《画皮》能看到更早的影子：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A6E68"/>
                </a:solidFill>
                <a:latin typeface="Microsoft YaHei"/>
                <a:ea typeface="Microsoft YaHei"/>
              </a:rPr>
              <a:t>· 译经与唐人小说：美妇实为啖人鬼，夜出脱饰现恶相（《修行地道经》《宣室志》一类）。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A6E68"/>
                </a:solidFill>
                <a:latin typeface="Microsoft YaHei"/>
                <a:ea typeface="Microsoft YaHei"/>
              </a:rPr>
              <a:t>· 民间传说：虎皮、兽皮可穿可脱，人兽互变（《集异记·崔韬》等）。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2C2D2B"/>
                </a:solidFill>
                <a:latin typeface="Microsoft YaHei"/>
                <a:ea typeface="Microsoft YaHei"/>
              </a:rPr>
              <a:t>· 蒲松龄的推进：写成「铺皮—彩笔细描—披上」的过程，收束到「妍皮裹物，比比皆是」。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2C2D2B"/>
                </a:solidFill>
                <a:latin typeface="Microsoft YaHei"/>
                <a:ea typeface="Microsoft YaHei"/>
              </a:rPr>
              <a:t>这堂课重点不在出处，而在：他怎样写，为什么这样写。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C56"/>
                </a:solidFill>
                <a:latin typeface="Microsoft YaHei"/>
                <a:ea typeface="Microsoft YaHei"/>
              </a:rPr>
              <a:t>环节二 · 勘探前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C2D2B"/>
                </a:solidFill>
                <a:latin typeface="Microsoft YaHei"/>
                <a:ea typeface="Microsoft YaHei"/>
              </a:rPr>
              <a:t>先把情节骨架钉住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C9C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6E68"/>
                </a:solidFill>
                <a:latin typeface="Microsoft YaHei"/>
                <a:ea typeface="Microsoft YaHei"/>
              </a:rPr>
              <a:t>五人小组可以对照选段，但汇报时不要复述全文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2D2B"/>
                </a:solidFill>
                <a:latin typeface="Microsoft YaHei"/>
                <a:ea typeface="Microsoft YaHei"/>
              </a:rPr>
              <a:t>遇美藏匿 → 道士示警，王生不信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C2D2B"/>
                </a:solidFill>
                <a:latin typeface="Microsoft YaHei"/>
                <a:ea typeface="Microsoft YaHei"/>
              </a:rPr>
              <a:t>窥见绘皮、披皮化女 → 求道士，悬蝇拂，鬼暂退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C2D2B"/>
                </a:solidFill>
                <a:latin typeface="Microsoft YaHei"/>
                <a:ea typeface="Microsoft YaHei"/>
              </a:rPr>
              <a:t>道士点破「心邪，当复有变」→ 鬼复至，裂腹掬心</a:t>
            </a:r>
          </a:p>
          <a:p>
            <a:pPr algn="l">
              <a:spcAft>
                <a:spcPts val="1600"/>
              </a:spcAft>
            </a:pPr>
            <a:r>
              <a:rPr sz="1600" b="1">
                <a:solidFill>
                  <a:srgbClr val="2C2D2B"/>
                </a:solidFill>
                <a:latin typeface="Microsoft YaHei"/>
                <a:ea typeface="Microsoft YaHei"/>
              </a:rPr>
              <a:t>道士收妖 → 陈氏忍辱求痰唾 → 心归腔中，王生复生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A5C56"/>
                </a:solidFill>
                <a:latin typeface="Microsoft YaHei"/>
                <a:ea typeface="Microsoft YaHei"/>
              </a:rPr>
              <a:t>划线时优先盯这四处：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C2D2B"/>
                </a:solidFill>
                <a:latin typeface="Microsoft YaHei"/>
                <a:ea typeface="Microsoft YaHei"/>
              </a:rPr>
              <a:t>「执彩笔而绘之」　「以其言妄，拒之」　「裂腹，掬生心」　「明明妖也，而以为美」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C56"/>
                </a:solidFill>
                <a:latin typeface="Microsoft YaHei"/>
                <a:ea typeface="Microsoft YaHei"/>
              </a:rPr>
              <a:t>环节二 · 勘探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C2D2B"/>
                </a:solidFill>
                <a:latin typeface="Microsoft YaHei"/>
                <a:ea typeface="Microsoft YaHei"/>
              </a:rPr>
              <a:t>最硬的一处：绘皮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C9C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6E68"/>
                </a:solidFill>
                <a:latin typeface="Microsoft YaHei"/>
                <a:ea typeface="Microsoft YaHei"/>
              </a:rPr>
              <a:t>手法：象征＋细节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>
                <a:solidFill>
                  <a:srgbClr val="454844"/>
                </a:solidFill>
                <a:latin typeface="Microsoft YaHei"/>
                <a:ea typeface="Microsoft YaHei"/>
              </a:rPr>
              <a:t>「见一狞鬼……铺人皮于榻上，执彩笔而绘之。已而掷笔，举皮如振衣状，披于身，遂化为女子。」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4A5C56"/>
                </a:solidFill>
                <a:latin typeface="Microsoft YaHei"/>
                <a:ea typeface="Microsoft YaHei"/>
              </a:rPr>
              <a:t>可以怎么读：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C2D2B"/>
                </a:solidFill>
                <a:latin typeface="Microsoft YaHei"/>
                <a:ea typeface="Microsoft YaHei"/>
              </a:rPr>
              <a:t>美不是天生贴在身上的，是画上去、披上去的。越画得细，越说明这层「好看」靠不住。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C2D2B"/>
                </a:solidFill>
                <a:latin typeface="Microsoft YaHei"/>
                <a:ea typeface="Microsoft YaHei"/>
              </a:rPr>
              <a:t>和前面「二八姝丽」「心相爱乐」一对照：王生爱上的，其实是那张皮。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A6E68"/>
                </a:solidFill>
                <a:latin typeface="Microsoft YaHei"/>
                <a:ea typeface="Microsoft YaHei"/>
              </a:rPr>
              <a:t>小组追问：如果作者直接写「此乃女鬼」，少了绘皮这一笔，劝诫力量会弱在哪里？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C56"/>
                </a:solidFill>
                <a:latin typeface="Microsoft YaHei"/>
                <a:ea typeface="Microsoft YaHei"/>
              </a:rPr>
              <a:t>环节二 · 勘探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C2D2B"/>
                </a:solidFill>
                <a:latin typeface="Microsoft YaHei"/>
                <a:ea typeface="Microsoft YaHei"/>
              </a:rPr>
              <a:t>第二次打击：不是不知，是不改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C9C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6E68"/>
                </a:solidFill>
                <a:latin typeface="Microsoft YaHei"/>
                <a:ea typeface="Microsoft YaHei"/>
              </a:rPr>
              <a:t>手法：对比、延宕、反讽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C2D2B"/>
                </a:solidFill>
                <a:latin typeface="Microsoft YaHei"/>
                <a:ea typeface="Microsoft YaHei"/>
              </a:rPr>
              <a:t>道士说「身有邪气，所遇必魅」，王生「以其言妄，拒之」。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2D2B"/>
                </a:solidFill>
                <a:latin typeface="Microsoft YaHei"/>
                <a:ea typeface="Microsoft YaHei"/>
              </a:rPr>
              <a:t>后来他亲眼看见画皮，仍心存侥幸；得了蝇拂，鬼暂退，道士又说「君心邪，当复有变」。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2C2D2B"/>
                </a:solidFill>
                <a:latin typeface="Microsoft YaHei"/>
                <a:ea typeface="Microsoft YaHei"/>
              </a:rPr>
              <a:t>夜半鬼复至，骂「道士何能为」，径裂腹掬心。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4A5C56"/>
                </a:solidFill>
                <a:latin typeface="Microsoft YaHei"/>
                <a:ea typeface="Microsoft YaHei"/>
              </a:rPr>
              <a:t>结构上的意思很清楚：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C2D2B"/>
                </a:solidFill>
                <a:latin typeface="Microsoft YaHei"/>
                <a:ea typeface="Microsoft YaHei"/>
              </a:rPr>
              <a:t>故事给了他好几次回头的机会。他不是信息不够，是心里那点贪还在。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2D2B"/>
                </a:solidFill>
                <a:latin typeface="Microsoft YaHei"/>
                <a:ea typeface="Microsoft YaHei"/>
              </a:rPr>
              <a:t>异史氏后来说得更直：「既知之而不改，则愚而不可及矣。」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C56"/>
                </a:solidFill>
                <a:latin typeface="Microsoft YaHei"/>
                <a:ea typeface="Microsoft YaHei"/>
              </a:rPr>
              <a:t>环节二 · 勘探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C2D2B"/>
                </a:solidFill>
                <a:latin typeface="Microsoft YaHei"/>
                <a:ea typeface="Microsoft YaHei"/>
              </a:rPr>
              <a:t>手法先起名，再说作用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C9C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6E68"/>
                </a:solidFill>
                <a:latin typeface="Microsoft YaHei"/>
                <a:ea typeface="Microsoft YaHei"/>
              </a:rPr>
              <a:t>五人卡：证据／手法／效果——这一页给书记员对照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4A5C56"/>
                </a:solidFill>
                <a:latin typeface="Microsoft YaHei"/>
                <a:ea typeface="Microsoft YaHei"/>
              </a:rPr>
              <a:t>象征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C2D2B"/>
                </a:solidFill>
                <a:latin typeface="Microsoft YaHei"/>
                <a:ea typeface="Microsoft YaHei"/>
              </a:rPr>
              <a:t>绘皮、裂腹掬心——「美」和「心」都被写成可拆、可换的物件。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4A5C56"/>
                </a:solidFill>
                <a:latin typeface="Microsoft YaHei"/>
                <a:ea typeface="Microsoft YaHei"/>
              </a:rPr>
              <a:t>对比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C2D2B"/>
                </a:solidFill>
                <a:latin typeface="Microsoft YaHei"/>
                <a:ea typeface="Microsoft YaHei"/>
              </a:rPr>
              <a:t>二八姝丽 ↔ 狞鬼；道士示警 ↔ 王生拒之；陈氏忍辱 ↔ 王生贪色。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4A5C56"/>
                </a:solidFill>
                <a:latin typeface="Microsoft YaHei"/>
                <a:ea typeface="Microsoft YaHei"/>
              </a:rPr>
              <a:t>延宕／反复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C2D2B"/>
                </a:solidFill>
                <a:latin typeface="Microsoft YaHei"/>
                <a:ea typeface="Microsoft YaHei"/>
              </a:rPr>
              <a:t>示警不止一次：拒言 → 见皮 → 得拂 → 心邪复变。机会给足了，才显「不改」。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4A5C56"/>
                </a:solidFill>
                <a:latin typeface="Microsoft YaHei"/>
                <a:ea typeface="Microsoft YaHei"/>
              </a:rPr>
              <a:t>反讽与论赞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C2D2B"/>
                </a:solidFill>
                <a:latin typeface="Microsoft YaHei"/>
                <a:ea typeface="Microsoft YaHei"/>
              </a:rPr>
              <a:t>情节已够劝惩，异史氏再点一句「明明妖也，而以为美」，把矛头从鬼推到世人。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C56"/>
                </a:solidFill>
                <a:latin typeface="Microsoft YaHei"/>
                <a:ea typeface="Microsoft YaHei"/>
              </a:rPr>
              <a:t>环节二 · 勘探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C2D2B"/>
                </a:solidFill>
                <a:latin typeface="Microsoft YaHei"/>
                <a:ea typeface="Microsoft YaHei"/>
              </a:rPr>
              <a:t>两个人物，对照着看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C9C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6E68"/>
                </a:solidFill>
                <a:latin typeface="Microsoft YaHei"/>
                <a:ea typeface="Microsoft YaHei"/>
              </a:rPr>
              <a:t>女鬼与陈氏——先找原文，再谈评价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4A5C56"/>
                </a:solidFill>
                <a:latin typeface="Microsoft YaHei"/>
                <a:ea typeface="Microsoft YaHei"/>
              </a:rPr>
              <a:t>画皮女鬼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C2D2B"/>
                </a:solidFill>
                <a:latin typeface="Microsoft YaHei"/>
                <a:ea typeface="Microsoft YaHei"/>
              </a:rPr>
              <a:t>外表：二八姝丽，哀告被鬻、受虐，求庇护。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C2D2B"/>
                </a:solidFill>
                <a:latin typeface="Microsoft YaHei"/>
                <a:ea typeface="Microsoft YaHei"/>
              </a:rPr>
              <a:t>内里：翠面锯齿，绘皮，裂腹取心。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C2D2B"/>
                </a:solidFill>
                <a:latin typeface="Microsoft YaHei"/>
                <a:ea typeface="Microsoft YaHei"/>
              </a:rPr>
              <a:t>无名无姓，来历含糊——更像「皮相」的符号，不只是某个具体女人。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A6E68"/>
                </a:solidFill>
                <a:latin typeface="Microsoft YaHei"/>
                <a:ea typeface="Microsoft YaHei"/>
              </a:rPr>
              <a:t>注意：文本写「惑」，不等于把所有女性写成祸水。争论留到庭辩。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4A5C56"/>
                </a:solidFill>
                <a:latin typeface="Microsoft YaHei"/>
                <a:ea typeface="Microsoft YaHei"/>
              </a:rPr>
              <a:t>陈氏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C2D2B"/>
                </a:solidFill>
                <a:latin typeface="Microsoft YaHei"/>
                <a:ea typeface="Microsoft YaHei"/>
              </a:rPr>
              <a:t>劝遣媵妾，有分寸；夫死骇涕，仍奔告道士。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C2D2B"/>
                </a:solidFill>
                <a:latin typeface="Microsoft YaHei"/>
                <a:ea typeface="Microsoft YaHei"/>
              </a:rPr>
              <a:t>膝行求丐，受杖受辱，强啖痰唾。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C2D2B"/>
                </a:solidFill>
                <a:latin typeface="Microsoft YaHei"/>
                <a:ea typeface="Microsoft YaHei"/>
              </a:rPr>
              <a:t>心归腔中，王生复生——救回来的是她的忍与诚，不是王生自己醒悟。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A6E68"/>
                </a:solidFill>
                <a:latin typeface="Microsoft YaHei"/>
                <a:ea typeface="Microsoft YaHei"/>
              </a:rPr>
              <a:t>可问：复生写得很用力，代价是否过多压在妻子身上？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C56"/>
                </a:solidFill>
                <a:latin typeface="Microsoft YaHei"/>
                <a:ea typeface="Microsoft YaHei"/>
              </a:rPr>
              <a:t>环节三 · 庭辩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C2D2B"/>
                </a:solidFill>
                <a:latin typeface="Microsoft YaHei"/>
                <a:ea typeface="Microsoft YaHei"/>
              </a:rPr>
              <a:t>二选一，发言先带原文半句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C9C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6E68"/>
                </a:solidFill>
                <a:latin typeface="Microsoft YaHei"/>
                <a:ea typeface="Microsoft YaHei"/>
              </a:rPr>
              <a:t>正方反方各二人；异议官可加盟或追问；每人不超过四十秒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4A5C56"/>
                </a:solidFill>
                <a:latin typeface="Microsoft YaHei"/>
                <a:ea typeface="Microsoft YaHei"/>
              </a:rPr>
              <a:t>辩题甲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2C2D2B"/>
                </a:solidFill>
                <a:latin typeface="Microsoft YaHei"/>
                <a:ea typeface="Microsoft YaHei"/>
              </a:rPr>
              <a:t>王生的悲剧，主因是「不知」，还是「知之而不改」？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4A5C56"/>
                </a:solidFill>
                <a:latin typeface="Microsoft YaHei"/>
                <a:ea typeface="Microsoft YaHei"/>
              </a:rPr>
              <a:t>辩题乙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2C2D2B"/>
                </a:solidFill>
                <a:latin typeface="Microsoft YaHei"/>
                <a:ea typeface="Microsoft YaHei"/>
              </a:rPr>
              <a:t>「画皮」主要在骂鬼，还是在骂人间那些「妍皮裹物」的人？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A6E68"/>
                </a:solidFill>
                <a:latin typeface="Microsoft YaHei"/>
                <a:ea typeface="Microsoft YaHei"/>
              </a:rPr>
              <a:t>最后六十秒允许改口。改口要说清：是哪一句原文把你说动的。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C56"/>
                </a:solidFill>
                <a:latin typeface="Microsoft YaHei"/>
                <a:ea typeface="Microsoft YaHei"/>
              </a:rPr>
              <a:t>环节四 · 收束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C2D2B"/>
                </a:solidFill>
                <a:latin typeface="Microsoft YaHei"/>
                <a:ea typeface="Microsoft YaHei"/>
              </a:rPr>
              <a:t>一起写出一句主题句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C9C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6E68"/>
                </a:solidFill>
                <a:latin typeface="Microsoft YaHei"/>
                <a:ea typeface="Microsoft YaHei"/>
              </a:rPr>
              <a:t>尽量写进：表里、欲望、知行——至少两点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C2D2B"/>
                </a:solidFill>
                <a:latin typeface="Microsoft YaHei"/>
                <a:ea typeface="Microsoft YaHei"/>
              </a:rPr>
              <a:t>课文自己点得很明：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454844"/>
                </a:solidFill>
                <a:latin typeface="Microsoft YaHei"/>
                <a:ea typeface="Microsoft YaHei"/>
              </a:rPr>
              <a:t>「愚哉世人！明明妖也，而以为美。……既知之而不改……天下妍皮裹物者，固比比皆是也。」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2D2B"/>
                </a:solidFill>
                <a:latin typeface="Microsoft YaHei"/>
                <a:ea typeface="Microsoft YaHei"/>
              </a:rPr>
              <a:t>可落成这样的意思（学生自己改，不要照抄）：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2C2D2B"/>
                </a:solidFill>
                <a:latin typeface="Microsoft YaHei"/>
                <a:ea typeface="Microsoft YaHei"/>
              </a:rPr>
              <a:t>《画皮》借绘皮和多次拒警，写出人因贪欲看不清，甚至看清了仍不改，终致丧心；也提醒：披着好看外壳害人的，世间并不少见。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A5C56"/>
                </a:solidFill>
                <a:latin typeface="Microsoft YaHei"/>
                <a:ea typeface="Microsoft YaHei"/>
              </a:rPr>
              <a:t>还有一层可以提出来，不必强行统一：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A6E68"/>
                </a:solidFill>
                <a:latin typeface="Microsoft YaHei"/>
                <a:ea typeface="Microsoft YaHei"/>
              </a:rPr>
              <a:t>陈氏忍辱救夫写得很用力；作者夸「食人之唾而甘之」，是否也带出那个时代对妻子的要求？骂伪饰是显层，男权痕迹是潜层——可以争议。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C56"/>
                </a:solidFill>
                <a:latin typeface="Microsoft YaHei"/>
                <a:ea typeface="Microsoft YaHei"/>
              </a:rPr>
              <a:t>环节四 · 延伸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C2D2B"/>
                </a:solidFill>
                <a:latin typeface="Microsoft YaHei"/>
                <a:ea typeface="Microsoft YaHei"/>
              </a:rPr>
              <a:t>若做个人口述，议题怎么挂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C9C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6E68"/>
                </a:solidFill>
                <a:latin typeface="Microsoft YaHei"/>
                <a:ea typeface="Microsoft YaHei"/>
              </a:rPr>
              <a:t>一个议题就够；大半时间仍贴着《画皮》原文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4A5C56"/>
                </a:solidFill>
                <a:latin typeface="Microsoft YaHei"/>
                <a:ea typeface="Microsoft YaHei"/>
              </a:rPr>
              <a:t>比较好用的说法：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C2D2B"/>
                </a:solidFill>
                <a:latin typeface="Microsoft YaHei"/>
                <a:ea typeface="Microsoft YaHei"/>
              </a:rPr>
              <a:t>人们怎样被精致的外表和欲望牵着走，预警来了也选择自欺？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2D2B"/>
                </a:solidFill>
                <a:latin typeface="Microsoft YaHei"/>
                <a:ea typeface="Microsoft YaHei"/>
              </a:rPr>
              <a:t>文本支撑可以很具体：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6A6E68"/>
                </a:solidFill>
                <a:latin typeface="Microsoft YaHei"/>
                <a:ea typeface="Microsoft YaHei"/>
              </a:rPr>
              <a:t>绘皮——包装可以人造；拒道士、见皮仍犹豫——不是看不见，是不愿改；陈氏一线——修复往往要别人付代价。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2C2D2B"/>
                </a:solidFill>
                <a:latin typeface="Microsoft YaHei"/>
                <a:ea typeface="Microsoft YaHei"/>
              </a:rPr>
              <a:t>若比《台北人》，可用《金大班的最后一夜》或《永远的尹雪艳》：同写「表层」，一个是妖伪，一个是舞台硬壳或魅惑；识破之后，判断并不一样。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C56"/>
                </a:solidFill>
                <a:latin typeface="Microsoft YaHei"/>
                <a:ea typeface="Microsoft YaHei"/>
              </a:rPr>
              <a:t>环节五 · 出门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C2D2B"/>
                </a:solidFill>
                <a:latin typeface="Microsoft YaHei"/>
                <a:ea typeface="Microsoft YaHei"/>
              </a:rPr>
              <a:t>下课前完成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2700"/>
          </a:xfrm>
          <a:prstGeom prst="rect">
            <a:avLst/>
          </a:prstGeom>
          <a:solidFill>
            <a:srgbClr val="C9C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6E68"/>
                </a:solidFill>
                <a:latin typeface="Microsoft YaHei"/>
                <a:ea typeface="Microsoft YaHei"/>
              </a:rPr>
              <a:t>公开课要让人看见过程，不是背标准答案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2C2D2B"/>
                </a:solidFill>
                <a:latin typeface="Microsoft YaHei"/>
                <a:ea typeface="Microsoft YaHei"/>
              </a:rPr>
              <a:t>每人十五秒：今天我改口或坚持的一点是……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4A5C56"/>
                </a:solidFill>
                <a:latin typeface="Microsoft YaHei"/>
                <a:ea typeface="Microsoft YaHei"/>
              </a:rPr>
              <a:t>出门条（写下来交）：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2C2D2B"/>
                </a:solidFill>
                <a:latin typeface="Microsoft YaHei"/>
                <a:ea typeface="Microsoft YaHei"/>
              </a:rPr>
              <a:t>一处证据　＋　一个手法　＋　一句效果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A6E68"/>
                </a:solidFill>
                <a:latin typeface="Microsoft YaHei"/>
                <a:ea typeface="Microsoft YaHei"/>
              </a:rPr>
              <a:t>例：证据「执彩笔而绘之」；手法：象征；效果：美被写成画上去的假面，读者开始怀疑「好看」。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C2D2B"/>
                </a:solidFill>
                <a:latin typeface="Microsoft YaHei"/>
                <a:ea typeface="Microsoft YaHei"/>
              </a:rPr>
              <a:t>识破的不是鬼，是那层「妍皮」。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3291840"/>
            <a:ext cx="2743200" cy="12700"/>
          </a:xfrm>
          <a:prstGeom prst="rect">
            <a:avLst/>
          </a:prstGeom>
          <a:solidFill>
            <a:srgbClr val="C9C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A6E68"/>
                </a:solidFill>
                <a:latin typeface="Microsoft YaHei"/>
                <a:ea typeface="Microsoft YaHei"/>
              </a:rPr>
              <a:t>《画皮》· 高二文学公开课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