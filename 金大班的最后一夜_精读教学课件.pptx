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8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98B3C"/>
                </a:solidFill>
                <a:latin typeface="Microsoft YaHei"/>
                <a:ea typeface="Microsoft YaHei"/>
              </a:rPr>
              <a:t>白先勇 · 《台北人》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《金大班的最后一夜》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A4A8"/>
                </a:solidFill>
                <a:latin typeface="Microsoft YaHei"/>
                <a:ea typeface="Microsoft YaHei"/>
              </a:rPr>
              <a:t>精读教学课件  ·  结合笔记 · 文本细节引证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C98B3C"/>
                </a:solidFill>
                <a:latin typeface="Microsoft YaHei"/>
                <a:ea typeface="Microsoft YaHei"/>
              </a:rPr>
              <a:t>分析顺序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5EEE6"/>
                </a:solidFill>
                <a:latin typeface="Microsoft YaHei"/>
                <a:ea typeface="Microsoft YaHei"/>
              </a:rPr>
              <a:t>一、人物形象  →  二、艺术手法  →  三、小说结构  →  四、环境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核心关键词：矛盾立体 · 今昔对照 · 一夜框一生 · 百乐门／夜巴黎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8B3C"/>
                </a:solidFill>
                <a:latin typeface="Microsoft YaHei"/>
                <a:ea typeface="Microsoft YaHei"/>
              </a:rPr>
              <a:t>《金大班的最后一夜》精读  ·  导读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据笔记四大板块展开，每页尽量附原文引证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1155680" cy="91440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8B3C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965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人物形象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3042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复杂立体多面：道路选择／处世态度／爱情态度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80360"/>
            <a:ext cx="11155680" cy="91440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8B3C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017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艺术手法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3558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对比衬托 · 反讽 · 白描 · 心理 · 语言动作 · 象征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31920"/>
            <a:ext cx="11155680" cy="91440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14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8B3C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069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小说结构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4074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一夜框一生 · 倒叙插叙 · 意识流 · 视角 · 开放结局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83479"/>
            <a:ext cx="11155680" cy="91440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16635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8B3C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12063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环境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458967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微观舞厅 · 历史背景 · 象征隐喻（舞厅／服饰／镜子）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8B3C"/>
                </a:solidFill>
                <a:latin typeface="Microsoft YaHei"/>
                <a:ea typeface="Microsoft YaHei"/>
              </a:rPr>
              <a:t>《金大班的最后一夜》精读  ·  一 / 人物形象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金兆丽：复杂 · 立体 · 多面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笔记总括：内在矛盾性导致道路犹豫、处世善恶并存、爱情前后相反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828800"/>
            <a:ext cx="2788920" cy="429768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828800"/>
            <a:ext cx="2788920" cy="73152"/>
          </a:xfrm>
          <a:prstGeom prst="rect">
            <a:avLst/>
          </a:prstGeom>
          <a:solidFill>
            <a:srgbClr val="C98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8B3C"/>
                </a:solidFill>
                <a:latin typeface="Microsoft YaHei"/>
                <a:ea typeface="Microsoft YaHei"/>
              </a:rPr>
              <a:t>道路矛盾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5EEE6"/>
                </a:solidFill>
                <a:latin typeface="Microsoft YaHei"/>
                <a:ea typeface="Microsoft YaHei"/>
              </a:rPr>
              <a:t>曾嘲姐妹「饿嫁」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最终下嫁陈发荣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孤傲 → 屈降依附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828800"/>
            <a:ext cx="2788920" cy="429768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828800"/>
            <a:ext cx="2788920" cy="73152"/>
          </a:xfrm>
          <a:prstGeom prst="rect">
            <a:avLst/>
          </a:prstGeom>
          <a:solidFill>
            <a:srgbClr val="B8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0574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8B3C"/>
                </a:solidFill>
                <a:latin typeface="Microsoft YaHei"/>
                <a:ea typeface="Microsoft YaHei"/>
              </a:rPr>
              <a:t>处世矛盾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0604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5EEE6"/>
                </a:solidFill>
                <a:latin typeface="Microsoft YaHei"/>
                <a:ea typeface="Microsoft YaHei"/>
              </a:rPr>
              <a:t>救朱凤、赠钻戒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妒任黛黛／怼童得怀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既善又恶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2788920" cy="429768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2788920" cy="73152"/>
          </a:xfrm>
          <a:prstGeom prst="rect">
            <a:avLst/>
          </a:prstGeom>
          <a:solidFill>
            <a:srgbClr val="B8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574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8B3C"/>
                </a:solidFill>
                <a:latin typeface="Microsoft YaHei"/>
                <a:ea typeface="Microsoft YaHei"/>
              </a:rPr>
              <a:t>爱情矛盾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0604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5EEE6"/>
                </a:solidFill>
                <a:latin typeface="Microsoft YaHei"/>
                <a:ea typeface="Microsoft YaHei"/>
              </a:rPr>
              <a:t>为月如愿生孩子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弃秦雄真心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真情 → 物质依附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828800"/>
            <a:ext cx="2788920" cy="429768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828800"/>
            <a:ext cx="2788920" cy="73152"/>
          </a:xfrm>
          <a:prstGeom prst="rect">
            <a:avLst/>
          </a:prstGeom>
          <a:solidFill>
            <a:srgbClr val="B8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20574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8B3C"/>
                </a:solidFill>
                <a:latin typeface="Microsoft YaHei"/>
                <a:ea typeface="Microsoft YaHei"/>
              </a:rPr>
              <a:t>悲剧位置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60604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5EEE6"/>
                </a:solidFill>
                <a:latin typeface="Microsoft YaHei"/>
                <a:ea typeface="Microsoft YaHei"/>
              </a:rPr>
              <a:t>舞场腐蚀中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仍想保留求幸福自由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二者难以调和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8B3C"/>
                </a:solidFill>
                <a:latin typeface="Microsoft YaHei"/>
                <a:ea typeface="Microsoft YaHei"/>
              </a:rPr>
              <a:t>《金大班的最后一夜》精读  ·  一 / 人物形象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① 人生道路：独善其身 ↔ 屈降回归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嘲「饿嫁」与最终下嫁——同一人的前后对翻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5532120" cy="214884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73152" cy="2148840"/>
          </a:xfrm>
          <a:prstGeom prst="rect">
            <a:avLst/>
          </a:prstGeom>
          <a:solidFill>
            <a:srgbClr val="C98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C98A"/>
                </a:solidFill>
                <a:latin typeface="Microsoft YaHei"/>
                <a:ea typeface="Microsoft YaHei"/>
              </a:rPr>
              <a:t>「我才没有你们那样饿嫁，个个去捧块棺材板。」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B0A4A8"/>
                </a:solidFill>
                <a:latin typeface="Microsoft YaHei"/>
                <a:ea typeface="Microsoft YaHei"/>
              </a:rPr>
              <a:t>引证 · 孤傲宣言：鄙薄姐妹回归家庭；争强好胜、我行我素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532120" cy="214884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73152" cy="2148840"/>
          </a:xfrm>
          <a:prstGeom prst="rect">
            <a:avLst/>
          </a:prstGeom>
          <a:solidFill>
            <a:srgbClr val="C98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2024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C98A"/>
                </a:solidFill>
                <a:latin typeface="Microsoft YaHei"/>
                <a:ea typeface="Microsoft YaHei"/>
              </a:rPr>
              <a:t>「要一个像任黛黛那样的绸缎庄，当然要比她的那个大一倍，并且要开在富春楼的对面。」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B0A4A8"/>
                </a:solidFill>
                <a:latin typeface="Microsoft YaHei"/>
                <a:ea typeface="Microsoft YaHei"/>
              </a:rPr>
              <a:t>引证 · 屈降自慰：物质目标合理化下嫁；妒羡与自我安慰并存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60520"/>
            <a:ext cx="11292840" cy="214884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C98B3C"/>
                </a:solidFill>
                <a:latin typeface="Microsoft YaHei"/>
                <a:ea typeface="Microsoft YaHei"/>
              </a:rPr>
              <a:t>精读要点（据笔记）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EEE6"/>
                </a:solidFill>
                <a:latin typeface="Microsoft YaHei"/>
                <a:ea typeface="Microsoft YaHei"/>
              </a:rPr>
              <a:t>• 舞女非理想职业，嫁富商亦非梦想；贫寒逼入欢场二十年，年老色衰又逼入依附婚姻。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EEE6"/>
                </a:solidFill>
                <a:latin typeface="Microsoft YaHei"/>
                <a:ea typeface="Microsoft YaHei"/>
              </a:rPr>
              <a:t>• 见陈发荣「还算真诚」便决定下嫁：不是爱上他，而是看清「黑暗无终点」只能依附才能活。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• 效果：贪图衣食无忧又厌倦失去自我——徘徊把内在矛盾推到台前。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8B3C"/>
                </a:solidFill>
                <a:latin typeface="Microsoft YaHei"/>
                <a:ea typeface="Microsoft YaHei"/>
              </a:rPr>
              <a:t>《金大班的最后一夜》精读  ·  一 / 人物形象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② 处世态度：同情弱小 ↔ 艳羡妒忌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人格既高尚又微露卑下——舞场未磨尽善良，却日日腐蚀纯真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5532120" cy="228600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73152" cy="2286000"/>
          </a:xfrm>
          <a:prstGeom prst="rect">
            <a:avLst/>
          </a:prstGeom>
          <a:solidFill>
            <a:srgbClr val="C98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5212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C98A"/>
                </a:solidFill>
                <a:latin typeface="Microsoft YaHei"/>
                <a:ea typeface="Microsoft YaHei"/>
              </a:rPr>
              <a:t>「朱凤怀有身孕向她哭诉……臭骂一顿之后，又甩给她价值五百美金的一克拉半的大钻石戒指。」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B0A4A8"/>
                </a:solidFill>
                <a:latin typeface="Microsoft YaHei"/>
                <a:ea typeface="Microsoft YaHei"/>
              </a:rPr>
              <a:t>引证 · 对弱小：挺身救朱凤、教「十八般武艺」、警戒勿被占身；不能自救却救助别人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532120" cy="228600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73152" cy="2286000"/>
          </a:xfrm>
          <a:prstGeom prst="rect">
            <a:avLst/>
          </a:prstGeom>
          <a:solidFill>
            <a:srgbClr val="C98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20240"/>
            <a:ext cx="5212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C98A"/>
                </a:solidFill>
                <a:latin typeface="Microsoft YaHei"/>
                <a:ea typeface="Microsoft YaHei"/>
              </a:rPr>
              <a:t>「筱红美「是一个头等难缠的刁妇，心黑手辣，耍了这些年就没见过她栽过跟头」。」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B0A4A8"/>
                </a:solidFill>
                <a:latin typeface="Microsoft YaHei"/>
                <a:ea typeface="Microsoft YaHei"/>
              </a:rPr>
              <a:t>引证 · 对强者：妒羡赞叹＋尖酸怼童得怀；看透世事又被现实逼出小心眼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11292840" cy="201168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C98B3C"/>
                </a:solidFill>
                <a:latin typeface="Microsoft YaHei"/>
                <a:ea typeface="Microsoft YaHei"/>
              </a:rPr>
              <a:t>效果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5EEE6"/>
                </a:solidFill>
                <a:latin typeface="Microsoft YaHei"/>
                <a:ea typeface="Microsoft YaHei"/>
              </a:rPr>
              <a:t>善与恶不是分期出现，而是同时交错：同情证明本性未死；妒忌证明环境已把人性拧弯。人物因此立体，而非「好舞女／坏舞女」扁平标签。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8B3C"/>
                </a:solidFill>
                <a:latin typeface="Microsoft YaHei"/>
                <a:ea typeface="Microsoft YaHei"/>
              </a:rPr>
              <a:t>《金大班的最后一夜》精读  ·  一 / 人物形象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③ 爱情态度：真挚追求 ↔ 现实背弃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月如＝心中圣洁区；秦雄真心等不起；陈发荣＝物质落脚点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11292840" cy="141732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73152" cy="1417320"/>
          </a:xfrm>
          <a:prstGeom prst="rect">
            <a:avLst/>
          </a:prstGeom>
          <a:solidFill>
            <a:srgbClr val="C98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C98A"/>
                </a:solidFill>
                <a:latin typeface="Microsoft YaHei"/>
                <a:ea typeface="Microsoft YaHei"/>
              </a:rPr>
              <a:t>「那晚月如第一次到百乐门去，羞得连头都不抬起来……纯洁的像白纸一样。」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B0A4A8"/>
                </a:solidFill>
                <a:latin typeface="Microsoft YaHei"/>
                <a:ea typeface="Microsoft YaHei"/>
              </a:rPr>
              <a:t>引证 · 真情：愿为他生孩子＝职业上自掘坟墓；堕胎后甚至想死——情根极深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83280"/>
            <a:ext cx="5532120" cy="283464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73152" cy="2834640"/>
          </a:xfrm>
          <a:prstGeom prst="rect">
            <a:avLst/>
          </a:prstGeom>
          <a:solidFill>
            <a:srgbClr val="C98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520440"/>
            <a:ext cx="52120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C98A"/>
                </a:solidFill>
                <a:latin typeface="Microsoft YaHei"/>
                <a:ea typeface="Microsoft YaHei"/>
              </a:rPr>
              <a:t>「秦雄拿出可怜巴巴的七万元存折……再积攒五年就能买房子讨她；她却无动于衷，下嫁前夜也没写信。」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B0A4A8"/>
                </a:solidFill>
                <a:latin typeface="Microsoft YaHei"/>
                <a:ea typeface="Microsoft YaHei"/>
              </a:rPr>
              <a:t>背弃真爱：四十岁「没有功夫谈恋爱」，只要衣食无忧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383280"/>
            <a:ext cx="5532120" cy="283464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383280"/>
            <a:ext cx="73152" cy="2834640"/>
          </a:xfrm>
          <a:prstGeom prst="rect">
            <a:avLst/>
          </a:prstGeom>
          <a:solidFill>
            <a:srgbClr val="C98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52120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C98A"/>
                </a:solidFill>
                <a:latin typeface="Microsoft YaHei"/>
                <a:ea typeface="Microsoft YaHei"/>
              </a:rPr>
              <a:t>「见脸红害羞的年轻人，仍想到月如；与酷似月如者共舞时情绪低回。」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B0A4A8"/>
                </a:solidFill>
                <a:latin typeface="Microsoft YaHei"/>
                <a:ea typeface="Microsoft YaHei"/>
              </a:rPr>
              <a:t>效果：表面背弃，内心未磨灭；灵肉撕裂在结尾回光一现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8B3C"/>
                </a:solidFill>
                <a:latin typeface="Microsoft YaHei"/>
                <a:ea typeface="Microsoft YaHei"/>
              </a:rPr>
              <a:t>《金大班的最后一夜》精读  ·  一 / 人物形象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人物总括：双重矛盾的结合体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非简单线性变坏，而是道路／处世／爱情三线交叉的复杂真实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11292840" cy="448056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C98B3C"/>
                </a:solidFill>
                <a:latin typeface="Microsoft YaHei"/>
                <a:ea typeface="Microsoft YaHei"/>
              </a:rPr>
              <a:t>笔记核心判断</a:t>
            </a:r>
          </a:p>
          <a:p>
            <a:pPr algn="l">
              <a:spcAft>
                <a:spcPts val="1600"/>
              </a:spcAft>
            </a:pPr>
            <a:r>
              <a:rPr sz="1500" b="0">
                <a:solidFill>
                  <a:srgbClr val="F5EEE6"/>
                </a:solidFill>
                <a:latin typeface="Microsoft YaHei"/>
                <a:ea typeface="Microsoft YaHei"/>
              </a:rPr>
              <a:t>金兆丽「集双重矛盾于一身」：现实残酷逼她审时度势，物质依赖维持生命延续；这不会带来希望契机，却逼出复杂真实的内心写照。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B84A5A"/>
                </a:solidFill>
                <a:latin typeface="Microsoft YaHei"/>
                <a:ea typeface="Microsoft YaHei"/>
              </a:rPr>
              <a:t>答题一句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她既摆脱不了世俗碰撞与束缚，又渴望在被扼杀的本性中保留追求幸福的自由——二者难调和，正是人物悲剧性与立体感的来源。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8B3C"/>
                </a:solidFill>
                <a:latin typeface="Microsoft YaHei"/>
                <a:ea typeface="Microsoft YaHei"/>
              </a:rPr>
              <a:t>《金大班的最后一夜》精读  ·  二 / 艺术手法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写人与表现手法一览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笔记提示：对比衬托（镜像）· 反讽 · 白描 · 心理 · 语言动作 · 象征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83080"/>
            <a:ext cx="3703320" cy="210312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8B3C"/>
                </a:solidFill>
                <a:latin typeface="Microsoft YaHei"/>
                <a:ea typeface="Microsoft YaHei"/>
              </a:rPr>
              <a:t>对比／镜像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饿嫁宣言↔下嫁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百乐门↔夜巴黎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朱凤↔年轻金兆丽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83080"/>
            <a:ext cx="3703320" cy="210312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8B3C"/>
                </a:solidFill>
                <a:latin typeface="Microsoft YaHei"/>
                <a:ea typeface="Microsoft YaHei"/>
              </a:rPr>
              <a:t>反讽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146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玉观音名号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喜剧收场实为妥协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货腰规训复现创伤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783080"/>
            <a:ext cx="3703320" cy="210312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8B3C"/>
                </a:solidFill>
                <a:latin typeface="Microsoft YaHei"/>
                <a:ea typeface="Microsoft YaHei"/>
              </a:rPr>
              <a:t>白描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5146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浓脂艳粉／鱼尾纹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假屁股假奶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动作狠准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069080"/>
            <a:ext cx="3703320" cy="210312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297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8B3C"/>
                </a:solidFill>
                <a:latin typeface="Microsoft YaHei"/>
                <a:ea typeface="Microsoft YaHei"/>
              </a:rPr>
              <a:t>心理／意识流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006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镜前回忆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由朱凤想到堕胎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由少年想到月如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069080"/>
            <a:ext cx="3703320" cy="210312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4297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8B3C"/>
                </a:solidFill>
                <a:latin typeface="Microsoft YaHei"/>
                <a:ea typeface="Microsoft YaHei"/>
              </a:rPr>
              <a:t>语言描写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8006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娘个冬采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尖酸骂战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粗口＝硬壳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4069080"/>
            <a:ext cx="3703320" cy="210312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4297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8B3C"/>
                </a:solidFill>
                <a:latin typeface="Microsoft YaHei"/>
                <a:ea typeface="Microsoft YaHei"/>
              </a:rPr>
              <a:t>象征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8006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钻戒／镜子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舞厅空间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一二三拍子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8B3C"/>
                </a:solidFill>
                <a:latin typeface="Microsoft YaHei"/>
                <a:ea typeface="Microsoft YaHei"/>
              </a:rPr>
              <a:t>《金大班的最后一夜》精读  ·  二 / 艺术手法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对比与镜像：人物互相映照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任黛黛／朱凤／筱红美／吴喜奎——都有金兆丽的影子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11292840" cy="100584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8B3C"/>
                </a:solidFill>
                <a:latin typeface="Microsoft YaHei"/>
                <a:ea typeface="Microsoft YaHei"/>
              </a:rPr>
              <a:t>朱凤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8745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C98A"/>
                </a:solidFill>
                <a:latin typeface="Microsoft YaHei"/>
                <a:ea typeface="Microsoft YaHei"/>
              </a:rPr>
              <a:t>怀孕哭诉、要生下孩子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24028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镜像年轻金兆丽：为爱奋不顾身，即将重演创伤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80360"/>
            <a:ext cx="11292840" cy="100584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17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8B3C"/>
                </a:solidFill>
                <a:latin typeface="Microsoft YaHei"/>
                <a:ea typeface="Microsoft YaHei"/>
              </a:rPr>
              <a:t>任黛黛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0175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C98A"/>
                </a:solidFill>
                <a:latin typeface="Microsoft YaHei"/>
                <a:ea typeface="Microsoft YaHei"/>
              </a:rPr>
              <a:t>早嫁棉纱大王、摇扇发福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38328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曾被嘲，今成羡慕对象——道路选择的反面教材／样本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23360"/>
            <a:ext cx="11292840" cy="100584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60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8B3C"/>
                </a:solidFill>
                <a:latin typeface="Microsoft YaHei"/>
                <a:ea typeface="Microsoft YaHei"/>
              </a:rPr>
              <a:t>筱红美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1605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C98A"/>
                </a:solidFill>
                <a:latin typeface="Microsoft YaHei"/>
                <a:ea typeface="Microsoft YaHei"/>
              </a:rPr>
              <a:t>心黑手辣、不栽跟头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52628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功利主义完成态；金教人不动真情的活标本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66360"/>
            <a:ext cx="11292840" cy="100584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8B3C"/>
                </a:solidFill>
                <a:latin typeface="Microsoft YaHei"/>
                <a:ea typeface="Microsoft YaHei"/>
              </a:rPr>
              <a:t>吴喜奎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530352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C98A"/>
                </a:solidFill>
                <a:latin typeface="Microsoft YaHei"/>
                <a:ea typeface="Microsoft YaHei"/>
              </a:rPr>
              <a:t>昔日姐妹，后遁入佛堂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66928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另一条出路：逃避欢场，仍难逃精神荒原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8B3C"/>
                </a:solidFill>
                <a:latin typeface="Microsoft YaHei"/>
                <a:ea typeface="Microsoft YaHei"/>
              </a:rPr>
              <a:t>《金大班的最后一夜》精读  ·  二 / 艺术手法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反讽 · 语言 · 动作白描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喜剧外壳包裹悲剧内核——粗口与狠动作是生存硬壳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5532120" cy="210312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73152" cy="2103120"/>
          </a:xfrm>
          <a:prstGeom prst="rect">
            <a:avLst/>
          </a:prstGeom>
          <a:solidFill>
            <a:srgbClr val="C98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52120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C98A"/>
                </a:solidFill>
                <a:latin typeface="Microsoft YaHei"/>
                <a:ea typeface="Microsoft YaHei"/>
              </a:rPr>
              <a:t>「玩是玩，耍是耍，货腰娘第一大忌是让人家睡大肚皮。」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B0A4A8"/>
                </a:solidFill>
                <a:latin typeface="Microsoft YaHei"/>
                <a:ea typeface="Microsoft YaHei"/>
              </a:rPr>
              <a:t>反讽：规训后辈＝复现自我创伤；真情被命名为毒药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532120" cy="210312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783080"/>
            <a:ext cx="73152" cy="2103120"/>
          </a:xfrm>
          <a:prstGeom prst="rect">
            <a:avLst/>
          </a:prstGeom>
          <a:solidFill>
            <a:srgbClr val="C98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20240"/>
            <a:ext cx="52120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C98A"/>
                </a:solidFill>
                <a:latin typeface="Microsoft YaHei"/>
                <a:ea typeface="Microsoft YaHei"/>
              </a:rPr>
              <a:t>「娘个冬采！……把手包豁啷摔到化妆台上，一屁股坐在大化妆镜前，狠狠啐了一口。」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B0A4A8"/>
                </a:solidFill>
                <a:latin typeface="Microsoft YaHei"/>
                <a:ea typeface="Microsoft YaHei"/>
              </a:rPr>
              <a:t>语言＋动作：泼辣声口瞬间立住人物；喜剧感与沧桑并出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11292840" cy="214884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73152" cy="2148840"/>
          </a:xfrm>
          <a:prstGeom prst="rect">
            <a:avLst/>
          </a:prstGeom>
          <a:solidFill>
            <a:srgbClr val="C98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25196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C98A"/>
                </a:solidFill>
                <a:latin typeface="Microsoft YaHei"/>
                <a:ea typeface="Microsoft YaHei"/>
              </a:rPr>
              <a:t>「眼角子上突然便现出了几把鱼尾巴来……勒肚子束腰，假屁股假奶。」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B0A4A8"/>
                </a:solidFill>
                <a:latin typeface="Microsoft YaHei"/>
                <a:ea typeface="Microsoft YaHei"/>
              </a:rPr>
              <a:t>白描效果：衰老与身体改造写得具体刺目；「玉观音」神话被镜子拆穿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8B3C"/>
                </a:solidFill>
                <a:latin typeface="Microsoft YaHei"/>
                <a:ea typeface="Microsoft YaHei"/>
              </a:rPr>
              <a:t>《金大班的最后一夜》精读  ·  二 / 艺术手法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象征手法：物象承载意义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钻戒／镜子／金饰／舞步——可见之物指向不可见之心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11292840" cy="100584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8B3C"/>
                </a:solidFill>
                <a:latin typeface="Microsoft YaHei"/>
                <a:ea typeface="Microsoft YaHei"/>
              </a:rPr>
              <a:t>一克拉半钻戒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87452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C98A"/>
                </a:solidFill>
                <a:latin typeface="Microsoft YaHei"/>
                <a:ea typeface="Microsoft YaHei"/>
              </a:rPr>
              <a:t>物质语言完成的补偿与救赎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A4A8"/>
                </a:solidFill>
                <a:latin typeface="Microsoft YaHei"/>
                <a:ea typeface="Microsoft YaHei"/>
              </a:rPr>
              <a:t>骂后甩戒：温情仍用金钱表达；不能自救却救别人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80360"/>
            <a:ext cx="11292840" cy="100584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17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8B3C"/>
                </a:solidFill>
                <a:latin typeface="Microsoft YaHei"/>
                <a:ea typeface="Microsoft YaHei"/>
              </a:rPr>
              <a:t>化妆镜／鱼尾纹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01752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C98A"/>
                </a:solidFill>
                <a:latin typeface="Microsoft YaHei"/>
                <a:ea typeface="Microsoft YaHei"/>
              </a:rPr>
              <a:t>身份认同的撕裂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83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A4A8"/>
                </a:solidFill>
                <a:latin typeface="Microsoft YaHei"/>
                <a:ea typeface="Microsoft YaHei"/>
              </a:rPr>
              <a:t>镜映衰老现实；浓妆＝职业面具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23360"/>
            <a:ext cx="11292840" cy="100584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60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8B3C"/>
                </a:solidFill>
                <a:latin typeface="Microsoft YaHei"/>
                <a:ea typeface="Microsoft YaHei"/>
              </a:rPr>
              <a:t>金碧辉煌首饰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16052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C98A"/>
                </a:solidFill>
                <a:latin typeface="Microsoft YaHei"/>
                <a:ea typeface="Microsoft YaHei"/>
              </a:rPr>
              <a:t>物欲追逐与舞台身份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26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A4A8"/>
                </a:solidFill>
                <a:latin typeface="Microsoft YaHei"/>
                <a:ea typeface="Microsoft YaHei"/>
              </a:rPr>
              <a:t>耳坠项链手串发针：把「金」字写在身上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66360"/>
            <a:ext cx="11292840" cy="100584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303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8B3C"/>
                </a:solidFill>
                <a:latin typeface="Microsoft YaHei"/>
                <a:ea typeface="Microsoft YaHei"/>
              </a:rPr>
              <a:t>「一二三」拍子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530352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C98A"/>
                </a:solidFill>
                <a:latin typeface="Microsoft YaHei"/>
                <a:ea typeface="Microsoft YaHei"/>
              </a:rPr>
              <a:t>告别仪式／倒计时反思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669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A4A8"/>
                </a:solidFill>
                <a:latin typeface="Microsoft YaHei"/>
                <a:ea typeface="Microsoft YaHei"/>
              </a:rPr>
              <a:t>与酷似月如者共舞：卸下面具的瞬间，结局开放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8B3C"/>
                </a:solidFill>
                <a:latin typeface="Microsoft YaHei"/>
                <a:ea typeface="Microsoft YaHei"/>
              </a:rPr>
              <a:t>《金大班的最后一夜》精读  ·  三 / 小说结构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结构总览：一夜框住二十年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倒叙起笔＋插叙转折＋意识流缝合＋开放收束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828800"/>
            <a:ext cx="2788920" cy="429768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98B3C"/>
                </a:solidFill>
                <a:latin typeface="Microsoft YaHei"/>
                <a:ea typeface="Microsoft YaHei"/>
              </a:rPr>
              <a:t>时间框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现实：最后一夜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心理：二十年欢场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浓缩结账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828800"/>
            <a:ext cx="2788920" cy="429768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0574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98B3C"/>
                </a:solidFill>
                <a:latin typeface="Microsoft YaHei"/>
                <a:ea typeface="Microsoft YaHei"/>
              </a:rPr>
              <a:t>倒叙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5176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从西门町华灯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「最后一夜」切入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再回看前半生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2788920" cy="429768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98B3C"/>
                </a:solidFill>
                <a:latin typeface="Microsoft YaHei"/>
                <a:ea typeface="Microsoft YaHei"/>
              </a:rPr>
              <a:t>插叙三点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5176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月如爱情／堕胎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秦雄真心等不起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决定嫁陈发荣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828800"/>
            <a:ext cx="2788920" cy="429768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20574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98B3C"/>
                </a:solidFill>
                <a:latin typeface="Microsoft YaHei"/>
                <a:ea typeface="Microsoft YaHei"/>
              </a:rPr>
              <a:t>开放结局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65176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与少年共舞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曲终人散留白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孤寂余韵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8B3C"/>
                </a:solidFill>
                <a:latin typeface="Microsoft YaHei"/>
                <a:ea typeface="Microsoft YaHei"/>
              </a:rPr>
              <a:t>《金大班的最后一夜》精读  ·  三 / 小说结构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倒叙与插叙：为何从「最后一夜」写起？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不直接宣泄二十年苦水，而让意识牵出关键转折，解释她如何变成今日金大班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11292840" cy="448056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C98B3C"/>
                </a:solidFill>
                <a:latin typeface="Microsoft YaHei"/>
                <a:ea typeface="Microsoft YaHei"/>
              </a:rPr>
              <a:t>三个插叙转折点（笔记）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5EEE6"/>
                </a:solidFill>
                <a:latin typeface="Microsoft YaHei"/>
                <a:ea typeface="Microsoft YaHei"/>
              </a:rPr>
              <a:t>1. 盛月如：完整纯洁的爱情体验；身份悬殊；堕胎代价——情根与创伤源头。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5EEE6"/>
                </a:solidFill>
                <a:latin typeface="Microsoft YaHei"/>
                <a:ea typeface="Microsoft YaHei"/>
              </a:rPr>
              <a:t>2. 秦雄：真心实意，却无殷实经济；她已不能为爱再等五年。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F5EEE6"/>
                </a:solidFill>
                <a:latin typeface="Microsoft YaHei"/>
                <a:ea typeface="Microsoft YaHei"/>
              </a:rPr>
              <a:t>3. 陈发荣：六十大几土财主；多走二十年远路后，明白「需要」压过「想要」。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结构效果：当下叙事与过往回忆交织，形成今昔对照与镜像；读者理解其不舍与无奈，产生共情。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8B3C"/>
                </a:solidFill>
                <a:latin typeface="Microsoft YaHei"/>
                <a:ea typeface="Microsoft YaHei"/>
              </a:rPr>
              <a:t>《金大班的最后一夜》精读  ·  三 / 小说结构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意识流与叙述视角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情节随意识流动展开；全知外视点 ↔ 个人内意识自由切换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11292840" cy="68580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019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8B3C"/>
                </a:solidFill>
                <a:latin typeface="Microsoft YaHei"/>
                <a:ea typeface="Microsoft YaHei"/>
              </a:rPr>
              <a:t>化妆镜鱼尾纹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90195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EEE6"/>
                </a:solidFill>
                <a:latin typeface="Microsoft YaHei"/>
                <a:ea typeface="Microsoft YaHei"/>
              </a:rPr>
              <a:t>→ 失去的青春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14600"/>
            <a:ext cx="11292840" cy="68580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791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8B3C"/>
                </a:solidFill>
                <a:latin typeface="Microsoft YaHei"/>
                <a:ea typeface="Microsoft YaHei"/>
              </a:rPr>
              <a:t>即将嫁陈发荣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67919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EEE6"/>
                </a:solidFill>
                <a:latin typeface="Microsoft YaHei"/>
                <a:ea typeface="Microsoft YaHei"/>
              </a:rPr>
              <a:t>→ 等不起的秦雄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91840"/>
            <a:ext cx="11292840" cy="68580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564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8B3C"/>
                </a:solidFill>
                <a:latin typeface="Microsoft YaHei"/>
                <a:ea typeface="Microsoft YaHei"/>
              </a:rPr>
              <a:t>怀孕的朱凤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45643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EEE6"/>
                </a:solidFill>
                <a:latin typeface="Microsoft YaHei"/>
                <a:ea typeface="Microsoft YaHei"/>
              </a:rPr>
              <a:t>→ 为月如堕胎的自己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69080"/>
            <a:ext cx="11292840" cy="68580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336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8B3C"/>
                </a:solidFill>
                <a:latin typeface="Microsoft YaHei"/>
                <a:ea typeface="Microsoft YaHei"/>
              </a:rPr>
              <a:t>红舞女筱红美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23367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EEE6"/>
                </a:solidFill>
                <a:latin typeface="Microsoft YaHei"/>
                <a:ea typeface="Microsoft YaHei"/>
              </a:rPr>
              <a:t>→ 昔日百乐门红火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846320"/>
            <a:ext cx="11292840" cy="68580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010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8B3C"/>
                </a:solidFill>
                <a:latin typeface="Microsoft YaHei"/>
                <a:ea typeface="Microsoft YaHei"/>
              </a:rPr>
              <a:t>怯态男青年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501091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5EEE6"/>
                </a:solidFill>
                <a:latin typeface="Microsoft YaHei"/>
                <a:ea typeface="Microsoft YaHei"/>
              </a:rPr>
              <a:t>→ 一见倾心的月如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8B3C"/>
                </a:solidFill>
                <a:latin typeface="Microsoft YaHei"/>
                <a:ea typeface="Microsoft YaHei"/>
              </a:rPr>
              <a:t>《金大班的最后一夜》精读  ·  三 / 小说结构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开放式结局与留白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「一二三」拍子＝舞步节奏，亦象征对人生的倒计时式反思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11292840" cy="182880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73152" cy="1828800"/>
          </a:xfrm>
          <a:prstGeom prst="rect">
            <a:avLst/>
          </a:prstGeom>
          <a:solidFill>
            <a:srgbClr val="C98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0972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C98A"/>
                </a:solidFill>
                <a:latin typeface="Microsoft YaHei"/>
                <a:ea typeface="Microsoft YaHei"/>
              </a:rPr>
              <a:t>「结尾与酷似月如的年轻人共舞，轻轻柔柔地数着拍子「一二三」……曲终人散。」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B0A4A8"/>
                </a:solidFill>
                <a:latin typeface="Microsoft YaHei"/>
                <a:ea typeface="Microsoft YaHei"/>
              </a:rPr>
              <a:t>引证／笔记：未明确交代未来；留下孤寂与悲凉余韵，由读者填补命运可能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11292840" cy="242316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690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C98B3C"/>
                </a:solidFill>
                <a:latin typeface="Microsoft YaHei"/>
                <a:ea typeface="Microsoft YaHei"/>
              </a:rPr>
              <a:t>为何这样收？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EE6"/>
                </a:solidFill>
                <a:latin typeface="Microsoft YaHei"/>
                <a:ea typeface="Microsoft YaHei"/>
              </a:rPr>
              <a:t>• 若写明婚后幸福／痛苦，主题会被说死；留白强化悲剧美学。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5EEE6"/>
                </a:solidFill>
                <a:latin typeface="Microsoft YaHei"/>
                <a:ea typeface="Microsoft YaHei"/>
              </a:rPr>
              <a:t>• 共舞瞬间仿佛卸下荡妇面具，短暂碰触未被玷污的自我——然后仍须面对「棺材板」婚姻。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• 效果：灵肉冲突无解；喜剧外衣下的苍凉收束。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8B3C"/>
                </a:solidFill>
                <a:latin typeface="Microsoft YaHei"/>
                <a:ea typeface="Microsoft YaHei"/>
              </a:rPr>
              <a:t>《金大班的最后一夜》精读  ·  四 / 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环境三层：微观舞厅 · 历史背景 · 象征空间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舞池小舞台浓缩大时代风云；个人今不如昔＝时代缩影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3657600" cy="429768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8B3C"/>
                </a:solidFill>
                <a:latin typeface="Microsoft YaHei"/>
                <a:ea typeface="Microsoft YaHei"/>
              </a:rPr>
              <a:t>微观环境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百乐门盛 ↔ 夜巴黎衰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金兆丽自身今不如昔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客居台湾的怀旧感伤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74519"/>
            <a:ext cx="3657600" cy="429768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103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8B3C"/>
                </a:solidFill>
                <a:latin typeface="Microsoft YaHei"/>
                <a:ea typeface="Microsoft YaHei"/>
              </a:rPr>
              <a:t>历史背景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1940–60s 迁徙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上海→台北流亡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《台北人》时代挽歌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74519"/>
            <a:ext cx="3657600" cy="429768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103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8B3C"/>
                </a:solidFill>
                <a:latin typeface="Microsoft YaHei"/>
                <a:ea typeface="Microsoft YaHei"/>
              </a:rPr>
              <a:t>象征隐喻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4320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舞厅＝浮华虚幻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服饰身体＝物欲面具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镜子／月如＝青春不可追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8B3C"/>
                </a:solidFill>
                <a:latin typeface="Microsoft YaHei"/>
                <a:ea typeface="Microsoft YaHei"/>
              </a:rPr>
              <a:t>《金大班的最后一夜》精读  ·  四 / 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微观环境：百乐门 vs 夜巴黎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三次回忆把「盛世难再」钉死——空间对比即价值落差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11292840" cy="141732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73152" cy="1417320"/>
          </a:xfrm>
          <a:prstGeom prst="rect">
            <a:avLst/>
          </a:prstGeom>
          <a:solidFill>
            <a:srgbClr val="C98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C98A"/>
                </a:solidFill>
                <a:latin typeface="Microsoft YaHei"/>
                <a:ea typeface="Microsoft YaHei"/>
              </a:rPr>
              <a:t>「夜巴黎不靠了我玉观音金兆丽这块老牌子，就撑得起今天这个场面了？」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B0A4A8"/>
                </a:solidFill>
                <a:latin typeface="Microsoft YaHei"/>
                <a:ea typeface="Microsoft YaHei"/>
              </a:rPr>
              <a:t>① 名气撑场：今日排场仍吃往昔品牌老本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83280"/>
            <a:ext cx="5532120" cy="283464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73152" cy="2834640"/>
          </a:xfrm>
          <a:prstGeom prst="rect">
            <a:avLst/>
          </a:prstGeom>
          <a:solidFill>
            <a:srgbClr val="C98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520440"/>
            <a:ext cx="52120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C98A"/>
                </a:solidFill>
                <a:latin typeface="Microsoft YaHei"/>
                <a:ea typeface="Microsoft YaHei"/>
              </a:rPr>
              <a:t>「百乐门里那间厕所只怕比夜巴黎的舞池还宽敞些呢，童得怀那副嘴脸在百乐门掏粪坑未必有他的份。」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B0A4A8"/>
                </a:solidFill>
                <a:latin typeface="Microsoft YaHei"/>
                <a:ea typeface="Microsoft YaHei"/>
              </a:rPr>
              <a:t>② 空间羞辱式对比：台北舞厅远不及大上海繁华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383280"/>
            <a:ext cx="5532120" cy="283464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383280"/>
            <a:ext cx="73152" cy="2834640"/>
          </a:xfrm>
          <a:prstGeom prst="rect">
            <a:avLst/>
          </a:prstGeom>
          <a:solidFill>
            <a:srgbClr val="C98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3520440"/>
            <a:ext cx="52120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C98A"/>
                </a:solidFill>
                <a:latin typeface="Microsoft YaHei"/>
                <a:ea typeface="Microsoft YaHei"/>
              </a:rPr>
              <a:t>「哪里见过从前那种日子？那种架势？当年在上海，拜倒她玉观音裙下，像陈发荣那点根基的人，扳起脚趾头来还数不完呢！」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B0A4A8"/>
                </a:solidFill>
                <a:latin typeface="Microsoft YaHei"/>
                <a:ea typeface="Microsoft YaHei"/>
              </a:rPr>
              <a:t>③ 人物今昔：陈发荣类在当年不稀罕；眼浅小娼妇未见过大世面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8B3C"/>
                </a:solidFill>
                <a:latin typeface="Microsoft YaHei"/>
                <a:ea typeface="Microsoft YaHei"/>
              </a:rPr>
              <a:t>《金大班的最后一夜》精读  ·  四 / 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历史背景：迁徙与异乡人的悲苦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笔记：作家是时代记录者；金兆丽命运＝大时代风流云散的微缩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11292840" cy="448056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C98B3C"/>
                </a:solidFill>
                <a:latin typeface="Microsoft YaHei"/>
                <a:ea typeface="Microsoft YaHei"/>
              </a:rPr>
              <a:t>背景要点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5EEE6"/>
                </a:solidFill>
                <a:latin typeface="Microsoft YaHei"/>
                <a:ea typeface="Microsoft YaHei"/>
              </a:rPr>
              <a:t>• 时空：20世纪40–60年代；地点从命运多舛的上海到客居的台北。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5EEE6"/>
                </a:solidFill>
                <a:latin typeface="Microsoft YaHei"/>
                <a:ea typeface="Microsoft YaHei"/>
              </a:rPr>
              <a:t>• 人群：败退下的大陆客——将军夫人到风尘女子，皆有「大陆辉煌／台湾不如意」。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5EEE6"/>
                </a:solidFill>
                <a:latin typeface="Microsoft YaHei"/>
                <a:ea typeface="Microsoft YaHei"/>
              </a:rPr>
              <a:t>• 情感轨迹：怀希望 → 经历失望 → 近于绝望；在美好回忆与现世挣扎间徘徊。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F5EEE6"/>
                </a:solidFill>
                <a:latin typeface="Microsoft YaHei"/>
                <a:ea typeface="Microsoft YaHei"/>
              </a:rPr>
              <a:t>• 系列主题接口：没落与时代挽歌；对异乡人无处安放之灵魂的同情。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效果：以小见大——一个货腰娘的收场夜，映出一代人繁华落尽的悲肠。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8B3C"/>
                </a:solidFill>
                <a:latin typeface="Microsoft YaHei"/>
                <a:ea typeface="Microsoft YaHei"/>
              </a:rPr>
              <a:t>《金大班的最后一夜》精读  ·  四 / 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象征与隐喻：环境如何「说话」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舞厅不是中性布景，而是浮华、商品化与逃避的符号空间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3657600" cy="448056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C98B3C"/>
                </a:solidFill>
                <a:latin typeface="Microsoft YaHei"/>
                <a:ea typeface="Microsoft YaHei"/>
              </a:rPr>
              <a:t>舞厅空间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5EEE6"/>
                </a:solidFill>
                <a:latin typeface="Microsoft YaHei"/>
                <a:ea typeface="Microsoft YaHei"/>
              </a:rPr>
              <a:t>灯光／音乐／舞步＝梦幻氛围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掩盖孤独与无奈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5EEE6"/>
                </a:solidFill>
                <a:latin typeface="Microsoft YaHei"/>
                <a:ea typeface="Microsoft YaHei"/>
              </a:rPr>
              <a:t>客人寻短暂欢愉＝逃避现实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朱凤揭示：舞女是商品也是牺牲品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783080"/>
            <a:ext cx="3657600" cy="448056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C98B3C"/>
                </a:solidFill>
                <a:latin typeface="Microsoft YaHei"/>
                <a:ea typeface="Microsoft YaHei"/>
              </a:rPr>
              <a:t>服饰与身体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5EEE6"/>
                </a:solidFill>
                <a:latin typeface="Microsoft YaHei"/>
                <a:ea typeface="Microsoft YaHei"/>
              </a:rPr>
              <a:t>金碧辉煌装扮＝物欲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大红大紫 → 结局淡化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5EEE6"/>
                </a:solidFill>
                <a:latin typeface="Microsoft YaHei"/>
                <a:ea typeface="Microsoft YaHei"/>
              </a:rPr>
              <a:t>共舞时轻轻数拍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隐喻：卸下面具，短暂回归本真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783080"/>
            <a:ext cx="3657600" cy="448056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011680"/>
            <a:ext cx="3200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C98B3C"/>
                </a:solidFill>
                <a:latin typeface="Microsoft YaHei"/>
                <a:ea typeface="Microsoft YaHei"/>
              </a:rPr>
              <a:t>镜子与月如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5EEE6"/>
                </a:solidFill>
                <a:latin typeface="Microsoft YaHei"/>
                <a:ea typeface="Microsoft YaHei"/>
              </a:rPr>
              <a:t>镜中鱼尾纹＝衰老现实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身份撕裂的视觉证据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5EEE6"/>
                </a:solidFill>
                <a:latin typeface="Microsoft YaHei"/>
                <a:ea typeface="Microsoft YaHei"/>
              </a:rPr>
              <a:t>月如年轻身体＝不可追回的青春符号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B0A4A8"/>
                </a:solidFill>
                <a:latin typeface="Microsoft YaHei"/>
                <a:ea typeface="Microsoft YaHei"/>
              </a:rPr>
              <a:t>双重反射：情与时皆不可返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8B3C"/>
                </a:solidFill>
                <a:latin typeface="Microsoft YaHei"/>
                <a:ea typeface="Microsoft YaHei"/>
              </a:rPr>
              <a:t>《金大班的最后一夜》精读  ·  综合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证据 → 手法／结构／环境 → 人物与主题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笔记主旨接口：今昔之变 · 灵肉之争 · 物质与精神 · 时代挽歌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11292840" cy="4480560"/>
          </a:xfrm>
          <a:prstGeom prst="roundRect">
            <a:avLst/>
          </a:prstGeom>
          <a:solidFill>
            <a:srgbClr val="2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C98B3C"/>
                </a:solidFill>
                <a:latin typeface="Microsoft YaHei"/>
                <a:ea typeface="Microsoft YaHei"/>
              </a:rPr>
              <a:t>四块拼图如何合拢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5EEE6"/>
                </a:solidFill>
                <a:latin typeface="Microsoft YaHei"/>
                <a:ea typeface="Microsoft YaHei"/>
              </a:rPr>
              <a:t>人物：矛盾立体的金兆丽（道路／处世／爱情三线拧在一起）。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5EEE6"/>
                </a:solidFill>
                <a:latin typeface="Microsoft YaHei"/>
                <a:ea typeface="Microsoft YaHei"/>
              </a:rPr>
              <a:t>手法：对比镜像、反讽、粗口白描、意识流、象征物象把矛盾「做出来」。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5EEE6"/>
                </a:solidFill>
                <a:latin typeface="Microsoft YaHei"/>
                <a:ea typeface="Microsoft YaHei"/>
              </a:rPr>
              <a:t>结构：一夜框一生；倒叙插叙解释她如何走到下嫁前夜；开放结局留下苍凉。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F5EEE6"/>
                </a:solidFill>
                <a:latin typeface="Microsoft YaHei"/>
                <a:ea typeface="Microsoft YaHei"/>
              </a:rPr>
              <a:t>环境：夜巴黎对百乐门的坠落，把个人收场嵌进迁徙时代的挽歌。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总括：喜剧外壳下，是一个货腰娘在繁华落尽后的屈降、残存真情，与一代异乡人的感伤。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8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《金大班的最后一夜》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98B3C"/>
                </a:solidFill>
                <a:latin typeface="Microsoft YaHei"/>
                <a:ea typeface="Microsoft YaHei"/>
              </a:rPr>
              <a:t>人物 · 手法 · 结构 · 环境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A4A8"/>
                </a:solidFill>
                <a:latin typeface="Microsoft YaHei"/>
                <a:ea typeface="Microsoft YaHei"/>
              </a:rPr>
              <a:t>精读须有细节引证 —— 声口、镜子、钻戒、百乐门与夜巴黎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