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737360"/>
            <a:ext cx="1005840" cy="254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7A6C"/>
                </a:solidFill>
                <a:latin typeface="Microsoft YaHei"/>
                <a:ea typeface="Microsoft YaHei"/>
              </a:rPr>
              <a:t>高二文学 · 公开课 · 人物形象精读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77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222220"/>
                </a:solidFill>
                <a:latin typeface="Microsoft YaHei"/>
                <a:ea typeface="Microsoft YaHei"/>
              </a:rPr>
              <a:t>三人立像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54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E6C66"/>
                </a:solidFill>
                <a:latin typeface="Microsoft YaHei"/>
                <a:ea typeface="Microsoft YaHei"/>
              </a:rPr>
              <a:t>《聊斋志异·画皮》· 王生 · 女鬼 · 陈氏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794760"/>
            <a:ext cx="2926080" cy="254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069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6C66"/>
                </a:solidFill>
                <a:latin typeface="Microsoft YaHei"/>
                <a:ea typeface="Microsoft YaHei"/>
              </a:rPr>
              <a:t>不贴标签，用手法把人写立体：对比、象征、侧面、延宕、论赞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7A6C"/>
                </a:solidFill>
                <a:latin typeface="Microsoft YaHei"/>
                <a:ea typeface="Microsoft YaHei"/>
              </a:rPr>
              <a:t>课前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0"/>
                </a:solidFill>
                <a:latin typeface="Microsoft YaHei"/>
                <a:ea typeface="Microsoft YaHei"/>
              </a:rPr>
              <a:t>这节课怎么读人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270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形象不是形容词堆砌，是作者怎么写出来的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7A6C"/>
                </a:solidFill>
                <a:latin typeface="Microsoft YaHei"/>
                <a:ea typeface="Microsoft YaHei"/>
              </a:rPr>
              <a:t>核心问题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0"/>
                </a:solidFill>
                <a:latin typeface="Microsoft YaHei"/>
                <a:ea typeface="Microsoft YaHei"/>
              </a:rPr>
              <a:t>蒲松龄用哪些文学手法，把三个人物写得立得住、对得起？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34640"/>
            <a:ext cx="3611880" cy="256032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834640"/>
            <a:ext cx="3611880" cy="381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C4A3E"/>
                </a:solidFill>
                <a:latin typeface="Microsoft YaHei"/>
                <a:ea typeface="Microsoft YaHei"/>
              </a:rPr>
              <a:t>王生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0"/>
                </a:solidFill>
                <a:latin typeface="Microsoft YaHei"/>
                <a:ea typeface="Microsoft YaHei"/>
              </a:rPr>
              <a:t>写「知而不改」：欲望如何压过理性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834640"/>
            <a:ext cx="3611880" cy="256032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834640"/>
            <a:ext cx="3611880" cy="381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108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C4A3E"/>
                </a:solidFill>
                <a:latin typeface="Microsoft YaHei"/>
                <a:ea typeface="Microsoft YaHei"/>
              </a:rPr>
              <a:t>女鬼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749039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0"/>
                </a:solidFill>
                <a:latin typeface="Microsoft YaHei"/>
                <a:ea typeface="Microsoft YaHei"/>
              </a:rPr>
              <a:t>写「皮相」：美如何被制作、被识破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2834640"/>
            <a:ext cx="3611880" cy="256032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2834640"/>
            <a:ext cx="3611880" cy="381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108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C4A3E"/>
                </a:solidFill>
                <a:latin typeface="Microsoft YaHei"/>
                <a:ea typeface="Microsoft YaHei"/>
              </a:rPr>
              <a:t>陈氏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749039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0"/>
                </a:solidFill>
                <a:latin typeface="Microsoft YaHei"/>
                <a:ea typeface="Microsoft YaHei"/>
              </a:rPr>
              <a:t>写「至诚代价」：复生靠谁、代价落谁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7A6C"/>
                </a:solidFill>
                <a:latin typeface="Microsoft YaHei"/>
                <a:ea typeface="Microsoft YaHei"/>
              </a:rPr>
              <a:t>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0"/>
                </a:solidFill>
                <a:latin typeface="Microsoft YaHei"/>
                <a:ea typeface="Microsoft YaHei"/>
              </a:rPr>
              <a:t>四十分钟怎么走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270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三人各一组证据；汇报必须：原文半句＋手法名＋人物效果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1155680" cy="804672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73152" cy="804672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190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4A3E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2220"/>
                </a:solidFill>
                <a:latin typeface="Microsoft YaHei"/>
                <a:ea typeface="Microsoft YaHei"/>
              </a:rPr>
              <a:t>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190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7A6C"/>
                </a:solidFill>
                <a:latin typeface="Microsoft YaHei"/>
                <a:ea typeface="Microsoft YaHei"/>
              </a:rPr>
              <a:t>5′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7373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C66"/>
                </a:solidFill>
                <a:latin typeface="Microsoft YaHei"/>
                <a:ea typeface="Microsoft YaHei"/>
              </a:rPr>
              <a:t>三人关系图：谁诱惑、谁迷、谁救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68880"/>
            <a:ext cx="11155680" cy="804672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468880"/>
            <a:ext cx="73152" cy="804672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334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4A3E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606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2220"/>
                </a:solidFill>
                <a:latin typeface="Microsoft YaHei"/>
                <a:ea typeface="Microsoft YaHei"/>
              </a:rPr>
              <a:t>立王生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6334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7A6C"/>
                </a:solidFill>
                <a:latin typeface="Microsoft YaHei"/>
                <a:ea typeface="Microsoft YaHei"/>
              </a:rPr>
              <a:t>8′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6517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C66"/>
                </a:solidFill>
                <a:latin typeface="Microsoft YaHei"/>
                <a:ea typeface="Microsoft YaHei"/>
              </a:rPr>
              <a:t>拒警—见皮—丧心：延宕如何塑人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83280"/>
            <a:ext cx="11155680" cy="804672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383280"/>
            <a:ext cx="73152" cy="804672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5478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4A3E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2220"/>
                </a:solidFill>
                <a:latin typeface="Microsoft YaHei"/>
                <a:ea typeface="Microsoft YaHei"/>
              </a:rPr>
              <a:t>立女鬼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5478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7A6C"/>
                </a:solidFill>
                <a:latin typeface="Microsoft YaHei"/>
                <a:ea typeface="Microsoft YaHei"/>
              </a:rPr>
              <a:t>8′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5661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C66"/>
                </a:solidFill>
                <a:latin typeface="Microsoft YaHei"/>
                <a:ea typeface="Microsoft YaHei"/>
              </a:rPr>
              <a:t>姝丽／绘皮／裂腹：象征与对比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297680"/>
            <a:ext cx="11155680" cy="804672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297680"/>
            <a:ext cx="73152" cy="804672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622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4A3E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2220"/>
                </a:solidFill>
                <a:latin typeface="Microsoft YaHei"/>
                <a:ea typeface="Microsoft YaHei"/>
              </a:rPr>
              <a:t>立陈氏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4622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7A6C"/>
                </a:solidFill>
                <a:latin typeface="Microsoft YaHei"/>
                <a:ea typeface="Microsoft YaHei"/>
              </a:rPr>
              <a:t>8′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480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C66"/>
                </a:solidFill>
                <a:latin typeface="Microsoft YaHei"/>
                <a:ea typeface="Microsoft YaHei"/>
              </a:rPr>
              <a:t>劝遣／忍辱／还心：侧面与对照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212080"/>
            <a:ext cx="11155680" cy="804672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212080"/>
            <a:ext cx="73152" cy="804672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3766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4A3E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2220"/>
                </a:solidFill>
                <a:latin typeface="Microsoft YaHei"/>
                <a:ea typeface="Microsoft YaHei"/>
              </a:rPr>
              <a:t>对照收束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53766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7A6C"/>
                </a:solidFill>
                <a:latin typeface="Microsoft YaHei"/>
                <a:ea typeface="Microsoft YaHei"/>
              </a:rPr>
              <a:t>11′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3949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C66"/>
                </a:solidFill>
                <a:latin typeface="Microsoft YaHei"/>
                <a:ea typeface="Microsoft YaHei"/>
              </a:rPr>
              <a:t>三角关系＋一句人物主题句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7A6C"/>
                </a:solidFill>
                <a:latin typeface="Microsoft YaHei"/>
                <a:ea typeface="Microsoft YaHei"/>
              </a:rPr>
              <a:t>环节一 · 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0"/>
                </a:solidFill>
                <a:latin typeface="Microsoft YaHei"/>
                <a:ea typeface="Microsoft YaHei"/>
              </a:rPr>
              <a:t>先看三人怎么缠在一起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270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关系清楚了，再谈各人怎么被写成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3611880" cy="329184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0"/>
                </a:solidFill>
                <a:latin typeface="Microsoft YaHei"/>
                <a:ea typeface="Microsoft YaHei"/>
              </a:rPr>
              <a:t>女鬼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4A3E"/>
                </a:solidFill>
                <a:latin typeface="Microsoft YaHei"/>
                <a:ea typeface="Microsoft YaHei"/>
              </a:rPr>
              <a:t>造皮 · 惑 · 取心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C66"/>
                </a:solidFill>
                <a:latin typeface="Microsoft YaHei"/>
                <a:ea typeface="Microsoft YaHei"/>
              </a:rPr>
              <a:t>象征：皮相可披可卸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611880" cy="329184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0"/>
                </a:solidFill>
                <a:latin typeface="Microsoft YaHei"/>
                <a:ea typeface="Microsoft YaHei"/>
              </a:rPr>
              <a:t>王生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14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4A3E"/>
                </a:solidFill>
                <a:latin typeface="Microsoft YaHei"/>
                <a:ea typeface="Microsoft YaHei"/>
              </a:rPr>
              <a:t>匿 · 拒 · 丧心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383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C66"/>
                </a:solidFill>
                <a:latin typeface="Microsoft YaHei"/>
                <a:ea typeface="Microsoft YaHei"/>
              </a:rPr>
              <a:t>延宕：机会给足仍不改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645920"/>
            <a:ext cx="3611880" cy="329184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0"/>
                </a:solidFill>
                <a:latin typeface="Microsoft YaHei"/>
                <a:ea typeface="Microsoft YaHei"/>
              </a:rPr>
              <a:t>陈氏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14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4A3E"/>
                </a:solidFill>
                <a:latin typeface="Microsoft YaHei"/>
                <a:ea typeface="Microsoft YaHei"/>
              </a:rPr>
              <a:t>劝 · 忍 · 还心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383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C66"/>
                </a:solidFill>
                <a:latin typeface="Microsoft YaHei"/>
                <a:ea typeface="Microsoft YaHei"/>
              </a:rPr>
              <a:t>对照：至诚托起复生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12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C66"/>
                </a:solidFill>
                <a:latin typeface="Microsoft YaHei"/>
                <a:ea typeface="Microsoft YaHei"/>
              </a:rPr>
              <a:t>读法提示：女鬼不只是「坏人」，王生不只是「傻瓜」，陈氏不只是「贤妻」——每人至少找两处能互相打架的证据。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7A6C"/>
                </a:solidFill>
                <a:latin typeface="Microsoft YaHei"/>
                <a:ea typeface="Microsoft YaHei"/>
              </a:rPr>
              <a:t>环节二 · 王生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0"/>
                </a:solidFill>
                <a:latin typeface="Microsoft YaHei"/>
                <a:ea typeface="Microsoft YaHei"/>
              </a:rPr>
              <a:t>从「心相爱乐」到「裂腹掬心」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270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手法：延宕、对比、侧面烘托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1188720" cy="96012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4A3E"/>
                </a:solidFill>
                <a:latin typeface="Microsoft YaHei"/>
                <a:ea typeface="Microsoft YaHei"/>
              </a:rPr>
              <a:t>遇美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61848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0"/>
                </a:solidFill>
                <a:latin typeface="Microsoft YaHei"/>
                <a:ea typeface="Microsoft YaHei"/>
              </a:rPr>
              <a:t>急走趁之，乃二八姝丽。心相爱乐。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11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欲望起笔，几乎无心理挣扎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51760"/>
            <a:ext cx="1188720" cy="96012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4A3E"/>
                </a:solidFill>
                <a:latin typeface="Microsoft YaHei"/>
                <a:ea typeface="Microsoft YaHei"/>
              </a:rPr>
              <a:t>拒警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76148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0"/>
                </a:solidFill>
                <a:latin typeface="Microsoft YaHei"/>
                <a:ea typeface="Microsoft YaHei"/>
              </a:rPr>
              <a:t>道士曰「所遇必魅」。生以其言妄，拒之。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154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把真话判成妄——执迷成形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94760"/>
            <a:ext cx="1188720" cy="96012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4A3E"/>
                </a:solidFill>
                <a:latin typeface="Microsoft YaHei"/>
                <a:ea typeface="Microsoft YaHei"/>
              </a:rPr>
              <a:t>见皮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90448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0"/>
                </a:solidFill>
                <a:latin typeface="Microsoft YaHei"/>
                <a:ea typeface="Microsoft YaHei"/>
              </a:rPr>
              <a:t>窥之：狞鬼……执彩笔而绘之……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297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看见了，恐惧有，醒悟不够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937760"/>
            <a:ext cx="1188720" cy="96012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4A3E"/>
                </a:solidFill>
                <a:latin typeface="Microsoft YaHei"/>
                <a:ea typeface="Microsoft YaHei"/>
              </a:rPr>
              <a:t>丧心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504748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0"/>
                </a:solidFill>
                <a:latin typeface="Microsoft YaHei"/>
                <a:ea typeface="Microsoft YaHei"/>
              </a:rPr>
              <a:t>夜半女复至……裂腹，掬心而去。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5440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「心邪」落到身体：丧心具象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7A6C"/>
                </a:solidFill>
                <a:latin typeface="Microsoft YaHei"/>
                <a:ea typeface="Microsoft YaHei"/>
              </a:rPr>
              <a:t>环节二 · 王生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0"/>
                </a:solidFill>
                <a:latin typeface="Microsoft YaHei"/>
                <a:ea typeface="Microsoft YaHei"/>
              </a:rPr>
              <a:t>他不是「蠢」，是「不改」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270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把形象从标签拉回原文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5C4A3E"/>
                </a:solidFill>
                <a:latin typeface="Microsoft YaHei"/>
                <a:ea typeface="Microsoft YaHei"/>
              </a:rPr>
              <a:t>延宕／反复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222220"/>
                </a:solidFill>
                <a:latin typeface="Microsoft YaHei"/>
                <a:ea typeface="Microsoft YaHei"/>
              </a:rPr>
              <a:t>示警不止一次：拒言 → 见皮 → 得拂 →「心邪，当复有变」。机会给足，才显贪欲压过理性。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5C4A3E"/>
                </a:solidFill>
                <a:latin typeface="Microsoft YaHei"/>
                <a:ea typeface="Microsoft YaHei"/>
              </a:rPr>
              <a:t>侧面描写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222220"/>
                </a:solidFill>
                <a:latin typeface="Microsoft YaHei"/>
                <a:ea typeface="Microsoft YaHei"/>
              </a:rPr>
              <a:t>道士「惑哉」、陈氏劝遣不听——别人越清醒，越衬出他迷。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5C4A3E"/>
                </a:solidFill>
                <a:latin typeface="Microsoft YaHei"/>
                <a:ea typeface="Microsoft YaHei"/>
              </a:rPr>
              <a:t>反讽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22220"/>
                </a:solidFill>
                <a:latin typeface="Microsoft YaHei"/>
                <a:ea typeface="Microsoft YaHei"/>
              </a:rPr>
              <a:t>早会藏匿、会求道士，不是无能；偏偏在「改」上停住。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349240" cy="457200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A7A6C"/>
                </a:solidFill>
                <a:latin typeface="Microsoft YaHei"/>
                <a:ea typeface="Microsoft YaHei"/>
              </a:rPr>
              <a:t>人物一句（可改）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222220"/>
                </a:solidFill>
                <a:latin typeface="Microsoft YaHei"/>
                <a:ea typeface="Microsoft YaHei"/>
              </a:rPr>
              <a:t>王生的形象，立在「看得见真相仍选择自欺」上：欲望让他拒听、侥幸、终致丧心。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5C4A3E"/>
                </a:solidFill>
                <a:latin typeface="Microsoft YaHei"/>
                <a:ea typeface="Microsoft YaHei"/>
              </a:rPr>
              <a:t>追问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E6C66"/>
                </a:solidFill>
                <a:latin typeface="Microsoft YaHei"/>
                <a:ea typeface="Microsoft YaHei"/>
              </a:rPr>
              <a:t>若删掉「君心邪，当复有变」这一笔，他的性格会扁平在哪里？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7A6C"/>
                </a:solidFill>
                <a:latin typeface="Microsoft YaHei"/>
                <a:ea typeface="Microsoft YaHei"/>
              </a:rPr>
              <a:t>环节三 · 女鬼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0"/>
                </a:solidFill>
                <a:latin typeface="Microsoft YaHei"/>
                <a:ea typeface="Microsoft YaHei"/>
              </a:rPr>
              <a:t>一张皮，两副面目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270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手法：对比、象征、细节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5440680" cy="448056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5440680" cy="381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5C4A3E"/>
                </a:solidFill>
                <a:latin typeface="Microsoft YaHei"/>
                <a:ea typeface="Microsoft YaHei"/>
              </a:rPr>
              <a:t>外 · 姝丽声口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220"/>
                </a:solidFill>
                <a:latin typeface="Microsoft YaHei"/>
                <a:ea typeface="Microsoft YaHei"/>
              </a:rPr>
              <a:t>二八姝丽；父母贪贿、嫡妒楚辱——哀告求庇护。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220"/>
                </a:solidFill>
                <a:latin typeface="Microsoft YaHei"/>
                <a:ea typeface="Microsoft YaHei"/>
              </a:rPr>
              <a:t>声口柔软，善用「弱」来换「藏」。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8A7A6C"/>
                </a:solidFill>
                <a:latin typeface="Microsoft YaHei"/>
                <a:ea typeface="Microsoft YaHei"/>
              </a:rPr>
              <a:t>作用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E6C66"/>
                </a:solidFill>
                <a:latin typeface="Microsoft YaHei"/>
                <a:ea typeface="Microsoft YaHei"/>
              </a:rPr>
              <a:t>先让读者与王生一同被说服，后文揭皮才更痛。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440680" cy="448056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5440680" cy="381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5C4A3E"/>
                </a:solidFill>
                <a:latin typeface="Microsoft YaHei"/>
                <a:ea typeface="Microsoft YaHei"/>
              </a:rPr>
              <a:t>内 · 绘皮取心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220"/>
                </a:solidFill>
                <a:latin typeface="Microsoft YaHei"/>
                <a:ea typeface="Microsoft YaHei"/>
              </a:rPr>
              <a:t>面翠色，齿如锯；铺皮、彩笔细描、振衣披上。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220"/>
                </a:solidFill>
                <a:latin typeface="Microsoft YaHei"/>
                <a:ea typeface="Microsoft YaHei"/>
              </a:rPr>
              <a:t>裂腹掬心——美与害都落到「可操作」的物件上。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8A7A6C"/>
                </a:solidFill>
                <a:latin typeface="Microsoft YaHei"/>
                <a:ea typeface="Microsoft YaHei"/>
              </a:rPr>
              <a:t>作用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E6C66"/>
                </a:solidFill>
                <a:latin typeface="Microsoft YaHei"/>
                <a:ea typeface="Microsoft YaHei"/>
              </a:rPr>
              <a:t>她更像「皮相」的符号：无名无姓，来历含糊。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7A6C"/>
                </a:solidFill>
                <a:latin typeface="Microsoft YaHei"/>
                <a:ea typeface="Microsoft YaHei"/>
              </a:rPr>
              <a:t>环节三 · 女鬼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0"/>
                </a:solidFill>
                <a:latin typeface="Microsoft YaHei"/>
                <a:ea typeface="Microsoft YaHei"/>
              </a:rPr>
              <a:t>「画皮」这一笔，把人写成符号，也写成过程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270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艺术特色：过程化、物化、寓言化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11155680" cy="1097280"/>
          </a:xfrm>
          <a:prstGeom prst="rect">
            <a:avLst/>
          </a:prstGeom>
          <a:solidFill>
            <a:srgbClr val="EA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73152" cy="109728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0"/>
                </a:solidFill>
                <a:latin typeface="Microsoft YaHei"/>
                <a:ea typeface="Microsoft YaHei"/>
              </a:rPr>
              <a:t>「铺人皮于榻上，执彩笔而绘之。……举皮如振衣状，披于身，遂化为女子。」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11155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C4A3E"/>
                </a:solidFill>
                <a:latin typeface="Microsoft YaHei"/>
                <a:ea typeface="Microsoft YaHei"/>
              </a:rPr>
              <a:t>过程化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22220"/>
                </a:solidFill>
                <a:latin typeface="Microsoft YaHei"/>
                <a:ea typeface="Microsoft YaHei"/>
              </a:rPr>
              <a:t>不是一句「变身」，而是铺、绘、掷、披——美被写成工序，假面才可怕。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5C4A3E"/>
                </a:solidFill>
                <a:latin typeface="Microsoft YaHei"/>
                <a:ea typeface="Microsoft YaHei"/>
              </a:rPr>
              <a:t>物化与象征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22220"/>
                </a:solidFill>
                <a:latin typeface="Microsoft YaHei"/>
                <a:ea typeface="Microsoft YaHei"/>
              </a:rPr>
              <a:t>皮可卷如画轴；心可掬可还。「人」的关键件成了物件，主题才落到「妍皮裹物」。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5C4A3E"/>
                </a:solidFill>
                <a:latin typeface="Microsoft YaHei"/>
                <a:ea typeface="Microsoft YaHei"/>
              </a:rPr>
              <a:t>读时留心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E6C66"/>
                </a:solidFill>
                <a:latin typeface="Microsoft YaHei"/>
                <a:ea typeface="Microsoft YaHei"/>
              </a:rPr>
              <a:t>文本写「惑」，不等于把所有女性写成祸水。女鬼是欲望的镜子，也是人间伪饰的寓言。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7A6C"/>
                </a:solidFill>
                <a:latin typeface="Microsoft YaHei"/>
                <a:ea typeface="Microsoft YaHei"/>
              </a:rPr>
              <a:t>环节四 · 陈氏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0"/>
                </a:solidFill>
                <a:latin typeface="Microsoft YaHei"/>
                <a:ea typeface="Microsoft YaHei"/>
              </a:rPr>
              <a:t>救回来的，不是王生自己醒悟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270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手法：对照、细节、伦理张力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5623560" cy="205740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73152" cy="20574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C4A3E"/>
                </a:solidFill>
                <a:latin typeface="Microsoft YaHei"/>
                <a:ea typeface="Microsoft YaHei"/>
              </a:rPr>
              <a:t>知礼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0"/>
                </a:solidFill>
                <a:latin typeface="Microsoft YaHei"/>
                <a:ea typeface="Microsoft YaHei"/>
              </a:rPr>
              <a:t>疑为大家媵妾，劝遣之。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有分寸：不是无知附和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623560" cy="205740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554480"/>
            <a:ext cx="73152" cy="20574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C4A3E"/>
                </a:solidFill>
                <a:latin typeface="Microsoft YaHei"/>
                <a:ea typeface="Microsoft YaHei"/>
              </a:rPr>
              <a:t>镇定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40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0"/>
                </a:solidFill>
                <a:latin typeface="Microsoft YaHei"/>
                <a:ea typeface="Microsoft YaHei"/>
              </a:rPr>
              <a:t>生已死……陈骇涕不敢声。使弟奔告道士。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惊而不乱，能行动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40480"/>
            <a:ext cx="5623560" cy="205740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840480"/>
            <a:ext cx="73152" cy="20574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69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C4A3E"/>
                </a:solidFill>
                <a:latin typeface="Microsoft YaHei"/>
                <a:ea typeface="Microsoft YaHei"/>
              </a:rPr>
              <a:t>忍辱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0"/>
                </a:solidFill>
                <a:latin typeface="Microsoft YaHei"/>
                <a:ea typeface="Microsoft YaHei"/>
              </a:rPr>
              <a:t>膝行求丐；杖击；强啖痰唾。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细节写透「至诚」的脏与难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840480"/>
            <a:ext cx="5623560" cy="205740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840480"/>
            <a:ext cx="73152" cy="20574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069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C4A3E"/>
                </a:solidFill>
                <a:latin typeface="Microsoft YaHei"/>
                <a:ea typeface="Microsoft YaHei"/>
              </a:rPr>
              <a:t>还心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526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0"/>
                </a:solidFill>
                <a:latin typeface="Microsoft YaHei"/>
                <a:ea typeface="Microsoft YaHei"/>
              </a:rPr>
              <a:t>心落腔中……生复生。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120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结构回环：失心／还心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7A6C"/>
                </a:solidFill>
                <a:latin typeface="Microsoft YaHei"/>
                <a:ea typeface="Microsoft YaHei"/>
              </a:rPr>
              <a:t>环节四 · 陈氏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0"/>
                </a:solidFill>
                <a:latin typeface="Microsoft YaHei"/>
                <a:ea typeface="Microsoft YaHei"/>
              </a:rPr>
              <a:t>贤德之外，还有一层可争议的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270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形象丰满＝留出讨论空间，不封成「完美妻子」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5C4A3E"/>
                </a:solidFill>
                <a:latin typeface="Microsoft YaHei"/>
                <a:ea typeface="Microsoft YaHei"/>
              </a:rPr>
              <a:t>对照立人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222220"/>
                </a:solidFill>
                <a:latin typeface="Microsoft YaHei"/>
                <a:ea typeface="Microsoft YaHei"/>
              </a:rPr>
              <a:t>王生迷「美」，陈氏咽「秽」。一边是贪色藏匿，一边是忍辱求生——对照越狠，两人形象越清楚。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5C4A3E"/>
                </a:solidFill>
                <a:latin typeface="Microsoft YaHei"/>
                <a:ea typeface="Microsoft YaHei"/>
              </a:rPr>
              <a:t>结构功能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222220"/>
                </a:solidFill>
                <a:latin typeface="Microsoft YaHei"/>
                <a:ea typeface="Microsoft YaHei"/>
              </a:rPr>
              <a:t>复生不靠王生顿悟，靠陈氏行动。主题更冷：迷者丧心，醒者付代价。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5C4A3E"/>
                </a:solidFill>
                <a:latin typeface="Microsoft YaHei"/>
                <a:ea typeface="Microsoft YaHei"/>
              </a:rPr>
              <a:t>可争议的一层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6E6C66"/>
                </a:solidFill>
                <a:latin typeface="Microsoft YaHei"/>
                <a:ea typeface="Microsoft YaHei"/>
              </a:rPr>
              <a:t>异史氏夸「食人之唾而甘之」。显层是至诚感人；潜层是否也写出那个时代对妻子的要求？课堂上可以争，不必统一。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7A6C"/>
                </a:solidFill>
                <a:latin typeface="Microsoft YaHei"/>
                <a:ea typeface="Microsoft YaHei"/>
              </a:rPr>
              <a:t>环节五 · 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0"/>
                </a:solidFill>
                <a:latin typeface="Microsoft YaHei"/>
                <a:ea typeface="Microsoft YaHei"/>
              </a:rPr>
              <a:t>三人并置，看艺术特色如何成网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270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对比是主轴；象征与延宕把人织进主题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11155680" cy="50292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A3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A3E"/>
                </a:solidFill>
                <a:latin typeface="Microsoft YaHei"/>
                <a:ea typeface="Microsoft YaHei"/>
              </a:rPr>
              <a:t>王生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A3E"/>
                </a:solidFill>
                <a:latin typeface="Microsoft YaHei"/>
                <a:ea typeface="Microsoft YaHei"/>
              </a:rPr>
              <a:t>女鬼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A3E"/>
                </a:solidFill>
                <a:latin typeface="Microsoft YaHei"/>
                <a:ea typeface="Microsoft YaHei"/>
              </a:rPr>
              <a:t>陈氏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155680" cy="868680"/>
          </a:xfrm>
          <a:prstGeom prst="rect">
            <a:avLst/>
          </a:prstGeom>
          <a:solidFill>
            <a:srgbClr val="EA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A3E"/>
                </a:solidFill>
                <a:latin typeface="Microsoft YaHei"/>
                <a:ea typeface="Microsoft YaHei"/>
              </a:rPr>
              <a:t>欲望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3774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0"/>
                </a:solidFill>
                <a:latin typeface="Microsoft YaHei"/>
                <a:ea typeface="Microsoft YaHei"/>
              </a:rPr>
              <a:t>贪色、藏匿、拒改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3774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0"/>
                </a:solidFill>
                <a:latin typeface="Microsoft YaHei"/>
                <a:ea typeface="Microsoft YaHei"/>
              </a:rPr>
              <a:t>以美为饵、取心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774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0"/>
                </a:solidFill>
                <a:latin typeface="Microsoft YaHei"/>
                <a:ea typeface="Microsoft YaHei"/>
              </a:rPr>
              <a:t>劝遣、忍辱、还心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375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A3E"/>
                </a:solidFill>
                <a:latin typeface="Microsoft YaHei"/>
                <a:ea typeface="Microsoft YaHei"/>
              </a:rPr>
              <a:t>认知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3375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0"/>
                </a:solidFill>
                <a:latin typeface="Microsoft YaHei"/>
                <a:ea typeface="Microsoft YaHei"/>
              </a:rPr>
              <a:t>见皮仍侥幸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3375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0"/>
                </a:solidFill>
                <a:latin typeface="Microsoft YaHei"/>
                <a:ea typeface="Microsoft YaHei"/>
              </a:rPr>
              <a:t>会绘、会变、会骂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3375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0"/>
                </a:solidFill>
                <a:latin typeface="Microsoft YaHei"/>
                <a:ea typeface="Microsoft YaHei"/>
              </a:rPr>
              <a:t>知礼、能决断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69080"/>
            <a:ext cx="11155680" cy="868680"/>
          </a:xfrm>
          <a:prstGeom prst="rect">
            <a:avLst/>
          </a:prstGeom>
          <a:solidFill>
            <a:srgbClr val="EA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2976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A3E"/>
                </a:solidFill>
                <a:latin typeface="Microsoft YaHei"/>
                <a:ea typeface="Microsoft YaHei"/>
              </a:rPr>
              <a:t>结局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2976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0"/>
                </a:solidFill>
                <a:latin typeface="Microsoft YaHei"/>
                <a:ea typeface="Microsoft YaHei"/>
              </a:rPr>
              <a:t>丧心→复生（被动）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2976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0"/>
                </a:solidFill>
                <a:latin typeface="Microsoft YaHei"/>
                <a:ea typeface="Microsoft YaHei"/>
              </a:rPr>
              <a:t>被收、皮卷如轴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2976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0"/>
                </a:solidFill>
                <a:latin typeface="Microsoft YaHei"/>
                <a:ea typeface="Microsoft YaHei"/>
              </a:rPr>
              <a:t>付代价成就回环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578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A3E"/>
                </a:solidFill>
                <a:latin typeface="Microsoft YaHei"/>
                <a:ea typeface="Microsoft YaHei"/>
              </a:rPr>
              <a:t>手法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52578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0"/>
                </a:solidFill>
                <a:latin typeface="Microsoft YaHei"/>
                <a:ea typeface="Microsoft YaHei"/>
              </a:rPr>
              <a:t>延宕＋反讽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52578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0"/>
                </a:solidFill>
                <a:latin typeface="Microsoft YaHei"/>
                <a:ea typeface="Microsoft YaHei"/>
              </a:rPr>
              <a:t>象征＋过程细节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2578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0"/>
                </a:solidFill>
                <a:latin typeface="Microsoft YaHei"/>
                <a:ea typeface="Microsoft YaHei"/>
              </a:rPr>
              <a:t>对照＋身体细节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7A6C"/>
                </a:solidFill>
                <a:latin typeface="Microsoft YaHei"/>
                <a:ea typeface="Microsoft YaHei"/>
              </a:rPr>
              <a:t>收束 · 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0"/>
                </a:solidFill>
                <a:latin typeface="Microsoft YaHei"/>
                <a:ea typeface="Microsoft YaHei"/>
              </a:rPr>
              <a:t>文学手法如何让形象「立体」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270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汇报模板：证据 → 手法 → 人物效果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611880" cy="214884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C4A3E"/>
                </a:solidFill>
                <a:latin typeface="Microsoft YaHei"/>
                <a:ea typeface="Microsoft YaHei"/>
              </a:rPr>
              <a:t>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0"/>
                </a:solidFill>
                <a:latin typeface="Microsoft YaHei"/>
                <a:ea typeface="Microsoft YaHei"/>
              </a:rPr>
              <a:t>姝丽↔狞鬼；拒警↔忍辱；取心↔还心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性格边界一下子清楚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611880" cy="214884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C4A3E"/>
                </a:solidFill>
                <a:latin typeface="Microsoft YaHei"/>
                <a:ea typeface="Microsoft YaHei"/>
              </a:rPr>
              <a:t>象征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0"/>
                </a:solidFill>
                <a:latin typeface="Microsoft YaHei"/>
                <a:ea typeface="Microsoft YaHei"/>
              </a:rPr>
              <a:t>绘皮、裂腹掬心、卷皮如轴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971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人变成可拆的「皮／心」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554480"/>
            <a:ext cx="3611880" cy="214884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C4A3E"/>
                </a:solidFill>
                <a:latin typeface="Microsoft YaHei"/>
                <a:ea typeface="Microsoft YaHei"/>
              </a:rPr>
              <a:t>延宕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0"/>
                </a:solidFill>
                <a:latin typeface="Microsoft YaHei"/>
                <a:ea typeface="Microsoft YaHei"/>
              </a:rPr>
              <a:t>多次示警仍不改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971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王生从偶发错误变成性格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86200"/>
            <a:ext cx="3611880" cy="214884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C4A3E"/>
                </a:solidFill>
                <a:latin typeface="Microsoft YaHei"/>
                <a:ea typeface="Microsoft YaHei"/>
              </a:rPr>
              <a:t>侧面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617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0"/>
                </a:solidFill>
                <a:latin typeface="Microsoft YaHei"/>
                <a:ea typeface="Microsoft YaHei"/>
              </a:rPr>
              <a:t>道士断语、陈氏劝遣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用清醒者托出执迷者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886200"/>
            <a:ext cx="3611880" cy="214884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C4A3E"/>
                </a:solidFill>
                <a:latin typeface="Microsoft YaHei"/>
                <a:ea typeface="Microsoft YaHei"/>
              </a:rPr>
              <a:t>细节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617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0"/>
                </a:solidFill>
                <a:latin typeface="Microsoft YaHei"/>
                <a:ea typeface="Microsoft YaHei"/>
              </a:rPr>
              <a:t>彩笔、痰唾、破席呻吟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3035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抽象道德落到可感场面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3886200"/>
            <a:ext cx="3611880" cy="214884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C4A3E"/>
                </a:solidFill>
                <a:latin typeface="Microsoft YaHei"/>
                <a:ea typeface="Microsoft YaHei"/>
              </a:rPr>
              <a:t>论赞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617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0"/>
                </a:solidFill>
                <a:latin typeface="Microsoft YaHei"/>
                <a:ea typeface="Microsoft YaHei"/>
              </a:rPr>
              <a:t>「明明妖也，而以为美」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53035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把人物个案推到世人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7A6C"/>
                </a:solidFill>
                <a:latin typeface="Microsoft YaHei"/>
                <a:ea typeface="Microsoft YaHei"/>
              </a:rPr>
              <a:t>收束 · 活动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0"/>
                </a:solidFill>
                <a:latin typeface="Microsoft YaHei"/>
                <a:ea typeface="Microsoft YaHei"/>
              </a:rPr>
              <a:t>三人各写一句「立得住」的人物句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270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句中须出现：一个手法名＋一句原文痕迹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8A7A6C"/>
                </a:solidFill>
                <a:latin typeface="Microsoft YaHei"/>
                <a:ea typeface="Microsoft YaHei"/>
              </a:rPr>
              <a:t>示例（请学生改，勿照抄）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22220"/>
                </a:solidFill>
                <a:latin typeface="Microsoft YaHei"/>
                <a:ea typeface="Microsoft YaHei"/>
              </a:rPr>
              <a:t>王生：借多次拒警的延宕，写成「知之而不改」的自欺者——「以其言妄，拒之」是性格的钥匙。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22220"/>
                </a:solidFill>
                <a:latin typeface="Microsoft YaHei"/>
                <a:ea typeface="Microsoft YaHei"/>
              </a:rPr>
              <a:t>女鬼：借绘皮的过程细节，把美写成可披卸的假面，形象落在「皮相」而非某个具体女人。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22220"/>
                </a:solidFill>
                <a:latin typeface="Microsoft YaHei"/>
                <a:ea typeface="Microsoft YaHei"/>
              </a:rPr>
              <a:t>陈氏：借忍辱细节与王生对照，写成付代价的至诚者；复生回环显出救助伦理的冷。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572000"/>
            <a:ext cx="11155680" cy="155448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7A6C"/>
                </a:solidFill>
                <a:latin typeface="Microsoft YaHei"/>
                <a:ea typeface="Microsoft YaHei"/>
              </a:rPr>
              <a:t>可选辩题（40秒／人，先带原文）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120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0"/>
                </a:solidFill>
                <a:latin typeface="Microsoft YaHei"/>
                <a:ea typeface="Microsoft YaHei"/>
              </a:rPr>
              <a:t>三人之中，谁最「立体」？你的标准是性格复杂，还是主题功能完整？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7A6C"/>
                </a:solidFill>
                <a:latin typeface="Microsoft YaHei"/>
                <a:ea typeface="Microsoft YaHei"/>
              </a:rPr>
              <a:t>出门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0"/>
                </a:solidFill>
                <a:latin typeface="Microsoft YaHei"/>
                <a:ea typeface="Microsoft YaHei"/>
              </a:rPr>
              <a:t>下课前交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270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C66"/>
                </a:solidFill>
                <a:latin typeface="Microsoft YaHei"/>
                <a:ea typeface="Microsoft YaHei"/>
              </a:rPr>
              <a:t>公开课要看见读法，不是背「某某是怎样的人」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11155680" cy="4023360"/>
          </a:xfrm>
          <a:prstGeom prst="rect">
            <a:avLst/>
          </a:prstGeom>
          <a:solidFill>
            <a:srgbClr val="E8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91440" cy="402336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8A7A6C"/>
                </a:solidFill>
                <a:latin typeface="Microsoft YaHei"/>
                <a:ea typeface="Microsoft YaHei"/>
              </a:rPr>
              <a:t>出门条</a:t>
            </a:r>
          </a:p>
          <a:p>
            <a:pPr algn="l">
              <a:spcAft>
                <a:spcPts val="1800"/>
              </a:spcAft>
            </a:pPr>
            <a:r>
              <a:rPr sz="2000" b="1">
                <a:solidFill>
                  <a:srgbClr val="222220"/>
                </a:solidFill>
                <a:latin typeface="Microsoft YaHei"/>
                <a:ea typeface="Microsoft YaHei"/>
              </a:rPr>
              <a:t>选一个人物　＋　一处证据　＋　一个手法　＋　一句形象效果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E6C66"/>
                </a:solidFill>
                <a:latin typeface="Microsoft YaHei"/>
                <a:ea typeface="Microsoft YaHei"/>
              </a:rPr>
              <a:t>例：人物陈氏；证据「强啖痰唾」；手法：对照；效果：用极难堪的细节写出至诚，并反衬王生丧心后的被动复生。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2220"/>
                </a:solidFill>
                <a:latin typeface="Microsoft YaHei"/>
                <a:ea typeface="Microsoft YaHei"/>
              </a:rPr>
              <a:t>人立住了，皮相才站不住。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3108960"/>
            <a:ext cx="2286000" cy="25400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383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E6C66"/>
                </a:solidFill>
                <a:latin typeface="Microsoft YaHei"/>
                <a:ea typeface="Microsoft YaHei"/>
              </a:rPr>
              <a:t>《画皮》人物形象分析 · 公开课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