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011680" cy="54864"/>
          </a:xfrm>
          <a:prstGeom prst="rect">
            <a:avLst/>
          </a:prstGeom>
          <a:solidFill>
            <a:srgbClr val="C4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《台北人》与 IBDP 文学口试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EF3F5"/>
                </a:solidFill>
                <a:latin typeface="Microsoft YaHei"/>
                <a:ea typeface="Microsoft YaHei"/>
              </a:rPr>
              <a:t>今晚内容总整理｜永远的尹雪艳 · 一把青 · 花桥荣记</a:t>
            </a:r>
          </a:p>
          <a:p>
            <a:r>
              <a:rPr sz="1400" b="0">
                <a:solidFill>
                  <a:srgbClr val="EEF3F5"/>
                </a:solidFill>
                <a:latin typeface="Microsoft YaHei"/>
                <a:ea typeface="Microsoft YaHei"/>
              </a:rPr>
              <a:t>全球性话题｜分论点｜文学手法｜对照对比｜领域归类｜篇目互证</a:t>
            </a:r>
          </a:p>
          <a:p>
            <a:pPr>
              <a:spcBef>
                <a:spcPts val="1600"/>
              </a:spcBef>
            </a:pPr>
            <a:r>
              <a:rPr sz="1200" b="0">
                <a:solidFill>
                  <a:srgbClr val="C48B3A"/>
                </a:solidFill>
                <a:latin typeface="Microsoft YaHei"/>
                <a:ea typeface="Microsoft YaHei"/>
              </a:rPr>
              <a:t>IBDP Language A Literature · Individual Oral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Microsoft YaHei"/>
                <a:ea typeface="Microsoft YaHei"/>
              </a:rPr>
              <a:t>01  两组比较总览：尹雪艳×一把青 / 尹雪艳×花桥荣记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YaHei"/>
                <a:ea typeface="Microsoft YaHei"/>
              </a:rPr>
              <a:t>02  IBDP 口试框架：Global Issue · Line of Inquiry · 评分标准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YaHei"/>
                <a:ea typeface="Microsoft YaHei"/>
              </a:rPr>
              <a:t>03  选段精读：《永远的尹雪艳》丧礼—牌局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YaHei"/>
                <a:ea typeface="Microsoft YaHei"/>
              </a:rPr>
              <a:t>04  原题全球话题：个体可替代性（两个分论点）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YaHei"/>
                <a:ea typeface="Microsoft YaHei"/>
              </a:rPr>
              <a:t>05  选段还可讨论的其他全球话题 + 互证篇目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YaHei"/>
                <a:ea typeface="Microsoft YaHei"/>
              </a:rPr>
              <a:t>06  话题所属领域（Fields of Inquiry）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YaHei"/>
                <a:ea typeface="Microsoft YaHei"/>
              </a:rPr>
              <a:t>07  文学手法辨析：对照 vs 对比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YaHei"/>
                <a:ea typeface="Microsoft YaHei"/>
              </a:rPr>
              <a:t>08  《台北人》互证地图与口试建议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01  两组比较总览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C6E7A"/>
                </a:solidFill>
                <a:latin typeface="Microsoft YaHei"/>
                <a:ea typeface="Microsoft YaHei"/>
              </a:rPr>
              <a:t>同一本《台北人》，两种切入：创伤后的生存策略 / 怀旧幻觉的毁灭性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B4A"/>
                </a:solidFill>
                <a:latin typeface="Microsoft YaHei"/>
                <a:ea typeface="Microsoft YaHei"/>
              </a:rPr>
              <a:t>A. 永远的尹雪艳 × 一把青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全球议题：被迫流离与历史巨变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如何重塑身份、亲密关系与创伤生存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尹雪艳：冻结时间，永恒面具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朱青：彻底变形，冷硬续命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共同命题：活下来，往往以失去原来的自己为代价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关键手法：象征、今昔对照、反讽、侧面描写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C6E7A"/>
                </a:solidFill>
                <a:latin typeface="Microsoft YaHei"/>
                <a:ea typeface="Microsoft YaHei"/>
              </a:rPr>
              <a:t>B. 永远的尹雪艳 × 花桥荣记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全球议题：流离者的怀旧与幻觉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及其最终的自我吞噬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尹雪艳：永恒繁华的幻觉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卢先生：永恒等待／归乡团圆的幻觉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共同命题：最危险的家乡，只存在于记忆里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关键手法：空间象征、重复、浪漫化回忆、悲剧转折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02  IBDP 口试框架（Individual Oral）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C6E7A"/>
                </a:solidFill>
                <a:latin typeface="Microsoft YaHei"/>
                <a:ea typeface="Microsoft YaHei"/>
              </a:rPr>
              <a:t>10分钟陈述 + 5分钟追问｜锁定一个 Global Issue 贯穿始终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3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B4A"/>
                </a:solidFill>
                <a:latin typeface="Microsoft YaHei"/>
                <a:ea typeface="Microsoft YaHei"/>
              </a:rPr>
              <a:t>开场必须有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① 两部作品名称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② Global Issue（全球议题）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③ Line of Inquiry（探究主线）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④ 将分析哪些作者选择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要求：议题跨国、重要、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且能被文本具体证明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6303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C6E7A"/>
                </a:solidFill>
                <a:latin typeface="Microsoft YaHei"/>
                <a:ea typeface="Microsoft YaHei"/>
              </a:rPr>
              <a:t>建议时间分配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0:00–0:45  开场定题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0:45–4:30  作品一精读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4:30–8:00  作品二精读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8:00–9:30  全文与全球意义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9:30–10:00 收束回扣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两作比例尽量均衡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全程不偏离同一议题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325880"/>
            <a:ext cx="32918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463039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48B3A"/>
                </a:solidFill>
                <a:latin typeface="Microsoft YaHei"/>
                <a:ea typeface="Microsoft YaHei"/>
              </a:rPr>
              <a:t>四项评分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A 理解与阐释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少复述，多解释意义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B 分析与评价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手法→效果→议题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C 聚焦与组织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路标句清晰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D 语言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术语准，表达稳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02  可直接使用的议题表述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A2B4A"/>
                </a:solidFill>
                <a:latin typeface="Microsoft YaHei"/>
                <a:ea typeface="Microsoft YaHei"/>
              </a:rPr>
              <a:t>组合 A｜尹雪艳 × 一把青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  <a:ea typeface="Microsoft YaHei"/>
              </a:rPr>
              <a:t>被迫流离与历史巨变，如何重塑人的身份、亲密关系，以及个体应对创伤的方式。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  <a:ea typeface="Microsoft YaHei"/>
              </a:rPr>
              <a:t>探究主线：一以“永恒不变”抵抗历史，一以“自我改写”求生存；存活常伴随自我异化。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2B4A"/>
                </a:solidFill>
                <a:latin typeface="Microsoft YaHei"/>
                <a:ea typeface="Microsoft YaHei"/>
              </a:rPr>
              <a:t>组合 B｜尹雪艳 × 花桥荣记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  <a:ea typeface="Microsoft YaHei"/>
              </a:rPr>
              <a:t>流离失所者如何依赖怀旧与幻觉维持身份，以及这种幻觉如何最终造成毁灭。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  <a:ea typeface="Microsoft YaHei"/>
              </a:rPr>
              <a:t>探究主线：永恒繁华 vs 永恒等待；拒绝承认历史断裂，过去便吞噬现在。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2B4A"/>
                </a:solidFill>
                <a:latin typeface="Microsoft YaHei"/>
                <a:ea typeface="Microsoft YaHei"/>
              </a:rPr>
              <a:t>选段题｜永远的尹雪艳（丧礼—牌局）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  <a:ea typeface="Microsoft YaHei"/>
              </a:rPr>
              <a:t>作品如何体现个体生命在社会系统中的可替代性？（政治、权力与正义）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03  选段精读：丧礼之后，牌局又起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C6E7A"/>
                </a:solidFill>
                <a:latin typeface="Microsoft YaHei"/>
                <a:ea typeface="Microsoft YaHei"/>
              </a:rPr>
              <a:t>《永远的尹雪艳》关键片段｜从徐壮图之死到新客登场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3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B4A"/>
                </a:solidFill>
                <a:latin typeface="Microsoft YaHei"/>
                <a:ea typeface="Microsoft YaHei"/>
              </a:rPr>
              <a:t>情节链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徐太太求吴阿婆解厄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八字、念经、法力无边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↓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徐壮图仍被工人刺死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极乐殡仪馆盛大开吊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↓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尹雪艳素白入灵堂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鞠躬、抚孤、握手离开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↓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当晚牌局再开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余经理、周董事长补位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6303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C6E7A"/>
                </a:solidFill>
                <a:latin typeface="Microsoft YaHei"/>
                <a:ea typeface="Microsoft YaHei"/>
              </a:rPr>
              <a:t>关键细节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“痛失英才”挽联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道士打醮 / 僧尼超度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尹雪艳“一阵风”闪入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众人呆如木鸡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徐太太昏厥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吴经理“四喜临门”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“我来吃你的红”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哀乐与声色紧挨出现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系统几乎无缝复位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325880"/>
            <a:ext cx="32918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463039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48B3A"/>
                </a:solidFill>
                <a:latin typeface="Microsoft YaHei"/>
                <a:ea typeface="Microsoft YaHei"/>
              </a:rPr>
              <a:t>解读重心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不是只讲红颜祸水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而是看：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一个人消失后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社交—利益结构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如何迅速换人续转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个体可被哀悼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却难被真正视为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不可替代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04  两个分论点｜个体可替代性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C6E7A"/>
                </a:solidFill>
                <a:latin typeface="Microsoft YaHei"/>
                <a:ea typeface="Microsoft YaHei"/>
              </a:rPr>
              <a:t>全球话题：作品如何体现个体生命在社会系统中的可替代性？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5778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39"/>
            <a:ext cx="5212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B4A"/>
                </a:solidFill>
                <a:latin typeface="Microsoft YaHei"/>
                <a:ea typeface="Microsoft YaHei"/>
              </a:rPr>
              <a:t>分论点一｜时间层面：死后系统迅速复位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212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个体死亡被仪式“处理”后，日常立刻恢复。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证据：白天灵堂悲恸，当晚尹公馆再开牌；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吴经理治丧跛行，夜里为和牌又哭又笑。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手法：场景对照、时间压缩、反讽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（法力无边却救不了人）。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全球阐释：现代社会系统中，死亡常被程序消化，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机器本身不停摆；生命独特性只留在私情里。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25880"/>
            <a:ext cx="52120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3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C6E7A"/>
                </a:solidFill>
                <a:latin typeface="Microsoft YaHei"/>
                <a:ea typeface="Microsoft YaHei"/>
              </a:rPr>
              <a:t>分论点二｜结构层面：人是可换的位置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社交—权力网络需要的是“位置”，不是“这一个”。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证据：徐壮图死后，余经理、周董事长立刻补位；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尹雪艳仍居中心，笑谈吃红。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手法：人物更替/循环、象征（白、风、永远）、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台词物化（把人纳入输赢资源）。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全球阐释：名利场与公司制逻辑相通——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位置长存，占位者不断更换。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04  收束金句（可直接用于口试）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99669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46888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</a:rPr>
              <a:t>徐壮图的丧礼再隆重，也拦不住当晚的牌局；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</a:rPr>
              <a:t>尹雪艳的世界不需要某一个男人，只需要男人这个位置。</a:t>
            </a:r>
          </a:p>
          <a:p>
            <a:pPr>
              <a:spcBef>
                <a:spcPts val="1800"/>
              </a:spcBef>
            </a:pPr>
            <a:r>
              <a:rPr sz="2400" b="1">
                <a:solidFill>
                  <a:srgbClr val="1A2B4A"/>
                </a:solidFill>
                <a:latin typeface="Microsoft YaHei"/>
                <a:ea typeface="Microsoft YaHei"/>
              </a:rPr>
              <a:t>系统不死，死的永远是可替换的人。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05  选段还可讨论的全球话题（一）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C6E7A"/>
                </a:solidFill>
                <a:latin typeface="Microsoft YaHei"/>
                <a:ea typeface="Microsoft YaHei"/>
              </a:rPr>
              <a:t>同一选段，换角度仍能成立｜务必紧扣文本证据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19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B4A"/>
                </a:solidFill>
                <a:latin typeface="Microsoft YaHei"/>
                <a:ea typeface="Microsoft YaHei"/>
              </a:rPr>
              <a:t>① 仪式与迷信失效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337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领域：信仰、价值与教育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人们用八字、念经、打醮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安放恐惧，却救不了现代苦难。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互证：《花桥荣记》《国葬》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《那片血一般红的杜鹃花》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19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C6E7A"/>
                </a:solidFill>
                <a:latin typeface="Microsoft YaHei"/>
                <a:ea typeface="Microsoft YaHei"/>
              </a:rPr>
              <a:t>② 欲望冲击家庭伦理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领域：信仰、价值与教育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外遇、愧疚、遗属崩溃；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宋协理平行故事强化模式。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互证：《金大班的最后一夜》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《一把青》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280160"/>
            <a:ext cx="33832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41731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48B3A"/>
                </a:solidFill>
                <a:latin typeface="Microsoft YaHei"/>
                <a:ea typeface="Microsoft YaHei"/>
              </a:rPr>
              <a:t>③ 女性被妖魔化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领域：政治、权力与正义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褒姒妲己飞燕太真；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把男性失控归罪“祸水”。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互证：《一把青》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《金大班的最后一夜》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《秋思》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05  选段还可讨论的全球话题（二）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19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B4A"/>
                </a:solidFill>
                <a:latin typeface="Microsoft YaHei"/>
                <a:ea typeface="Microsoft YaHei"/>
              </a:rPr>
              <a:t>④ 公共哀悼 vs 私痛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337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领域：文化、身份与社区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挽联宾客热闹，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徐太太哭成痴人、昏厥；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目光被尹雪艳吸走。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互证：《国葬》《梁父吟》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《岁除》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19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C6E7A"/>
                </a:solidFill>
                <a:latin typeface="Microsoft YaHei"/>
                <a:ea typeface="Microsoft YaHei"/>
              </a:rPr>
              <a:t>⑤ 冷酷生存伦理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领域：文化、身份与社区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抽离、冷感、继续玩乐，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成为乱世生存策略。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互证：《一把青》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《金大班的最后一夜》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《满天里亮晶晶的星星》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280160"/>
            <a:ext cx="33832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41731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48B3A"/>
                </a:solidFill>
                <a:latin typeface="Microsoft YaHei"/>
                <a:ea typeface="Microsoft YaHei"/>
              </a:rPr>
              <a:t>⑥ 阶级冲突暴力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领域：政治、权力与正义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开除、喝骂、扁钻刺穿；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表面归咎犯冲，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深层是劳资怨恨。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互证：《杜鹃花》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（选段可做，但易偏史论，慎选）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05  话题优先级建议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Microsoft YaHei"/>
                <a:ea typeface="Microsoft YaHei"/>
              </a:rPr>
              <a:t>最稳：个体可替代性　→　互证《一把青》《金大班的最后一夜》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>很稳：欲望冲击家庭　→　《金大班》《一把青》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>很稳：女性被妖魔化　→　《一把青》《金大班》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>稳：　仪式无法安放苦难　→　《花桥荣记》《国葬》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>稳：　冷酷生存策略　→　《一把青》《金大班》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>可做：公共哀悼 vs 私痛　→　《国葬》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>慎选：阶级暴力　→　有证据，但口试易滑向社会史而非文学分析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B4A"/>
                </a:solidFill>
                <a:latin typeface="Microsoft YaHei"/>
                <a:ea typeface="Microsoft YaHei"/>
              </a:rPr>
              <a:t>换话题不换选段时，可合并为：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>“欲望、污名与生存冷感如何在失序社会中互相强化”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06  话题属于哪些领域？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C6E7A"/>
                </a:solidFill>
                <a:latin typeface="Microsoft YaHei"/>
                <a:ea typeface="Microsoft YaHei"/>
              </a:rPr>
              <a:t>IB Fields of Inquiry｜开场点明领域即可，不必长篇解释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1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B4A"/>
                </a:solidFill>
                <a:latin typeface="Microsoft YaHei"/>
                <a:ea typeface="Microsoft YaHei"/>
              </a:rPr>
              <a:t>政治、权力与正义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• 个体可替代性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• 女性被妖魔化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• 阶级冲突与暴力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口试切口：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系统、权力、话语、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谁被牺牲、谁被替换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1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C6E7A"/>
                </a:solidFill>
                <a:latin typeface="Microsoft YaHei"/>
                <a:ea typeface="Microsoft YaHei"/>
              </a:rPr>
              <a:t>信仰、价值与教育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78308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• 迷信/仪式失效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• 欲望冲击婚姻伦理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• 丧礼超度等价值安放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口试切口：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人们信什么、靠什么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重建秩序，为何失败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5661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1731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48B3A"/>
                </a:solidFill>
                <a:latin typeface="Microsoft YaHei"/>
                <a:ea typeface="Microsoft YaHei"/>
              </a:rPr>
              <a:t>文化、身份与社区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• 公共哀悼与私痛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• 冷酷生存策略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• 社交圈如何换人续转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口试切口：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社群、身份表演、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流亡者的微型家园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06  领域选择实用建议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  <a:ea typeface="Microsoft YaHei"/>
              </a:rPr>
              <a:t>今晚这批选段话题，主要落在前三个领域；不太依赖“艺术创意”或“科技环境”。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A2B4A"/>
                </a:solidFill>
                <a:latin typeface="Microsoft YaHei"/>
                <a:ea typeface="Microsoft YaHei"/>
              </a:rPr>
              <a:t>想谈结构、系统、替换　→　政治、权力与正义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C6E7A"/>
                </a:solidFill>
                <a:latin typeface="Microsoft YaHei"/>
                <a:ea typeface="Microsoft YaHei"/>
              </a:rPr>
              <a:t>想谈家庭、欲望、迷信　→　信仰、价值与教育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C48B3A"/>
                </a:solidFill>
                <a:latin typeface="Microsoft YaHei"/>
                <a:ea typeface="Microsoft YaHei"/>
              </a:rPr>
              <a:t>想谈社群、丧礼、生存姿态　→　文化、身份与社区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Microsoft YaHei"/>
                <a:ea typeface="Microsoft YaHei"/>
              </a:rPr>
              <a:t>开场示例：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>“我的全球议题属于『政治、权力与正义』领域，探讨个体生命在社会系统中的可替代性……”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07  对照 vs 对比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1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B4A"/>
                </a:solidFill>
                <a:latin typeface="Microsoft YaHei"/>
                <a:ea typeface="Microsoft YaHei"/>
              </a:rPr>
              <a:t>对照 ≈ juxtaposition（并置）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把两者放在一起看，让关系自己显现。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可以相似，也可以相反。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强调的是：作者如何安排、如何并置。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例：灵堂与牌局紧挨写出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→ 先指出这种结构性安排。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口试用语：场景对照、今昔对照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035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17319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C6E7A"/>
                </a:solidFill>
                <a:latin typeface="Microsoft YaHei"/>
                <a:ea typeface="Microsoft YaHei"/>
              </a:rPr>
              <a:t>对比 ≈ contrast（差异）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93775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强调两边的差异、对立、反差。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通常指向相反或不平衡。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强调的是：差别在哪、效果是什么。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例：哭↔笑，丧服↔牌局，死人↔新客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→ 再分析反差如何服务主题。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口试用语：形成强烈对比，突出……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07  口试中的正确连用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2B4A"/>
                </a:solidFill>
                <a:latin typeface="Microsoft YaHei"/>
                <a:ea typeface="Microsoft YaHei"/>
              </a:rPr>
              <a:t>公式：先谈对照（结构安排），再谈对比（差异效果）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Microsoft YaHei"/>
                <a:ea typeface="Microsoft YaHei"/>
              </a:rPr>
              <a:t>示范句：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  <a:ea typeface="Microsoft YaHei"/>
              </a:rPr>
              <a:t>作者将灵堂与牌局对照写出，通过哀乐与声色的强烈对比，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  <a:ea typeface="Microsoft YaHei"/>
              </a:rPr>
              <a:t>揭示个体生命在社交系统中的可替代性。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C6E7A"/>
                </a:solidFill>
                <a:latin typeface="Microsoft YaHei"/>
                <a:ea typeface="Microsoft YaHei"/>
              </a:rPr>
              <a:t>易混补充：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  <a:ea typeface="Microsoft YaHei"/>
              </a:rPr>
              <a:t>对比：A 与 B 相反（生/死，冷/热）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  <a:ea typeface="Microsoft YaHei"/>
              </a:rPr>
              <a:t>类比：A 与 B 相似（尹公馆与花桥荣记都是流亡者的微型家园）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  <a:ea typeface="Microsoft YaHei"/>
              </a:rPr>
              <a:t>对照：把 A、B 放一起看（既可对比，也可类比）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08  《台北人》互证地图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C6E7A"/>
                </a:solidFill>
                <a:latin typeface="Microsoft YaHei"/>
                <a:ea typeface="Microsoft YaHei"/>
              </a:rPr>
              <a:t>与《永远的尹雪艳》选段／议题最常互证的篇目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Microsoft YaHei"/>
                <a:ea typeface="Microsoft YaHei"/>
              </a:rPr>
              <a:t>《一把青》　创伤变形、飞行员可替换、女性被改写　★最推荐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>《金大班的最后一夜》　欲望系统、身体/青春可替换、职业外壳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>《花桥荣记》　怀旧幻觉、等待破灭、仪式化希望失效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>《国葬》　公共葬礼消化个人死亡、系统继续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>《满天里亮晶晶的星星》　圈子追新弃旧、位置留给下一批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>《梁父吟》《岁除》　旧人被时代替换、光荣叙事与弃置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>《秋思》　女性锁在阶级与怀旧角色中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  <a:ea typeface="Microsoft YaHei"/>
              </a:rPr>
              <a:t>《那片血一般红的杜鹃花》　阶层压抑与爆发（偏阶级话题）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08  开场 40 秒示范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19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B4A"/>
                </a:solidFill>
                <a:latin typeface="Microsoft YaHei"/>
                <a:ea typeface="Microsoft YaHei"/>
              </a:rPr>
              <a:t>若做：可替代性（选段）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我的全球议题属于「政治、权力与正义」领域，探讨个体生命在社会系统中的可替代性。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在《永远的尹雪艳》选段中，徐壮图之死被隆重哀悼，但当晚牌局即有新客补位；我将结合《一把青》／《金大班》，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通过分析场景对照、人物更替与反讽，说明系统如何在消耗个人后继续运转。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110642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C6E7A"/>
                </a:solidFill>
                <a:latin typeface="Microsoft YaHei"/>
                <a:ea typeface="Microsoft YaHei"/>
              </a:rPr>
              <a:t>若做：尹雪艳 × 花桥荣记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我的全球议题是：流离者如何依赖怀旧与幻觉维持身份，以及幻觉如何最终造成毁灭。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尹雪艳成为冻结的上海神话，卢先生把一生押在团圆与归乡的许诺上。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2B2B"/>
                </a:solidFill>
                <a:latin typeface="Microsoft YaHei"/>
                <a:ea typeface="Microsoft YaHei"/>
              </a:rPr>
              <a:t>当人拒绝接受历史断裂，过去便不再是安慰，而变成吞噬现在的力量。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A"/>
                </a:solidFill>
                <a:latin typeface="Microsoft YaHei"/>
                <a:ea typeface="Microsoft YaHei"/>
              </a:rPr>
              <a:t>口试自查清单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YaHei"/>
                <a:ea typeface="Microsoft YaHei"/>
              </a:rPr>
              <a:t>□ 全球议题是否跨国、重要、能被文本证明？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YaHei"/>
                <a:ea typeface="Microsoft YaHei"/>
              </a:rPr>
              <a:t>□ 是否点明所属领域（三大领域之一）？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YaHei"/>
                <a:ea typeface="Microsoft YaHei"/>
              </a:rPr>
              <a:t>□ 是否只有一条探究主线，全程不跑题？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YaHei"/>
                <a:ea typeface="Microsoft YaHei"/>
              </a:rPr>
              <a:t>□ 每个分论点是否都有：证据 → 手法 → 效果 → 回扣议题？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YaHei"/>
                <a:ea typeface="Microsoft YaHei"/>
              </a:rPr>
              <a:t>□ 两作／选段与互证篇是否比例大致均衡？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YaHei"/>
                <a:ea typeface="Microsoft YaHei"/>
              </a:rPr>
              <a:t>□ 有没有把“对照”（并置）和“对比”（差异）说清楚？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YaHei"/>
                <a:ea typeface="Microsoft YaHei"/>
              </a:rPr>
              <a:t>□ 收束是否回到开场主线，而不是另起新论点？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B2B"/>
                </a:solidFill>
                <a:latin typeface="Microsoft YaHei"/>
                <a:ea typeface="Microsoft YaHei"/>
              </a:rPr>
              <a:t>□ 追问预备：为何全球？叙述者态度？女性是受害者还是象征？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828800" cy="54864"/>
          </a:xfrm>
          <a:prstGeom prst="rect">
            <a:avLst/>
          </a:prstGeom>
          <a:solidFill>
            <a:srgbClr val="C4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今晚内容整理完毕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EF3F5"/>
                </a:solidFill>
                <a:latin typeface="Microsoft YaHei"/>
                <a:ea typeface="Microsoft YaHei"/>
              </a:rPr>
              <a:t>核心抓手：可替代性 · 幻觉与怀旧 · 创伤生存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EEF3F5"/>
                </a:solidFill>
                <a:latin typeface="Microsoft YaHei"/>
                <a:ea typeface="Microsoft YaHei"/>
              </a:rPr>
              <a:t>核心手法：对照 / 对比 · 象征 · 反讽 · 循环更替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C48B3A"/>
                </a:solidFill>
                <a:latin typeface="Microsoft YaHei"/>
                <a:ea typeface="Microsoft YaHei"/>
              </a:rPr>
              <a:t>互证优先：《一把青》《金大班的最后一夜》《花桥荣记》《国葬》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