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BB88F44-F068-46A1-BC7C-597D133DCF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00B1E8C-C184-46C1-80B7-08EFC1DE08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4736AB-8351-464B-AD5D-729EDC2DE6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8521B5-B25B-4257-8D3E-826F951681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CD3AE7-D4F2-4F37-9B96-FC66BD47B8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C5691A-98A0-4936-90E4-4DC35FEEDB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347333-18D5-4ADA-8E0F-8D4B90FDB2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B3CB9A-38E2-41D2-A643-9683D643E8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963084-1719-4FED-8EA1-AA7B196B5C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547918-C1B3-49E8-ADD4-1182437A6D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52DF34-46FD-451E-9BF9-31BF971128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6D238D-758C-4DFB-A250-EA35422C35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65D84D-8A09-4B9B-B11B-6C9D3D64CD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4a161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36101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40080" y="10515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IBDP Chinese A  ·  </a:t>
            </a:r>
            <a:r>
              <a:rPr b="1" lang="zh-CN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文学复习讲座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40080" y="1554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48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永远的尹雪艳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40080" y="260604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2600" spc="-1" strike="noStrike">
                <a:solidFill>
                  <a:srgbClr val="f0d4c0"/>
                </a:solidFill>
                <a:latin typeface="Microsoft YaHei"/>
                <a:ea typeface="Microsoft YaHei"/>
              </a:rPr>
              <a:t>文学概念与手法梳理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40080" y="3200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e8c8c4"/>
                </a:solidFill>
                <a:latin typeface="Microsoft YaHei"/>
                <a:ea typeface="Microsoft YaHei"/>
              </a:rPr>
              <a:t>从人物形象出发，经塑造、叙事、空白、意象与语言，落到主旨。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500" spc="-1" strike="noStrike">
                <a:solidFill>
                  <a:srgbClr val="e8c8c4"/>
                </a:solidFill>
                <a:latin typeface="Microsoft YaHei"/>
                <a:ea typeface="Microsoft YaHei"/>
              </a:rPr>
              <a:t>按「文本表层 → 艺术手法 → 象征意义 → 主题思想」的逻辑展开。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640080" y="50749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白先勇  </a:t>
            </a:r>
            <a:r>
              <a:rPr b="0" lang="en-US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《台北人》首篇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短篇小说  </a:t>
            </a:r>
            <a:r>
              <a:rPr b="0" lang="en-US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·  1960</a:t>
            </a:r>
            <a:r>
              <a:rPr b="0" lang="zh-CN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年代台北 </a:t>
            </a:r>
            <a:r>
              <a:rPr b="0" lang="en-US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/ </a:t>
            </a:r>
            <a:r>
              <a:rPr b="0" lang="zh-CN" sz="1400" spc="-1" strike="noStrike">
                <a:solidFill>
                  <a:srgbClr val="d4b0a8"/>
                </a:solidFill>
                <a:latin typeface="Microsoft YaHei"/>
                <a:ea typeface="Microsoft YaHei"/>
              </a:rPr>
              <a:t>旧上海记忆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640080" y="6446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概念界定  </a:t>
            </a:r>
            <a:r>
              <a:rPr b="0" lang="en-US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 </a:t>
            </a:r>
            <a:r>
              <a:rPr b="0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手法识别  </a:t>
            </a:r>
            <a:r>
              <a:rPr b="0" lang="en-US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 </a:t>
            </a:r>
            <a:r>
              <a:rPr b="0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例证落点  </a:t>
            </a:r>
            <a:r>
              <a:rPr b="0" lang="en-US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 </a:t>
            </a:r>
            <a:r>
              <a:rPr b="0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主旨贯通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阅读路径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为什么按这个顺序讲？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502920" y="85968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文学分析不是清单堆砌，而是从「看见什么」走向「如何做成」再走向「意味着什么」。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6"/>
          <p:cNvSpPr/>
          <p:nvPr/>
        </p:nvSpPr>
        <p:spPr>
          <a:xfrm>
            <a:off x="457200" y="1417320"/>
            <a:ext cx="2742840" cy="3245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658440" y="1600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658440" y="205740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定位文本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658440" y="2560320"/>
            <a:ext cx="2331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文类、系列、核心句子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「尹雪艳总也不老」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3063240" y="2743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1"/>
          <p:cNvSpPr/>
          <p:nvPr/>
        </p:nvSpPr>
        <p:spPr>
          <a:xfrm>
            <a:off x="3383280" y="1417320"/>
            <a:ext cx="2742840" cy="3245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3584520" y="1600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3584520" y="205740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抓住人物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3584520" y="2560320"/>
            <a:ext cx="2331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形象是小说的枢纽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矛盾体 → 象征体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5989320" y="2743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6"/>
          <p:cNvSpPr/>
          <p:nvPr/>
        </p:nvSpPr>
        <p:spPr>
          <a:xfrm>
            <a:off x="6309360" y="1417320"/>
            <a:ext cx="2742840" cy="3245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6510600" y="1600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6510600" y="205740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拆解手法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6510600" y="2560320"/>
            <a:ext cx="2331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塑造 </a:t>
            </a:r>
            <a:r>
              <a:rPr b="0" lang="en-US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叙事 </a:t>
            </a:r>
            <a:r>
              <a:rPr b="0" lang="en-US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空白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意象 </a:t>
            </a:r>
            <a:r>
              <a:rPr b="0" lang="en-US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语言 </a:t>
            </a:r>
            <a:r>
              <a:rPr b="0" lang="en-US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反讽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8915400" y="2743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21"/>
          <p:cNvSpPr/>
          <p:nvPr/>
        </p:nvSpPr>
        <p:spPr>
          <a:xfrm>
            <a:off x="9235440" y="1417320"/>
            <a:ext cx="2742840" cy="3245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9436680" y="1600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9436680" y="205740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落到主旨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4"/>
          <p:cNvSpPr/>
          <p:nvPr/>
        </p:nvSpPr>
        <p:spPr>
          <a:xfrm>
            <a:off x="9436680" y="2560320"/>
            <a:ext cx="2331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时间、欲望、命运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怀旧与虚无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5"/>
          <p:cNvSpPr/>
          <p:nvPr/>
        </p:nvSpPr>
        <p:spPr>
          <a:xfrm>
            <a:off x="502920" y="4892040"/>
            <a:ext cx="11155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贯穿原则：反讽。它既是人物手法，也是叙事策略，更是结构原则——表面赞美、内里批判。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因此本讲不把「反讽」提前单列成第一章，而让它在塑造、叙事、语言中反复现身，最后收束为整体结构。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6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7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CONTENTS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八个板块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5"/>
          <p:cNvSpPr/>
          <p:nvPr/>
        </p:nvSpPr>
        <p:spPr>
          <a:xfrm>
            <a:off x="457200" y="137160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457200" y="137160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713160" y="1517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一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1325880" y="15361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作品定位与核心问题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1325880" y="190188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文类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《台北人》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开篇句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10"/>
          <p:cNvSpPr/>
          <p:nvPr/>
        </p:nvSpPr>
        <p:spPr>
          <a:xfrm>
            <a:off x="6309360" y="137160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11"/>
          <p:cNvSpPr/>
          <p:nvPr/>
        </p:nvSpPr>
        <p:spPr>
          <a:xfrm>
            <a:off x="6309360" y="137160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565320" y="1517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7178040" y="15361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人物形象：矛盾与象征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7178040" y="190188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雪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艳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冷热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神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妖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死神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15"/>
          <p:cNvSpPr/>
          <p:nvPr/>
        </p:nvSpPr>
        <p:spPr>
          <a:xfrm>
            <a:off x="457200" y="254196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16"/>
          <p:cNvSpPr/>
          <p:nvPr/>
        </p:nvSpPr>
        <p:spPr>
          <a:xfrm>
            <a:off x="457200" y="254196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713160" y="268848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三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8"/>
          <p:cNvSpPr/>
          <p:nvPr/>
        </p:nvSpPr>
        <p:spPr>
          <a:xfrm>
            <a:off x="1325880" y="27064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人物塑造手法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1325880" y="307224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以形写神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白描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语言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细节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20"/>
          <p:cNvSpPr/>
          <p:nvPr/>
        </p:nvSpPr>
        <p:spPr>
          <a:xfrm>
            <a:off x="6309360" y="254196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21"/>
          <p:cNvSpPr/>
          <p:nvPr/>
        </p:nvSpPr>
        <p:spPr>
          <a:xfrm>
            <a:off x="6309360" y="254196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6565320" y="268848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四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7178040" y="27064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叙事手法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7178040" y="307224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插叙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全知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不可靠叙述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25"/>
          <p:cNvSpPr/>
          <p:nvPr/>
        </p:nvSpPr>
        <p:spPr>
          <a:xfrm>
            <a:off x="457200" y="371232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26"/>
          <p:cNvSpPr/>
          <p:nvPr/>
        </p:nvSpPr>
        <p:spPr>
          <a:xfrm>
            <a:off x="457200" y="371232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713160" y="38588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1325880" y="387720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空白手法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1325880" y="424296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伊瑟尔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人物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环境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情节空白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30"/>
          <p:cNvSpPr/>
          <p:nvPr/>
        </p:nvSpPr>
        <p:spPr>
          <a:xfrm>
            <a:off x="6309360" y="371232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31"/>
          <p:cNvSpPr/>
          <p:nvPr/>
        </p:nvSpPr>
        <p:spPr>
          <a:xfrm>
            <a:off x="6309360" y="371232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32"/>
          <p:cNvSpPr/>
          <p:nvPr/>
        </p:nvSpPr>
        <p:spPr>
          <a:xfrm>
            <a:off x="6565320" y="38588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六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33"/>
          <p:cNvSpPr/>
          <p:nvPr/>
        </p:nvSpPr>
        <p:spPr>
          <a:xfrm>
            <a:off x="7178040" y="387720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环境、意象与象征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4"/>
          <p:cNvSpPr/>
          <p:nvPr/>
        </p:nvSpPr>
        <p:spPr>
          <a:xfrm>
            <a:off x="7178040" y="424296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白与红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晚香玉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麻将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公馆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35"/>
          <p:cNvSpPr/>
          <p:nvPr/>
        </p:nvSpPr>
        <p:spPr>
          <a:xfrm>
            <a:off x="457200" y="488304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36"/>
          <p:cNvSpPr/>
          <p:nvPr/>
        </p:nvSpPr>
        <p:spPr>
          <a:xfrm>
            <a:off x="457200" y="488304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37"/>
          <p:cNvSpPr/>
          <p:nvPr/>
        </p:nvSpPr>
        <p:spPr>
          <a:xfrm>
            <a:off x="713160" y="5029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七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8"/>
          <p:cNvSpPr/>
          <p:nvPr/>
        </p:nvSpPr>
        <p:spPr>
          <a:xfrm>
            <a:off x="1325880" y="50475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语言特色与反讽结构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9"/>
          <p:cNvSpPr/>
          <p:nvPr/>
        </p:nvSpPr>
        <p:spPr>
          <a:xfrm>
            <a:off x="1325880" y="541332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冷静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暗示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比喻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整体反讽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40"/>
          <p:cNvSpPr/>
          <p:nvPr/>
        </p:nvSpPr>
        <p:spPr>
          <a:xfrm>
            <a:off x="6309360" y="4883040"/>
            <a:ext cx="562320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41"/>
          <p:cNvSpPr/>
          <p:nvPr/>
        </p:nvSpPr>
        <p:spPr>
          <a:xfrm>
            <a:off x="6309360" y="488304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42"/>
          <p:cNvSpPr/>
          <p:nvPr/>
        </p:nvSpPr>
        <p:spPr>
          <a:xfrm>
            <a:off x="6565320" y="5029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0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3"/>
          <p:cNvSpPr/>
          <p:nvPr/>
        </p:nvSpPr>
        <p:spPr>
          <a:xfrm>
            <a:off x="7178040" y="50475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主旨与答题路径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44"/>
          <p:cNvSpPr/>
          <p:nvPr/>
        </p:nvSpPr>
        <p:spPr>
          <a:xfrm>
            <a:off x="7178040" y="5413320"/>
            <a:ext cx="4480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六层主旨 </a:t>
            </a:r>
            <a:r>
              <a:rPr b="0" lang="en-US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· </a:t>
            </a:r>
            <a:r>
              <a:rPr b="0" lang="zh-CN" sz="12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手法如何服务主题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45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6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3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01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作品定位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先把文本放进正确的坐标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411480" y="1371600"/>
            <a:ext cx="278856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411480" y="1371600"/>
            <a:ext cx="278856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594360" y="16002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文类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594360" y="2103120"/>
            <a:ext cx="24228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短篇小说，情节完整、有头有尾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传统线性骨架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+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插叙补层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适合考查：视角、象征、反讽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3337560" y="1371600"/>
            <a:ext cx="278856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10"/>
          <p:cNvSpPr/>
          <p:nvPr/>
        </p:nvSpPr>
        <p:spPr>
          <a:xfrm>
            <a:off x="3337560" y="1371600"/>
            <a:ext cx="278856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3520440" y="16002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系列位置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3520440" y="2103120"/>
            <a:ext cx="24228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《台北人》十四篇之首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为整部集子定下调性：怀旧、沧桑、嘲讽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「永远」与「台北人」的时间张力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13"/>
          <p:cNvSpPr/>
          <p:nvPr/>
        </p:nvSpPr>
        <p:spPr>
          <a:xfrm>
            <a:off x="6263640" y="1371600"/>
            <a:ext cx="278856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14"/>
          <p:cNvSpPr/>
          <p:nvPr/>
        </p:nvSpPr>
        <p:spPr>
          <a:xfrm>
            <a:off x="6263640" y="1371600"/>
            <a:ext cx="278856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6446520" y="16002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时空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6446520" y="2103120"/>
            <a:ext cx="24228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现在：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1960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年代台北尹公馆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过去：上海百乐门、霞飞路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视点立足现在，不断插入上海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17"/>
          <p:cNvSpPr/>
          <p:nvPr/>
        </p:nvSpPr>
        <p:spPr>
          <a:xfrm>
            <a:off x="9189720" y="1371600"/>
            <a:ext cx="278856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18"/>
          <p:cNvSpPr/>
          <p:nvPr/>
        </p:nvSpPr>
        <p:spPr>
          <a:xfrm>
            <a:off x="9189720" y="1371600"/>
            <a:ext cx="2788560" cy="7272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9372600" y="16002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核心句子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20"/>
          <p:cNvSpPr/>
          <p:nvPr/>
        </p:nvSpPr>
        <p:spPr>
          <a:xfrm>
            <a:off x="9372600" y="2103120"/>
            <a:ext cx="24228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开篇：「尹雪艳总也不老。」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既是人物设定，也是反讽基调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谁能不老？「永远」是幻觉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1"/>
          <p:cNvSpPr/>
          <p:nvPr/>
        </p:nvSpPr>
        <p:spPr>
          <a:xfrm>
            <a:off x="502920" y="4983480"/>
            <a:ext cx="11155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分析入口：不要一上来赞美「永远的美人」。先问——叙述者为什么这样说？隐含作者是否同意？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「总也不老」是表层话语；「谁能不老」才是文本真正要读者想到的常识。二者的裂隙，就是反讽开始的地方。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3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4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01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作品定位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概念地图：手法如何通向主旨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5"/>
          <p:cNvSpPr/>
          <p:nvPr/>
        </p:nvSpPr>
        <p:spPr>
          <a:xfrm>
            <a:off x="640080" y="1325880"/>
            <a:ext cx="7589160" cy="776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868680" y="13989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3108960" y="13989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尹雪艳：雪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艳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冷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热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人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神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死神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8"/>
          <p:cNvSpPr/>
          <p:nvPr/>
        </p:nvSpPr>
        <p:spPr>
          <a:xfrm>
            <a:off x="640080" y="2240280"/>
            <a:ext cx="7589160" cy="776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9"/>
          <p:cNvSpPr/>
          <p:nvPr/>
        </p:nvSpPr>
        <p:spPr>
          <a:xfrm>
            <a:off x="868680" y="23133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塑造手法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0"/>
          <p:cNvSpPr/>
          <p:nvPr/>
        </p:nvSpPr>
        <p:spPr>
          <a:xfrm>
            <a:off x="3108960" y="23133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以形写神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白描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语言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细节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11"/>
          <p:cNvSpPr/>
          <p:nvPr/>
        </p:nvSpPr>
        <p:spPr>
          <a:xfrm>
            <a:off x="640080" y="3154680"/>
            <a:ext cx="7589160" cy="776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868680" y="32277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叙事与空白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3"/>
          <p:cNvSpPr/>
          <p:nvPr/>
        </p:nvSpPr>
        <p:spPr>
          <a:xfrm>
            <a:off x="3108960" y="32277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插叙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全知冷静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不可靠叙述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留白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14"/>
          <p:cNvSpPr/>
          <p:nvPr/>
        </p:nvSpPr>
        <p:spPr>
          <a:xfrm>
            <a:off x="640080" y="4069080"/>
            <a:ext cx="7589160" cy="776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15"/>
          <p:cNvSpPr/>
          <p:nvPr/>
        </p:nvSpPr>
        <p:spPr>
          <a:xfrm>
            <a:off x="868680" y="41421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意象与语言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3108960" y="41421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白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红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晚香玉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麻将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客观冷静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暗示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17"/>
          <p:cNvSpPr/>
          <p:nvPr/>
        </p:nvSpPr>
        <p:spPr>
          <a:xfrm>
            <a:off x="640080" y="4983480"/>
            <a:ext cx="7589160" cy="776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868680" y="505656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反讽结构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9"/>
          <p:cNvSpPr/>
          <p:nvPr/>
        </p:nvSpPr>
        <p:spPr>
          <a:xfrm>
            <a:off x="3108960" y="50565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话语反讽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情景反讽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整体反讽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20"/>
          <p:cNvSpPr/>
          <p:nvPr/>
        </p:nvSpPr>
        <p:spPr>
          <a:xfrm>
            <a:off x="8503920" y="1325880"/>
            <a:ext cx="3200040" cy="443448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1"/>
          <p:cNvSpPr/>
          <p:nvPr/>
        </p:nvSpPr>
        <p:spPr>
          <a:xfrm>
            <a:off x="8686800" y="15544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落点：主旨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2"/>
          <p:cNvSpPr/>
          <p:nvPr/>
        </p:nvSpPr>
        <p:spPr>
          <a:xfrm>
            <a:off x="8686800" y="2057400"/>
            <a:ext cx="2834280" cy="15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时间与命运不可抗拒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繁华与衰落的对照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人性的复杂与矛盾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怀旧与现实的冲突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女性的力量与悲剧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▸  </a:t>
            </a:r>
            <a:r>
              <a:rPr b="0" lang="zh-CN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欲望、轮回与虚无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2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2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5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尹雪艳是整篇小说的概念枢纽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502920" y="85968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先分清三层：作为「人」的性格、作为「符号」的象征、作为「叙述效果」的神秘。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6"/>
          <p:cNvSpPr/>
          <p:nvPr/>
        </p:nvSpPr>
        <p:spPr>
          <a:xfrm>
            <a:off x="457200" y="1417320"/>
            <a:ext cx="3657240" cy="4160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ectangle 7"/>
          <p:cNvSpPr/>
          <p:nvPr/>
        </p:nvSpPr>
        <p:spPr>
          <a:xfrm>
            <a:off x="457200" y="1417320"/>
            <a:ext cx="3657240" cy="9108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685800" y="16459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表层：可见的人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685800" y="2194560"/>
            <a:ext cx="3200040" cy="11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容颜不老、银白旗袍、风情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社交女王：牌局、公馆、应酬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淡然世故、八面玲珑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对男女皆有吸引力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10"/>
          <p:cNvSpPr/>
          <p:nvPr/>
        </p:nvSpPr>
        <p:spPr>
          <a:xfrm>
            <a:off x="4297680" y="1417320"/>
            <a:ext cx="3657240" cy="4160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ectangle 11"/>
          <p:cNvSpPr/>
          <p:nvPr/>
        </p:nvSpPr>
        <p:spPr>
          <a:xfrm>
            <a:off x="4297680" y="1417320"/>
            <a:ext cx="3657240" cy="9108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4526280" y="16459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中层：矛盾的性格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4526280" y="2194560"/>
            <a:ext cx="3200040" cy="11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冷艳 ↔ 慈悲（安抚失意者）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超然 ↔ 寄生（吃红、周旋）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圣洁（雪）↔ 魅惑（艳）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女祭司 </a:t>
            </a: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命运女神 </a:t>
            </a: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红颜祸水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ounded Rectangle 14"/>
          <p:cNvSpPr/>
          <p:nvPr/>
        </p:nvSpPr>
        <p:spPr>
          <a:xfrm>
            <a:off x="8138160" y="1417320"/>
            <a:ext cx="3657240" cy="4160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ectangle 15"/>
          <p:cNvSpPr/>
          <p:nvPr/>
        </p:nvSpPr>
        <p:spPr>
          <a:xfrm>
            <a:off x="8138160" y="1417320"/>
            <a:ext cx="3657240" cy="91080"/>
          </a:xfrm>
          <a:prstGeom prst="rect">
            <a:avLst/>
          </a:prstGeom>
          <a:solidFill>
            <a:srgbClr val="1e181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8366760" y="16459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深层：象征的功能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8366760" y="2194560"/>
            <a:ext cx="3200040" cy="11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时间：永恒 </a:t>
            </a: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vs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变迁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欲望：心魔与黑洞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命运：摆渡者 </a:t>
            </a: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死神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旧上海：海市蜃楼式繁华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6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名字即概念：「雪」与「艳」的矛盾统一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5"/>
          <p:cNvSpPr/>
          <p:nvPr/>
        </p:nvSpPr>
        <p:spPr>
          <a:xfrm>
            <a:off x="457200" y="1371600"/>
            <a:ext cx="5394600" cy="429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731520" y="15544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雪  </a:t>
            </a:r>
            <a:r>
              <a:rPr b="1" lang="en-US" sz="18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·  </a:t>
            </a:r>
            <a:r>
              <a:rPr b="1" lang="zh-CN" sz="18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冷、白、圣洁、死亡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731520" y="2103120"/>
            <a:ext cx="484596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雪白肌肤、素白旗袍、银狐大氅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「冰雪化成的精灵」「通身银白的女祭司」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不擦胭抹粉、不穿红戴绿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内心冷酷、超然、均衡不受外界迁异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白色 </a:t>
            </a: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=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死亡寒意、花圈丧幛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8"/>
          <p:cNvSpPr/>
          <p:nvPr/>
        </p:nvSpPr>
        <p:spPr>
          <a:xfrm>
            <a:off x="6126480" y="1371600"/>
            <a:ext cx="5577480" cy="429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9"/>
          <p:cNvSpPr/>
          <p:nvPr/>
        </p:nvSpPr>
        <p:spPr>
          <a:xfrm>
            <a:off x="640080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艳  </a:t>
            </a:r>
            <a:r>
              <a:rPr b="1" lang="en-US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 </a:t>
            </a: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红、热、魅惑、血光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0"/>
          <p:cNvSpPr/>
          <p:nvPr/>
        </p:nvSpPr>
        <p:spPr>
          <a:xfrm>
            <a:off x="6400800" y="2103120"/>
            <a:ext cx="502884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血红郁金香、鲜红樱桃、桃花心红木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「世人不及的风情」、舞池中的从容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重煞传说：轻则家败，重则人亡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吸引王贵生、洪处长、徐壮图前仆后继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红色 </a:t>
            </a: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=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欲望、血腥、见血预兆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7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介于神灵与妖孽之间，导向「死神」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ounded Rectangle 5"/>
          <p:cNvSpPr/>
          <p:nvPr/>
        </p:nvSpPr>
        <p:spPr>
          <a:xfrm>
            <a:off x="457200" y="1371600"/>
            <a:ext cx="365724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Rectangle 6"/>
          <p:cNvSpPr/>
          <p:nvPr/>
        </p:nvSpPr>
        <p:spPr>
          <a:xfrm>
            <a:off x="457200" y="1371600"/>
            <a:ext cx="3657240" cy="7272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685800" y="1600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神灵一侧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685800" y="210312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通身银白的女祭司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命运女神般安抚客人们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悲天悯人地看牌桌厮杀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对吴经理、宋太太的慈悲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9"/>
          <p:cNvSpPr/>
          <p:nvPr/>
        </p:nvSpPr>
        <p:spPr>
          <a:xfrm>
            <a:off x="4297680" y="1371600"/>
            <a:ext cx="365724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10"/>
          <p:cNvSpPr/>
          <p:nvPr/>
        </p:nvSpPr>
        <p:spPr>
          <a:xfrm>
            <a:off x="4297680" y="1371600"/>
            <a:ext cx="365724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4526280" y="1600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妖孽一侧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2"/>
          <p:cNvSpPr/>
          <p:nvPr/>
        </p:nvSpPr>
        <p:spPr>
          <a:xfrm>
            <a:off x="4526280" y="210312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八字带重煞、犯白虎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吴家阿婆比作妲己、褒姒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「狐狸精」「祸水」的流言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所到之处「血光一片」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13"/>
          <p:cNvSpPr/>
          <p:nvPr/>
        </p:nvSpPr>
        <p:spPr>
          <a:xfrm>
            <a:off x="8138160" y="1371600"/>
            <a:ext cx="365724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14"/>
          <p:cNvSpPr/>
          <p:nvPr/>
        </p:nvSpPr>
        <p:spPr>
          <a:xfrm>
            <a:off x="8138160" y="1371600"/>
            <a:ext cx="3657240" cy="72720"/>
          </a:xfrm>
          <a:prstGeom prst="rect">
            <a:avLst/>
          </a:prstGeom>
          <a:solidFill>
            <a:srgbClr val="1e181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15"/>
          <p:cNvSpPr/>
          <p:nvPr/>
        </p:nvSpPr>
        <p:spPr>
          <a:xfrm>
            <a:off x="8366760" y="1600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死神化身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6"/>
          <p:cNvSpPr/>
          <p:nvPr/>
        </p:nvSpPr>
        <p:spPr>
          <a:xfrm>
            <a:off x="8366760" y="2103120"/>
            <a:ext cx="3200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不老不死，旁观众生老去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「我来吃你的红」的双关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加速纵欲者走向毁灭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命运舟楫上的清冷摆渡者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502920" y="4983480"/>
            <a:ext cx="11155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关键判断：她不是「坏女人」这么简单。神、妖、死神三种读法同时成立，人物才有张力。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她的永恒 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vs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周围人事的无常、她的清冷 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vs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众人的炙热追逐——变与不变反复对照，指向欲望腐蚀与命运无助。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9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8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社交掌控力，与冷艳</a:t>
            </a: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慈悲的双重性格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ounded Rectangle 5"/>
          <p:cNvSpPr/>
          <p:nvPr/>
        </p:nvSpPr>
        <p:spPr>
          <a:xfrm>
            <a:off x="457200" y="1371600"/>
            <a:ext cx="557748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Rectangle 6"/>
          <p:cNvSpPr/>
          <p:nvPr/>
        </p:nvSpPr>
        <p:spPr>
          <a:xfrm>
            <a:off x="457200" y="1371600"/>
            <a:ext cx="72720" cy="45716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658440" y="148140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掌控：公馆即舞台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658440" y="1810440"/>
            <a:ext cx="5230080" cy="18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百乐门到尹公馆，她始终是全场中心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懂牌品癖性，巧妙排局，不伤和气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用「作废了的头衔」称呼旧客，恢复其优越感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对徐壮图：劝酒、点牌、特别款待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见什么人说什么话——金口难开，开口即中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概念：人物的「功能性」——她是社交机器，也是怀旧药剂。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ounded Rectangle 9"/>
          <p:cNvSpPr/>
          <p:nvPr/>
        </p:nvSpPr>
        <p:spPr>
          <a:xfrm>
            <a:off x="6263640" y="1371600"/>
            <a:ext cx="548604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10"/>
          <p:cNvSpPr/>
          <p:nvPr/>
        </p:nvSpPr>
        <p:spPr>
          <a:xfrm>
            <a:off x="6263640" y="1371600"/>
            <a:ext cx="72720" cy="45716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6464880" y="1481400"/>
            <a:ext cx="5166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双重：冷艳与慈悲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6464880" y="1810440"/>
            <a:ext cx="5138640" cy="15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冷：素白旗袍、距离感的微笑、处理后事的淡漠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慈：电暖炉与铁观音给吴经理；热毛巾给宋太太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「人无千日好，花无百日红」——像神谕，也像麻醉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读法提醒：慈悲可以是真的同情，也可以是经营人头、维持牌局的手腕。文本允许两种理解并存——这正是空白与反讽的接口。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9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02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人物形象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尹雪艳的象征网络（答题时按题干选一层，勿全堆）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5"/>
          <p:cNvSpPr/>
          <p:nvPr/>
        </p:nvSpPr>
        <p:spPr>
          <a:xfrm>
            <a:off x="411480" y="1371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6"/>
          <p:cNvSpPr/>
          <p:nvPr/>
        </p:nvSpPr>
        <p:spPr>
          <a:xfrm>
            <a:off x="612720" y="1554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1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时间的旁观者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612720" y="2057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自己恒定，见证他人老去。她是刻度，标出过去与现在的界限。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ounded Rectangle 8"/>
          <p:cNvSpPr/>
          <p:nvPr/>
        </p:nvSpPr>
        <p:spPr>
          <a:xfrm>
            <a:off x="4297680" y="1371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9"/>
          <p:cNvSpPr/>
          <p:nvPr/>
        </p:nvSpPr>
        <p:spPr>
          <a:xfrm>
            <a:off x="4498920" y="1554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2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旧时代的残影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10"/>
          <p:cNvSpPr/>
          <p:nvPr/>
        </p:nvSpPr>
        <p:spPr>
          <a:xfrm>
            <a:off x="4498920" y="2057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公馆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上海繁华的仿制品；她周身「透着荣华的麝香」。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ounded Rectangle 11"/>
          <p:cNvSpPr/>
          <p:nvPr/>
        </p:nvSpPr>
        <p:spPr>
          <a:xfrm>
            <a:off x="8183880" y="1371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12"/>
          <p:cNvSpPr/>
          <p:nvPr/>
        </p:nvSpPr>
        <p:spPr>
          <a:xfrm>
            <a:off x="8385120" y="1554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3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欲望的外化 </a:t>
            </a: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心魔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13"/>
          <p:cNvSpPr/>
          <p:nvPr/>
        </p:nvSpPr>
        <p:spPr>
          <a:xfrm>
            <a:off x="8385120" y="2057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男人不是被煞气所害，是被自己的欲望吞没。她是导火索与镜子。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ounded Rectangle 14"/>
          <p:cNvSpPr/>
          <p:nvPr/>
        </p:nvSpPr>
        <p:spPr>
          <a:xfrm>
            <a:off x="411480" y="3657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15"/>
          <p:cNvSpPr/>
          <p:nvPr/>
        </p:nvSpPr>
        <p:spPr>
          <a:xfrm>
            <a:off x="612720" y="3840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4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命运 </a:t>
            </a: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死神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16"/>
          <p:cNvSpPr/>
          <p:nvPr/>
        </p:nvSpPr>
        <p:spPr>
          <a:xfrm>
            <a:off x="612720" y="4343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摆渡者、女祭司、吃红。纵欲加速死亡；她不悲不喜。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ounded Rectangle 17"/>
          <p:cNvSpPr/>
          <p:nvPr/>
        </p:nvSpPr>
        <p:spPr>
          <a:xfrm>
            <a:off x="4297680" y="3657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8"/>
          <p:cNvSpPr/>
          <p:nvPr/>
        </p:nvSpPr>
        <p:spPr>
          <a:xfrm>
            <a:off x="4498920" y="3840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5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人性的清醒与冷酷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19"/>
          <p:cNvSpPr/>
          <p:nvPr/>
        </p:nvSpPr>
        <p:spPr>
          <a:xfrm>
            <a:off x="4498920" y="4343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旁观厮杀，自己不入局——理智，也是非人。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ounded Rectangle 20"/>
          <p:cNvSpPr/>
          <p:nvPr/>
        </p:nvSpPr>
        <p:spPr>
          <a:xfrm>
            <a:off x="8183880" y="3657600"/>
            <a:ext cx="3702960" cy="208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21"/>
          <p:cNvSpPr/>
          <p:nvPr/>
        </p:nvSpPr>
        <p:spPr>
          <a:xfrm>
            <a:off x="8385120" y="384048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6  </a:t>
            </a: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乌托邦与虚无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22"/>
          <p:cNvSpPr/>
          <p:nvPr/>
        </p:nvSpPr>
        <p:spPr>
          <a:xfrm>
            <a:off x="8385120" y="4343400"/>
            <a:ext cx="3291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尹公馆是精神欲望的乌托邦；繁华背后是枯骨，色即是空。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2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2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10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人物塑造手法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四种核心手法：由外而内，由形到神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ounded Rectangle 5"/>
          <p:cNvSpPr/>
          <p:nvPr/>
        </p:nvSpPr>
        <p:spPr>
          <a:xfrm>
            <a:off x="457200" y="1417320"/>
            <a:ext cx="2788560" cy="32000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6"/>
          <p:cNvSpPr/>
          <p:nvPr/>
        </p:nvSpPr>
        <p:spPr>
          <a:xfrm>
            <a:off x="658440" y="1600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7"/>
          <p:cNvSpPr/>
          <p:nvPr/>
        </p:nvSpPr>
        <p:spPr>
          <a:xfrm>
            <a:off x="65844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以形写神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8"/>
          <p:cNvSpPr/>
          <p:nvPr/>
        </p:nvSpPr>
        <p:spPr>
          <a:xfrm>
            <a:off x="658440" y="26517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衣着、神情、动作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写出内心的「冷」与沧桑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ounded Rectangle 9"/>
          <p:cNvSpPr/>
          <p:nvPr/>
        </p:nvSpPr>
        <p:spPr>
          <a:xfrm>
            <a:off x="3383280" y="1417320"/>
            <a:ext cx="2788560" cy="32000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10"/>
          <p:cNvSpPr/>
          <p:nvPr/>
        </p:nvSpPr>
        <p:spPr>
          <a:xfrm>
            <a:off x="3584520" y="1600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358452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白描勾勒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12"/>
          <p:cNvSpPr/>
          <p:nvPr/>
        </p:nvSpPr>
        <p:spPr>
          <a:xfrm>
            <a:off x="3584520" y="26517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抓住突出特征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三言两语，神情毕现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13"/>
          <p:cNvSpPr/>
          <p:nvPr/>
        </p:nvSpPr>
        <p:spPr>
          <a:xfrm>
            <a:off x="6309360" y="1417320"/>
            <a:ext cx="2788560" cy="32000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14"/>
          <p:cNvSpPr/>
          <p:nvPr/>
        </p:nvSpPr>
        <p:spPr>
          <a:xfrm>
            <a:off x="6510600" y="1600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5"/>
          <p:cNvSpPr/>
          <p:nvPr/>
        </p:nvSpPr>
        <p:spPr>
          <a:xfrm>
            <a:off x="651060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个性化语言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6"/>
          <p:cNvSpPr/>
          <p:nvPr/>
        </p:nvSpPr>
        <p:spPr>
          <a:xfrm>
            <a:off x="6510600" y="26517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见人说话、金口难开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话里露出寄生本质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ounded Rectangle 17"/>
          <p:cNvSpPr/>
          <p:nvPr/>
        </p:nvSpPr>
        <p:spPr>
          <a:xfrm>
            <a:off x="9235440" y="1417320"/>
            <a:ext cx="2788560" cy="32000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18"/>
          <p:cNvSpPr/>
          <p:nvPr/>
        </p:nvSpPr>
        <p:spPr>
          <a:xfrm>
            <a:off x="9436680" y="1600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9"/>
          <p:cNvSpPr/>
          <p:nvPr/>
        </p:nvSpPr>
        <p:spPr>
          <a:xfrm>
            <a:off x="943668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特征性细节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20"/>
          <p:cNvSpPr/>
          <p:nvPr/>
        </p:nvSpPr>
        <p:spPr>
          <a:xfrm>
            <a:off x="9436680" y="26517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郁金香颤动、抚摩孩子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当晚成牌局 → 心理与个性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21"/>
          <p:cNvSpPr/>
          <p:nvPr/>
        </p:nvSpPr>
        <p:spPr>
          <a:xfrm>
            <a:off x="502920" y="4846320"/>
            <a:ext cx="11155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概念辨析：「以形写神」是中国传统小说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画论术语，强调外形描写通向精神气质；「白描」强调少形容词、抓特征。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二者常叠用：开篇「总也不老」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+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雪白肌肤、细挑身材，既是白描，也在以形写神。答题时点明侧重点即可。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22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3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11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人物塑造手法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以形写神：衣着之「冷」与神情之「悯」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ounded Rectangle 5"/>
          <p:cNvSpPr/>
          <p:nvPr/>
        </p:nvSpPr>
        <p:spPr>
          <a:xfrm>
            <a:off x="457200" y="1371600"/>
            <a:ext cx="557748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Rectangle 6"/>
          <p:cNvSpPr/>
          <p:nvPr/>
        </p:nvSpPr>
        <p:spPr>
          <a:xfrm>
            <a:off x="457200" y="1371600"/>
            <a:ext cx="72720" cy="45716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658440" y="148140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形：反复写「银白」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658440" y="1810440"/>
            <a:ext cx="5230080" cy="21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概念：通过服饰、动作的精细描绘，让性格从外形中长出来。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夏天浑身银白，净扮了不得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盛宴：翻领束腰银狐大氅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寿宴：月白织锦旗袍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徐壮图祭悼：仍一身素白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一个字：冷。衣着之冷衬容貌之艳，更暗示内心冷酷；情节推进后，外冷与内冷完全融合。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ounded Rectangle 9"/>
          <p:cNvSpPr/>
          <p:nvPr/>
        </p:nvSpPr>
        <p:spPr>
          <a:xfrm>
            <a:off x="6263640" y="1371600"/>
            <a:ext cx="548604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ectangle 10"/>
          <p:cNvSpPr/>
          <p:nvPr/>
        </p:nvSpPr>
        <p:spPr>
          <a:xfrm>
            <a:off x="6263640" y="1371600"/>
            <a:ext cx="72720" cy="45716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11"/>
          <p:cNvSpPr/>
          <p:nvPr/>
        </p:nvSpPr>
        <p:spPr>
          <a:xfrm>
            <a:off x="6464880" y="1481400"/>
            <a:ext cx="5166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神：喷烟圈与悲天悯人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6464880" y="1810440"/>
            <a:ext cx="513864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麻将桌上，客人们互相厮杀时：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「叼着金嘴子的三个九，徐徐地喷着烟圈，以悲天悯人的眼光看着她这一群……狂热的互相厮杀」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效果：冷静、清醒、局外人姿态；同时「这一群」是她的，她悲悯他们也悲悯自己——美人迟暮的潜台词由此写出。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1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12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人物塑造手法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白描：洗练勾勒，以少胜多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502920" y="132588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概念：抓住最突出的特征，用简洁文字勾勒，三言两语神情毕现。不靠堆砌形容词，而靠「选哪几笔」。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6"/>
          <p:cNvSpPr/>
          <p:nvPr/>
        </p:nvSpPr>
        <p:spPr>
          <a:xfrm>
            <a:off x="457200" y="1828800"/>
            <a:ext cx="5577480" cy="4114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457200" y="1828800"/>
            <a:ext cx="72720" cy="41144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658440" y="193860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例：吴经理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9"/>
          <p:cNvSpPr/>
          <p:nvPr/>
        </p:nvSpPr>
        <p:spPr>
          <a:xfrm>
            <a:off x="658440" y="2267640"/>
            <a:ext cx="5230080" cy="16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头发全白 </a:t>
            </a:r>
            <a:r>
              <a:rPr b="1" lang="en-US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风湿蹒跚 </a:t>
            </a:r>
            <a:r>
              <a:rPr b="1" lang="en-US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沙眼倒睫 </a:t>
            </a:r>
            <a:r>
              <a:rPr b="1" lang="en-US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眼圈溃烂露粉红肉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几笔下去：暮路英雄、晚景凄凉。读者自然对照他「银行总经理」的过去，人世沧桑不必作者直说。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功能：用「老」衬托尹雪艳的「不老」；为后文「老当益壮」的反讽预埋事实压力。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10"/>
          <p:cNvSpPr/>
          <p:nvPr/>
        </p:nvSpPr>
        <p:spPr>
          <a:xfrm>
            <a:off x="6263640" y="1828800"/>
            <a:ext cx="5486040" cy="4114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11"/>
          <p:cNvSpPr/>
          <p:nvPr/>
        </p:nvSpPr>
        <p:spPr>
          <a:xfrm>
            <a:off x="6263640" y="1828800"/>
            <a:ext cx="72720" cy="41144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6464880" y="1938600"/>
            <a:ext cx="5166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例：尹雪艳开篇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6464880" y="2267640"/>
            <a:ext cx="5138640" cy="15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「尹雪艳总也不老。」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雪白肌肤、细挑身材、俏丽恬静眉眼；「像一株晚开的玉梨花」。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精练描写突出美丽，也暗示冷酷（玉、晚开、压倒群芳）。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白描在这里同时完成「美」的建立与「非人」的预感。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4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5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13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人物塑造手法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通过人物语言写性格：多声部，而非定音定调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ounded Rectangle 5"/>
          <p:cNvSpPr/>
          <p:nvPr/>
        </p:nvSpPr>
        <p:spPr>
          <a:xfrm>
            <a:off x="411480" y="1325880"/>
            <a:ext cx="11338200" cy="4754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777240" y="1417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对象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7"/>
          <p:cNvSpPr/>
          <p:nvPr/>
        </p:nvSpPr>
        <p:spPr>
          <a:xfrm>
            <a:off x="2423160" y="1417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原话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做法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8"/>
          <p:cNvSpPr/>
          <p:nvPr/>
        </p:nvSpPr>
        <p:spPr>
          <a:xfrm>
            <a:off x="6629400" y="1417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性格与功能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9"/>
          <p:cNvSpPr/>
          <p:nvPr/>
        </p:nvSpPr>
        <p:spPr>
          <a:xfrm>
            <a:off x="594360" y="1783080"/>
            <a:ext cx="10972440" cy="13320"/>
          </a:xfrm>
          <a:prstGeom prst="rect">
            <a:avLst/>
          </a:prstGeom>
          <a:solidFill>
            <a:srgbClr val="d9cfc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10"/>
          <p:cNvSpPr/>
          <p:nvPr/>
        </p:nvSpPr>
        <p:spPr>
          <a:xfrm>
            <a:off x="594360" y="192024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对吴经理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11"/>
          <p:cNvSpPr/>
          <p:nvPr/>
        </p:nvSpPr>
        <p:spPr>
          <a:xfrm>
            <a:off x="2240280" y="1920240"/>
            <a:ext cx="402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「干爹才是老当益壮呢！」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12"/>
          <p:cNvSpPr/>
          <p:nvPr/>
        </p:nvSpPr>
        <p:spPr>
          <a:xfrm>
            <a:off x="6446520" y="192024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安慰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+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经营：他能引来商界人头。话语反讽：与风烛残年的外形完全相反。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13"/>
          <p:cNvSpPr/>
          <p:nvPr/>
        </p:nvSpPr>
        <p:spPr>
          <a:xfrm>
            <a:off x="594360" y="269748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对旧客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14"/>
          <p:cNvSpPr/>
          <p:nvPr/>
        </p:nvSpPr>
        <p:spPr>
          <a:xfrm>
            <a:off x="2240280" y="2697480"/>
            <a:ext cx="402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用十几年前作废的头衔称呼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15"/>
          <p:cNvSpPr/>
          <p:nvPr/>
        </p:nvSpPr>
        <p:spPr>
          <a:xfrm>
            <a:off x="6446520" y="269748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心理按摩：优越感「如同受过诰封」。她贩卖的是身份幻觉。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6"/>
          <p:cNvSpPr/>
          <p:nvPr/>
        </p:nvSpPr>
        <p:spPr>
          <a:xfrm>
            <a:off x="594360" y="347472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对太太们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7"/>
          <p:cNvSpPr/>
          <p:nvPr/>
        </p:nvSpPr>
        <p:spPr>
          <a:xfrm>
            <a:off x="2240280" y="3474720"/>
            <a:ext cx="402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「人无千日好，花无百日红」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8"/>
          <p:cNvSpPr/>
          <p:nvPr/>
        </p:nvSpPr>
        <p:spPr>
          <a:xfrm>
            <a:off x="6446520" y="347472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安抚焦躁，也把她们留在公馆里「烘云托月」。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9"/>
          <p:cNvSpPr/>
          <p:nvPr/>
        </p:nvSpPr>
        <p:spPr>
          <a:xfrm>
            <a:off x="594360" y="425196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对徐壮图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20"/>
          <p:cNvSpPr/>
          <p:nvPr/>
        </p:nvSpPr>
        <p:spPr>
          <a:xfrm>
            <a:off x="2240280" y="4251960"/>
            <a:ext cx="402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「稀客……自然要跟别人不同一点」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21"/>
          <p:cNvSpPr/>
          <p:nvPr/>
        </p:nvSpPr>
        <p:spPr>
          <a:xfrm>
            <a:off x="6446520" y="425196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高雅熨帖，交际手腕；特别款待即诱惑的开始。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22"/>
          <p:cNvSpPr/>
          <p:nvPr/>
        </p:nvSpPr>
        <p:spPr>
          <a:xfrm>
            <a:off x="594360" y="502920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收束句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23"/>
          <p:cNvSpPr/>
          <p:nvPr/>
        </p:nvSpPr>
        <p:spPr>
          <a:xfrm>
            <a:off x="2240280" y="5029200"/>
            <a:ext cx="4023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「回头赢了……我来吃你的红。」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24"/>
          <p:cNvSpPr/>
          <p:nvPr/>
        </p:nvSpPr>
        <p:spPr>
          <a:xfrm>
            <a:off x="6446520" y="5029200"/>
            <a:ext cx="502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双关：吃彩头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死神吞没。寄生本质与死亡主题叠合。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25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26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14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03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人物塑造手法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特征性细节：一小处动作，托出心理与个性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ounded Rectangle 5"/>
          <p:cNvSpPr/>
          <p:nvPr/>
        </p:nvSpPr>
        <p:spPr>
          <a:xfrm>
            <a:off x="457200" y="1353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6"/>
          <p:cNvSpPr/>
          <p:nvPr/>
        </p:nvSpPr>
        <p:spPr>
          <a:xfrm>
            <a:off x="457200" y="135324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777240" y="146304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血红郁金香「颤巍巍地抖动」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777240" y="1810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初识徐壮图。细节把内心的热写到头饰上——白衣上的红，欲望破例外露。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ounded Rectangle 9"/>
          <p:cNvSpPr/>
          <p:nvPr/>
        </p:nvSpPr>
        <p:spPr>
          <a:xfrm>
            <a:off x="457200" y="2496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ectangle 10"/>
          <p:cNvSpPr/>
          <p:nvPr/>
        </p:nvSpPr>
        <p:spPr>
          <a:xfrm>
            <a:off x="457200" y="249624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777240" y="260604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银耳坠「来回地浪荡」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12"/>
          <p:cNvSpPr/>
          <p:nvPr/>
        </p:nvSpPr>
        <p:spPr>
          <a:xfrm>
            <a:off x="777240" y="2953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从徐壮图眼中写出。诱惑被对象化，读者与徐壮图同时「着道」。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ounded Rectangle 13"/>
          <p:cNvSpPr/>
          <p:nvPr/>
        </p:nvSpPr>
        <p:spPr>
          <a:xfrm>
            <a:off x="457200" y="3639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ectangle 14"/>
          <p:cNvSpPr/>
          <p:nvPr/>
        </p:nvSpPr>
        <p:spPr>
          <a:xfrm>
            <a:off x="457200" y="3639240"/>
            <a:ext cx="91080" cy="102384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777240" y="374904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葬礼：抚摩孩子的头，与徐太太握手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6"/>
          <p:cNvSpPr/>
          <p:nvPr/>
        </p:nvSpPr>
        <p:spPr>
          <a:xfrm>
            <a:off x="777240" y="4096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庄重得体的社交表演；「良心」的仪节，而非哀伤。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17"/>
          <p:cNvSpPr/>
          <p:nvPr/>
        </p:nvSpPr>
        <p:spPr>
          <a:xfrm>
            <a:off x="457200" y="4782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Rectangle 18"/>
          <p:cNvSpPr/>
          <p:nvPr/>
        </p:nvSpPr>
        <p:spPr>
          <a:xfrm>
            <a:off x="457200" y="4782240"/>
            <a:ext cx="91080" cy="10238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TextBox 19"/>
          <p:cNvSpPr/>
          <p:nvPr/>
        </p:nvSpPr>
        <p:spPr>
          <a:xfrm>
            <a:off x="777240" y="489204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当晚又成上牌局，有人是祭悼会后约好的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20"/>
          <p:cNvSpPr/>
          <p:nvPr/>
        </p:nvSpPr>
        <p:spPr>
          <a:xfrm>
            <a:off x="777240" y="52394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虚伪、狠冷、循环开始。新的「徐壮图」已经在路上。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2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2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15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三条叙事线索：结构、视角、可靠性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ounded Rectangle 5"/>
          <p:cNvSpPr/>
          <p:nvPr/>
        </p:nvSpPr>
        <p:spPr>
          <a:xfrm>
            <a:off x="457200" y="1371600"/>
            <a:ext cx="11246760" cy="1371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6"/>
          <p:cNvSpPr/>
          <p:nvPr/>
        </p:nvSpPr>
        <p:spPr>
          <a:xfrm>
            <a:off x="731520" y="15361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插叙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7"/>
          <p:cNvSpPr/>
          <p:nvPr/>
        </p:nvSpPr>
        <p:spPr>
          <a:xfrm>
            <a:off x="3017520" y="1572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结构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8"/>
          <p:cNvSpPr/>
          <p:nvPr/>
        </p:nvSpPr>
        <p:spPr>
          <a:xfrm>
            <a:off x="731520" y="196596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总体按时间顺序：来台北 → 结识徐壮图 → 丧生 → 公馆依旧繁荣。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视点立足「现在」，不断插入上海往事，上海与台北、过去与现在交织。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ounded Rectangle 9"/>
          <p:cNvSpPr/>
          <p:nvPr/>
        </p:nvSpPr>
        <p:spPr>
          <a:xfrm>
            <a:off x="457200" y="2880360"/>
            <a:ext cx="11246760" cy="1371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10"/>
          <p:cNvSpPr/>
          <p:nvPr/>
        </p:nvSpPr>
        <p:spPr>
          <a:xfrm>
            <a:off x="731520" y="30448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全知叙事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11"/>
          <p:cNvSpPr/>
          <p:nvPr/>
        </p:nvSpPr>
        <p:spPr>
          <a:xfrm>
            <a:off x="3017520" y="30816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视角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12"/>
          <p:cNvSpPr/>
          <p:nvPr/>
        </p:nvSpPr>
        <p:spPr>
          <a:xfrm>
            <a:off x="731520" y="34747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冷眼旁观，不探入任一角色意识，只写外貌言行与情节。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刻意不同于白先勇惯用的内心透视，以制造尹雪艳的「冰冷神秘」。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ounded Rectangle 13"/>
          <p:cNvSpPr/>
          <p:nvPr/>
        </p:nvSpPr>
        <p:spPr>
          <a:xfrm>
            <a:off x="457200" y="4389120"/>
            <a:ext cx="11246760" cy="1371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14"/>
          <p:cNvSpPr/>
          <p:nvPr/>
        </p:nvSpPr>
        <p:spPr>
          <a:xfrm>
            <a:off x="731520" y="45536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不可靠叙述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15"/>
          <p:cNvSpPr/>
          <p:nvPr/>
        </p:nvSpPr>
        <p:spPr>
          <a:xfrm>
            <a:off x="3017520" y="45903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叙述者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16"/>
          <p:cNvSpPr/>
          <p:nvPr/>
        </p:nvSpPr>
        <p:spPr>
          <a:xfrm>
            <a:off x="731520" y="498348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叙述者口吻倾慕、赞美；隐含作者冷静批判。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表层「永远迷人」与深层「不祥、自欺」构成韦恩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·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布斯所谓的不可信叙述。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17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18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16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插叙：现在与过去、台北和上海的交织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ounded Rectangle 5"/>
          <p:cNvSpPr/>
          <p:nvPr/>
        </p:nvSpPr>
        <p:spPr>
          <a:xfrm>
            <a:off x="457200" y="1371600"/>
            <a:ext cx="5577480" cy="4525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6"/>
          <p:cNvSpPr/>
          <p:nvPr/>
        </p:nvSpPr>
        <p:spPr>
          <a:xfrm>
            <a:off x="685800" y="15544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主线（现在 </a:t>
            </a:r>
            <a:r>
              <a:rPr b="1" lang="en-US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台北）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7"/>
          <p:cNvSpPr/>
          <p:nvPr/>
        </p:nvSpPr>
        <p:spPr>
          <a:xfrm>
            <a:off x="685800" y="2057400"/>
            <a:ext cx="5120280" cy="12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1.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尹雪艳到台北后仍像当年那样迷人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2.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结识新兴实业巨子徐壮图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3.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徐壮图因迷她而丧生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4.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死后尹公馆仍像以前一样繁荣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ounded Rectangle 8"/>
          <p:cNvSpPr/>
          <p:nvPr/>
        </p:nvSpPr>
        <p:spPr>
          <a:xfrm>
            <a:off x="6263640" y="1371600"/>
            <a:ext cx="5486040" cy="4525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9"/>
          <p:cNvSpPr/>
          <p:nvPr/>
        </p:nvSpPr>
        <p:spPr>
          <a:xfrm>
            <a:off x="649224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插入层（过去 </a:t>
            </a: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</a:t>
            </a:r>
            <a:r>
              <a:rPr b="1" lang="zh-CN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上海）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10"/>
          <p:cNvSpPr/>
          <p:nvPr/>
        </p:nvSpPr>
        <p:spPr>
          <a:xfrm>
            <a:off x="6492240" y="2057400"/>
            <a:ext cx="5028840" cy="12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1.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百乐门舞皇后、玉梨花压倒群芳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2.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王贵生官商勾结下狱枪毙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3.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洪处长休妻弃子，后丢官破产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4.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尹公馆对霞飞路排场的刻意维持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1"/>
          <p:cNvSpPr/>
          <p:nvPr/>
        </p:nvSpPr>
        <p:spPr>
          <a:xfrm>
            <a:off x="6492240" y="466344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效果：社会历史变迁进入命运；「永远」被证明是复制与循环，不是真的静止。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12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13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17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全知叙事与冷静嘲讽（语调 </a:t>
            </a: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tone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5"/>
          <p:cNvSpPr/>
          <p:nvPr/>
        </p:nvSpPr>
        <p:spPr>
          <a:xfrm>
            <a:off x="502920" y="1298520"/>
            <a:ext cx="1115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欧阳子：《永远的尹雪艳》是《台北人》中嘲讽意味最浓的一篇。作者完全隔离，冷眼旁观；嘲讽前后一贯，藉由叙述者口吻传达。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ounded Rectangle 6"/>
          <p:cNvSpPr/>
          <p:nvPr/>
        </p:nvSpPr>
        <p:spPr>
          <a:xfrm>
            <a:off x="457200" y="2011680"/>
            <a:ext cx="5623200" cy="1828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TextBox 7"/>
          <p:cNvSpPr/>
          <p:nvPr/>
        </p:nvSpPr>
        <p:spPr>
          <a:xfrm>
            <a:off x="685800" y="21945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有所保留的全知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8"/>
          <p:cNvSpPr/>
          <p:nvPr/>
        </p:nvSpPr>
        <p:spPr>
          <a:xfrm>
            <a:off x="685800" y="2651760"/>
            <a:ext cx="5211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不进入任何人的内心。尹雪艳因此无法被「理解」为普通人，神秘感成立，象征性才站得住。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ounded Rectangle 9"/>
          <p:cNvSpPr/>
          <p:nvPr/>
        </p:nvSpPr>
        <p:spPr>
          <a:xfrm>
            <a:off x="6309360" y="2011680"/>
            <a:ext cx="5623200" cy="1828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10"/>
          <p:cNvSpPr/>
          <p:nvPr/>
        </p:nvSpPr>
        <p:spPr>
          <a:xfrm>
            <a:off x="6537960" y="21945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表层话语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11"/>
          <p:cNvSpPr/>
          <p:nvPr/>
        </p:nvSpPr>
        <p:spPr>
          <a:xfrm>
            <a:off x="6537960" y="2651760"/>
            <a:ext cx="5211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叙述者只写她美丽、称职、永远浅笑。表层含义必须先成立，隐含作者的批判才能与之对立。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ounded Rectangle 12"/>
          <p:cNvSpPr/>
          <p:nvPr/>
        </p:nvSpPr>
        <p:spPr>
          <a:xfrm>
            <a:off x="457200" y="3977640"/>
            <a:ext cx="5623200" cy="1828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TextBox 13"/>
          <p:cNvSpPr/>
          <p:nvPr/>
        </p:nvSpPr>
        <p:spPr>
          <a:xfrm>
            <a:off x="685800" y="416052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语调即反讽通道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14"/>
          <p:cNvSpPr/>
          <p:nvPr/>
        </p:nvSpPr>
        <p:spPr>
          <a:xfrm>
            <a:off x="685800" y="4617720"/>
            <a:ext cx="5211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客观冷静 ≠ 没有态度。越是不动声色地记录「宾至如归」「心甘情愿」，谴责与同情越沉郁。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ounded Rectangle 15"/>
          <p:cNvSpPr/>
          <p:nvPr/>
        </p:nvSpPr>
        <p:spPr>
          <a:xfrm>
            <a:off x="6309360" y="3977640"/>
            <a:ext cx="5623200" cy="18284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16"/>
          <p:cNvSpPr/>
          <p:nvPr/>
        </p:nvSpPr>
        <p:spPr>
          <a:xfrm>
            <a:off x="6537960" y="416052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与白先勇习惯对照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17"/>
          <p:cNvSpPr/>
          <p:nvPr/>
        </p:nvSpPr>
        <p:spPr>
          <a:xfrm>
            <a:off x="6537960" y="4617720"/>
            <a:ext cx="5211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他通常展开内心以博取认同与悲悯；本篇反其道，正是为「冰冷」与「嘲讽」服务。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18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19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18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不可靠叙述：叙述者 ≠ 隐含作者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Rounded Rectangle 5"/>
          <p:cNvSpPr/>
          <p:nvPr/>
        </p:nvSpPr>
        <p:spPr>
          <a:xfrm>
            <a:off x="457200" y="1325880"/>
            <a:ext cx="11246760" cy="105120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685800" y="141732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韦恩</a:t>
            </a:r>
            <a:r>
              <a:rPr b="0" lang="en-US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·</a:t>
            </a:r>
            <a:r>
              <a:rPr b="0" lang="zh-CN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布斯《小说修辞学》：叙述者若为作品的思想规范（隐含作者的规范）辩护或接近它，便是可靠的；反之不可靠。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本篇叙述者站在「着了道的人」一边赞美她；隐含作者则冷静、批判。裂隙即反讽。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7"/>
          <p:cNvSpPr/>
          <p:nvPr/>
        </p:nvSpPr>
        <p:spPr>
          <a:xfrm>
            <a:off x="457200" y="2560320"/>
            <a:ext cx="557748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Rectangle 8"/>
          <p:cNvSpPr/>
          <p:nvPr/>
        </p:nvSpPr>
        <p:spPr>
          <a:xfrm>
            <a:off x="457200" y="2560320"/>
            <a:ext cx="72720" cy="33829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658440" y="267012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叙述者看见的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658440" y="2999160"/>
            <a:ext cx="523008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「不管人事怎么变迁，尹雪艳永远是尹雪艳」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「迷人的地方实在讲不清，数不尽」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「最称职的主人」「还算有良心」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这是被蛊惑者的感受。读者若停在这一层，会误读为赞美佳人。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ounded Rectangle 11"/>
          <p:cNvSpPr/>
          <p:nvPr/>
        </p:nvSpPr>
        <p:spPr>
          <a:xfrm>
            <a:off x="6263640" y="2560320"/>
            <a:ext cx="5486040" cy="3382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Rectangle 12"/>
          <p:cNvSpPr/>
          <p:nvPr/>
        </p:nvSpPr>
        <p:spPr>
          <a:xfrm>
            <a:off x="6263640" y="2560320"/>
            <a:ext cx="72720" cy="338292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6464880" y="2670120"/>
            <a:ext cx="5166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隐含作者埋下的「漏洞」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6464880" y="2999160"/>
            <a:ext cx="513864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王贵生枪毙那天，她只在百乐门「停了一宵」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离洪处长「还算有良心」——带走家当与仆人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徐壮图葬礼当晚即开牌局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1" lang="zh-CN" sz="13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敏感读者从自相矛盾中读出言外之意：薄情、虚伪、循环。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15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16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19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5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04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叙事手法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不可靠叙述的两个目的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Rounded Rectangle 5"/>
          <p:cNvSpPr/>
          <p:nvPr/>
        </p:nvSpPr>
        <p:spPr>
          <a:xfrm>
            <a:off x="457200" y="1371600"/>
            <a:ext cx="557748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6"/>
          <p:cNvSpPr/>
          <p:nvPr/>
        </p:nvSpPr>
        <p:spPr>
          <a:xfrm>
            <a:off x="685800" y="155448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一、让读者先「着道」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7"/>
          <p:cNvSpPr/>
          <p:nvPr/>
        </p:nvSpPr>
        <p:spPr>
          <a:xfrm>
            <a:off x="685800" y="2103120"/>
            <a:ext cx="512028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尹雪艳的魅力依赖视听嗅觉，文字难以直接传递，故叙述者用夸张比喻：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「冰雪化成的精灵，冷艳逼人」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「像一阵三月的微风……全场的人都好像给这阵风熏中了」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读者须先感到难以抗拒，才能理解悲剧：人难以抗拒她，正如难以抗拒欲望与死亡。这是人类本能弱点造成的永恒悲剧。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ounded Rectangle 8"/>
          <p:cNvSpPr/>
          <p:nvPr/>
        </p:nvSpPr>
        <p:spPr>
          <a:xfrm>
            <a:off x="6263640" y="1371600"/>
            <a:ext cx="548604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9"/>
          <p:cNvSpPr/>
          <p:nvPr/>
        </p:nvSpPr>
        <p:spPr>
          <a:xfrm>
            <a:off x="6492240" y="15544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二、使象征性浮现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10"/>
          <p:cNvSpPr/>
          <p:nvPr/>
        </p:nvSpPr>
        <p:spPr>
          <a:xfrm>
            <a:off x="6492240" y="2103120"/>
            <a:ext cx="50288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反讽造成形象的不确定性：「永远不老」「血光一片」都不像真人。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她象征心魔——永远无法满足却不由自主受其吸引的欲望；过度欲望加速毁灭。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尹雪艳像镜子，反照出人们不肯正视台北荒凉与身份跌落、自欺欺人的真面目。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1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1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20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05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空白手法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伊瑟尔：文本是充满「未定点」与「空白」的结构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ounded Rectangle 5"/>
          <p:cNvSpPr/>
          <p:nvPr/>
        </p:nvSpPr>
        <p:spPr>
          <a:xfrm>
            <a:off x="457200" y="1353240"/>
            <a:ext cx="11246760" cy="123408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TextBox 6"/>
          <p:cNvSpPr/>
          <p:nvPr/>
        </p:nvSpPr>
        <p:spPr>
          <a:xfrm>
            <a:off x="685800" y="1508760"/>
            <a:ext cx="10789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5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沃尔夫冈</a:t>
            </a:r>
            <a:r>
              <a:rPr b="0" lang="en-US" sz="15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·</a:t>
            </a:r>
            <a:r>
              <a:rPr b="0" lang="zh-CN" sz="15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伊瑟尔（接受美学）：作品意义不在文本里封存完毕，而在阅读中对空白的填补。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5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本篇的空白是综合性手法——可以是人物空白、环境空白，也可以是情节空白。它服务于象征，而不是故弄玄虚。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ounded Rectangle 7"/>
          <p:cNvSpPr/>
          <p:nvPr/>
        </p:nvSpPr>
        <p:spPr>
          <a:xfrm>
            <a:off x="457200" y="2834640"/>
            <a:ext cx="3657240" cy="3062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8"/>
          <p:cNvSpPr/>
          <p:nvPr/>
        </p:nvSpPr>
        <p:spPr>
          <a:xfrm>
            <a:off x="658440" y="30175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人物空白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9"/>
          <p:cNvSpPr/>
          <p:nvPr/>
        </p:nvSpPr>
        <p:spPr>
          <a:xfrm>
            <a:off x="658440" y="3520440"/>
            <a:ext cx="324576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正面细描极少，年龄长相难以坐实。侧击、传说、留白如水墨，想象空间被故意撑开。开篇把她推向「非人化」。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ounded Rectangle 10"/>
          <p:cNvSpPr/>
          <p:nvPr/>
        </p:nvSpPr>
        <p:spPr>
          <a:xfrm>
            <a:off x="4297680" y="2834640"/>
            <a:ext cx="3657240" cy="3062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TextBox 11"/>
          <p:cNvSpPr/>
          <p:nvPr/>
        </p:nvSpPr>
        <p:spPr>
          <a:xfrm>
            <a:off x="4498920" y="30175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环境空白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12"/>
          <p:cNvSpPr/>
          <p:nvPr/>
        </p:nvSpPr>
        <p:spPr>
          <a:xfrm>
            <a:off x="4498920" y="3520440"/>
            <a:ext cx="324576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公馆写得很满（红木、黑枕、晚香玉），尹雪艳本人却是素白「留白」。满与空对照，追问她究竟是谁。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ounded Rectangle 13"/>
          <p:cNvSpPr/>
          <p:nvPr/>
        </p:nvSpPr>
        <p:spPr>
          <a:xfrm>
            <a:off x="8138160" y="2834640"/>
            <a:ext cx="3657240" cy="3062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14"/>
          <p:cNvSpPr/>
          <p:nvPr/>
        </p:nvSpPr>
        <p:spPr>
          <a:xfrm>
            <a:off x="8339400" y="30175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情节 </a:t>
            </a:r>
            <a:r>
              <a:rPr b="1" lang="en-US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心理空白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15"/>
          <p:cNvSpPr/>
          <p:nvPr/>
        </p:nvSpPr>
        <p:spPr>
          <a:xfrm>
            <a:off x="8339400" y="3520440"/>
            <a:ext cx="324576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三名男人结局写了，她的态度只用「算是」「还算」「当晚」。全文几乎没有她的心理——女主人公「失声」。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16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17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21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05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空白手法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空白如何生成意义：从欲望中介到命运思考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ounded Rectangle 5"/>
          <p:cNvSpPr/>
          <p:nvPr/>
        </p:nvSpPr>
        <p:spPr>
          <a:xfrm>
            <a:off x="457200" y="1353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6"/>
          <p:cNvSpPr/>
          <p:nvPr/>
        </p:nvSpPr>
        <p:spPr>
          <a:xfrm>
            <a:off x="685800" y="14630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7"/>
          <p:cNvSpPr/>
          <p:nvPr/>
        </p:nvSpPr>
        <p:spPr>
          <a:xfrm>
            <a:off x="1371600" y="149040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不写内心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8"/>
          <p:cNvSpPr/>
          <p:nvPr/>
        </p:nvSpPr>
        <p:spPr>
          <a:xfrm>
            <a:off x="3566160" y="151776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她不像真人，而像欲望之神、命运之神。非人</a:t>
            </a:r>
            <a:r>
              <a:rPr b="0" lang="en-US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神性的一面被空白托出。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ounded Rectangle 9"/>
          <p:cNvSpPr/>
          <p:nvPr/>
        </p:nvSpPr>
        <p:spPr>
          <a:xfrm>
            <a:off x="457200" y="2496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10"/>
          <p:cNvSpPr/>
          <p:nvPr/>
        </p:nvSpPr>
        <p:spPr>
          <a:xfrm>
            <a:off x="685800" y="26060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11"/>
          <p:cNvSpPr/>
          <p:nvPr/>
        </p:nvSpPr>
        <p:spPr>
          <a:xfrm>
            <a:off x="1371600" y="263340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三男之死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2"/>
          <p:cNvSpPr/>
          <p:nvPr/>
        </p:nvSpPr>
        <p:spPr>
          <a:xfrm>
            <a:off x="3566160" y="266076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她只是导火索。表面煞气，实则每人被自己的欲望吞没。吴家阿婆的妲己之喻，暴露的是徐壮图内心的外化。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3"/>
          <p:cNvSpPr/>
          <p:nvPr/>
        </p:nvSpPr>
        <p:spPr>
          <a:xfrm>
            <a:off x="457200" y="3639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14"/>
          <p:cNvSpPr/>
          <p:nvPr/>
        </p:nvSpPr>
        <p:spPr>
          <a:xfrm>
            <a:off x="685800" y="37490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5"/>
          <p:cNvSpPr/>
          <p:nvPr/>
        </p:nvSpPr>
        <p:spPr>
          <a:xfrm>
            <a:off x="1371600" y="377640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公馆乌托邦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16"/>
          <p:cNvSpPr/>
          <p:nvPr/>
        </p:nvSpPr>
        <p:spPr>
          <a:xfrm>
            <a:off x="3566160" y="380376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纸醉金迷麻痹「离家的孩子」。她以近乎上帝的视角旁观厮杀，繁华被推向虚无。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17"/>
          <p:cNvSpPr/>
          <p:nvPr/>
        </p:nvSpPr>
        <p:spPr>
          <a:xfrm>
            <a:off x="457200" y="4782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TextBox 18"/>
          <p:cNvSpPr/>
          <p:nvPr/>
        </p:nvSpPr>
        <p:spPr>
          <a:xfrm>
            <a:off x="685800" y="4892040"/>
            <a:ext cx="502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19"/>
          <p:cNvSpPr/>
          <p:nvPr/>
        </p:nvSpPr>
        <p:spPr>
          <a:xfrm>
            <a:off x="1371600" y="4919400"/>
            <a:ext cx="2102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麻将神谕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20"/>
          <p:cNvSpPr/>
          <p:nvPr/>
        </p:nvSpPr>
        <p:spPr>
          <a:xfrm>
            <a:off x="3566160" y="494676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「一个人的命运往往不受控制」——牌局说的是人生。欲望由人而生，人摆脱不了欲望，这本身即是命运。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2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2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22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06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环境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象征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先分清三个概念，再看本篇如何叠用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ounded Rectangle 5"/>
          <p:cNvSpPr/>
          <p:nvPr/>
        </p:nvSpPr>
        <p:spPr>
          <a:xfrm>
            <a:off x="457200" y="1353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6"/>
          <p:cNvSpPr/>
          <p:nvPr/>
        </p:nvSpPr>
        <p:spPr>
          <a:xfrm>
            <a:off x="685800" y="16459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7"/>
          <p:cNvSpPr/>
          <p:nvPr/>
        </p:nvSpPr>
        <p:spPr>
          <a:xfrm>
            <a:off x="2286000" y="14904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可感知的物象，承载情思。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8"/>
          <p:cNvSpPr/>
          <p:nvPr/>
        </p:nvSpPr>
        <p:spPr>
          <a:xfrm>
            <a:off x="6035040" y="1490400"/>
            <a:ext cx="5394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晚香玉、麻将、银白旗袍、郁金香、杏仁豆腐上的樱桃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ounded Rectangle 9"/>
          <p:cNvSpPr/>
          <p:nvPr/>
        </p:nvSpPr>
        <p:spPr>
          <a:xfrm>
            <a:off x="457200" y="2496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TextBox 10"/>
          <p:cNvSpPr/>
          <p:nvPr/>
        </p:nvSpPr>
        <p:spPr>
          <a:xfrm>
            <a:off x="685800" y="27889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隐喻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11"/>
          <p:cNvSpPr/>
          <p:nvPr/>
        </p:nvSpPr>
        <p:spPr>
          <a:xfrm>
            <a:off x="2286000" y="26334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以此喻彼，使无生命者有感觉情欲（维柯）。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12"/>
          <p:cNvSpPr/>
          <p:nvPr/>
        </p:nvSpPr>
        <p:spPr>
          <a:xfrm>
            <a:off x="6035040" y="2633400"/>
            <a:ext cx="5394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麻将桌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人生；女祭司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送人上祭坛；晚香玉花语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危险的快乐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Rounded Rectangle 13"/>
          <p:cNvSpPr/>
          <p:nvPr/>
        </p:nvSpPr>
        <p:spPr>
          <a:xfrm>
            <a:off x="457200" y="3639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14"/>
          <p:cNvSpPr/>
          <p:nvPr/>
        </p:nvSpPr>
        <p:spPr>
          <a:xfrm>
            <a:off x="685800" y="39319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象征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15"/>
          <p:cNvSpPr/>
          <p:nvPr/>
        </p:nvSpPr>
        <p:spPr>
          <a:xfrm>
            <a:off x="2286000" y="37764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具体形象指向超越自身的抽象意义，可多层。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16"/>
          <p:cNvSpPr/>
          <p:nvPr/>
        </p:nvSpPr>
        <p:spPr>
          <a:xfrm>
            <a:off x="6035040" y="3776400"/>
            <a:ext cx="5394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尹雪艳 → 欲望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命运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时间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旧上海；白色 → 死亡；红色 → 血光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Rounded Rectangle 17"/>
          <p:cNvSpPr/>
          <p:nvPr/>
        </p:nvSpPr>
        <p:spPr>
          <a:xfrm>
            <a:off x="457200" y="4782240"/>
            <a:ext cx="11246760" cy="10238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18"/>
          <p:cNvSpPr/>
          <p:nvPr/>
        </p:nvSpPr>
        <p:spPr>
          <a:xfrm>
            <a:off x="685800" y="507492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环境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19"/>
          <p:cNvSpPr/>
          <p:nvPr/>
        </p:nvSpPr>
        <p:spPr>
          <a:xfrm>
            <a:off x="2286000" y="49194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人物活动的空间，反作用于人。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20"/>
          <p:cNvSpPr/>
          <p:nvPr/>
        </p:nvSpPr>
        <p:spPr>
          <a:xfrm>
            <a:off x="6035040" y="4919400"/>
            <a:ext cx="5394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尹公馆：暖炉冷气、霞飞路排场——海市蜃楼，创造并囚禁这群人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2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2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23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06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环境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象征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色彩隐喻：白色与红色互相对照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Rounded Rectangle 5"/>
          <p:cNvSpPr/>
          <p:nvPr/>
        </p:nvSpPr>
        <p:spPr>
          <a:xfrm>
            <a:off x="457200" y="1371600"/>
            <a:ext cx="557748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TextBox 6"/>
          <p:cNvSpPr/>
          <p:nvPr/>
        </p:nvSpPr>
        <p:spPr>
          <a:xfrm>
            <a:off x="685800" y="15544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白  </a:t>
            </a:r>
            <a:r>
              <a:rPr b="1" lang="en-US" sz="17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·  </a:t>
            </a:r>
            <a:r>
              <a:rPr b="1" lang="zh-CN" sz="1700" spc="-1" strike="noStrike">
                <a:solidFill>
                  <a:srgbClr val="5a6a78"/>
                </a:solidFill>
                <a:latin typeface="Microsoft YaHei"/>
                <a:ea typeface="Microsoft YaHei"/>
              </a:rPr>
              <a:t>宁静、圣洁、死亡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Box 7"/>
          <p:cNvSpPr/>
          <p:nvPr/>
        </p:nvSpPr>
        <p:spPr>
          <a:xfrm>
            <a:off x="685800" y="2057400"/>
            <a:ext cx="512028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名字之「雪」、雪白肌肤、素白旗袍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玉梨花、冰雪精灵、银白女祭司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月白旗袍与绣花鞋、银坠子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雪白喷花露水的冰面巾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殡仪馆「花圈丧幛白簇簇」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葬礼上她仍素白打扮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ounded Rectangle 8"/>
          <p:cNvSpPr/>
          <p:nvPr/>
        </p:nvSpPr>
        <p:spPr>
          <a:xfrm>
            <a:off x="6263640" y="1371600"/>
            <a:ext cx="5486040" cy="45716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" name="TextBox 9"/>
          <p:cNvSpPr/>
          <p:nvPr/>
        </p:nvSpPr>
        <p:spPr>
          <a:xfrm>
            <a:off x="649224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红  </a:t>
            </a:r>
            <a:r>
              <a:rPr b="1" lang="en-US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 </a:t>
            </a: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欲望、血腥、预兆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10"/>
          <p:cNvSpPr/>
          <p:nvPr/>
        </p:nvSpPr>
        <p:spPr>
          <a:xfrm>
            <a:off x="6492240" y="2057400"/>
            <a:ext cx="50288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名字之「艳」；血红郁金香破例上鬓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桃花心红木桌椅（公馆的欲望底色）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杏仁豆腐上「却」放两颗鲜红樱桃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吴经理眼圈溃烂的粉红肉（衰老之红）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「我来吃你的红」（彩头 </a:t>
            </a: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血）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 </a:t>
            </a:r>
            <a:r>
              <a:rPr b="0" lang="zh-CN" sz="15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重煞见血：王、洪、徐的血光之路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11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12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24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0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1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06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环境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 </a:t>
            </a: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·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象征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四个关键意象：晚香玉 </a:t>
            </a: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麻将 </a:t>
            </a: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公馆 </a:t>
            </a: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· 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女祭司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Rounded Rectangle 5"/>
          <p:cNvSpPr/>
          <p:nvPr/>
        </p:nvSpPr>
        <p:spPr>
          <a:xfrm>
            <a:off x="411480" y="1353240"/>
            <a:ext cx="566892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TextBox 6"/>
          <p:cNvSpPr/>
          <p:nvPr/>
        </p:nvSpPr>
        <p:spPr>
          <a:xfrm>
            <a:off x="640080" y="15177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晚香玉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Box 7"/>
          <p:cNvSpPr/>
          <p:nvPr/>
        </p:nvSpPr>
        <p:spPr>
          <a:xfrm>
            <a:off x="640080" y="1947600"/>
            <a:ext cx="5211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室内本不宜放置的浓香，文中出现三次。徐壮图嗅到甜香，离开时花仍吐浓香。花语：危险的快乐。尹雪艳本身如晚香玉——由纯白转为重煞，再化为白色花圈。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Rounded Rectangle 8"/>
          <p:cNvSpPr/>
          <p:nvPr/>
        </p:nvSpPr>
        <p:spPr>
          <a:xfrm>
            <a:off x="6263640" y="1353240"/>
            <a:ext cx="566892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7" name="TextBox 9"/>
          <p:cNvSpPr/>
          <p:nvPr/>
        </p:nvSpPr>
        <p:spPr>
          <a:xfrm>
            <a:off x="6492240" y="15177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麻将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10"/>
          <p:cNvSpPr/>
          <p:nvPr/>
        </p:nvSpPr>
        <p:spPr>
          <a:xfrm>
            <a:off x="6492240" y="1947600"/>
            <a:ext cx="5211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社交娱乐，也是人生缩影。「命运往往不受控制」。追求胜欲、结果未知；牌可再打，人生迷失无回路。她的口才如神谕，补给斗志，却改变不了过眼云烟。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ounded Rectangle 11"/>
          <p:cNvSpPr/>
          <p:nvPr/>
        </p:nvSpPr>
        <p:spPr>
          <a:xfrm>
            <a:off x="411480" y="3684960"/>
            <a:ext cx="566892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12"/>
          <p:cNvSpPr/>
          <p:nvPr/>
        </p:nvSpPr>
        <p:spPr>
          <a:xfrm>
            <a:off x="640080" y="384948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尹公馆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13"/>
          <p:cNvSpPr/>
          <p:nvPr/>
        </p:nvSpPr>
        <p:spPr>
          <a:xfrm>
            <a:off x="640080" y="4279320"/>
            <a:ext cx="5211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冬天暖炉、夏天冷气，维持霞飞路排场。作废头衔被娇声称呼，优越感如诰封。海市蜃楼、精神药剂、游子的乌托邦——也是屠宰场式的牌桌。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ounded Rectangle 14"/>
          <p:cNvSpPr/>
          <p:nvPr/>
        </p:nvSpPr>
        <p:spPr>
          <a:xfrm>
            <a:off x="6263640" y="3684960"/>
            <a:ext cx="566892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TextBox 15"/>
          <p:cNvSpPr/>
          <p:nvPr/>
        </p:nvSpPr>
        <p:spPr>
          <a:xfrm>
            <a:off x="6492240" y="384948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女祭司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16"/>
          <p:cNvSpPr/>
          <p:nvPr/>
        </p:nvSpPr>
        <p:spPr>
          <a:xfrm>
            <a:off x="6492240" y="4279320"/>
            <a:ext cx="5211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巡视牌桌「通身银白」。暗示她将把这群人一个个送上祭坛。宗教意象把社交场面升格为祭祀与死亡仪式。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17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Box 18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25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07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语言特色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客观冷静的外壳，里面是暗示、古典与张力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ounded Rectangle 5"/>
          <p:cNvSpPr/>
          <p:nvPr/>
        </p:nvSpPr>
        <p:spPr>
          <a:xfrm>
            <a:off x="411480" y="1371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2" name="TextBox 6"/>
          <p:cNvSpPr/>
          <p:nvPr/>
        </p:nvSpPr>
        <p:spPr>
          <a:xfrm>
            <a:off x="594360" y="1536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客观与冷静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7"/>
          <p:cNvSpPr/>
          <p:nvPr/>
        </p:nvSpPr>
        <p:spPr>
          <a:xfrm>
            <a:off x="594360" y="1965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像局外人记录。表面无感情，内里炽烈：对客人谴责仍带同情——可憎、可怜、可悲。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8"/>
          <p:cNvSpPr/>
          <p:nvPr/>
        </p:nvSpPr>
        <p:spPr>
          <a:xfrm>
            <a:off x="4297680" y="1371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9"/>
          <p:cNvSpPr/>
          <p:nvPr/>
        </p:nvSpPr>
        <p:spPr>
          <a:xfrm>
            <a:off x="4480560" y="1536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古典词语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10"/>
          <p:cNvSpPr/>
          <p:nvPr/>
        </p:nvSpPr>
        <p:spPr>
          <a:xfrm>
            <a:off x="4480560" y="1965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体面、相干、台子、诰封……古朴清新带沧桑，与家族衰败、旧朝记忆同调。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ounded Rectangle 11"/>
          <p:cNvSpPr/>
          <p:nvPr/>
        </p:nvSpPr>
        <p:spPr>
          <a:xfrm>
            <a:off x="8183880" y="1371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TextBox 12"/>
          <p:cNvSpPr/>
          <p:nvPr/>
        </p:nvSpPr>
        <p:spPr>
          <a:xfrm>
            <a:off x="8366760" y="1536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暗示性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Box 13"/>
          <p:cNvSpPr/>
          <p:nvPr/>
        </p:nvSpPr>
        <p:spPr>
          <a:xfrm>
            <a:off x="8366760" y="1965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煞星应验；女祭司；「尹雪艳」一名：雪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内冷善变，艳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=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外美手段。神秘阴影笼罩全文。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Rounded Rectangle 14"/>
          <p:cNvSpPr/>
          <p:nvPr/>
        </p:nvSpPr>
        <p:spPr>
          <a:xfrm>
            <a:off x="411480" y="3657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TextBox 15"/>
          <p:cNvSpPr/>
          <p:nvPr/>
        </p:nvSpPr>
        <p:spPr>
          <a:xfrm>
            <a:off x="594360" y="3822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比喻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Box 16"/>
          <p:cNvSpPr/>
          <p:nvPr/>
        </p:nvSpPr>
        <p:spPr>
          <a:xfrm>
            <a:off x="594360" y="4251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玉梨花、冰雪精灵、三月微风、万年青。把不可见的魅力写成可感的形象。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Rounded Rectangle 17"/>
          <p:cNvSpPr/>
          <p:nvPr/>
        </p:nvSpPr>
        <p:spPr>
          <a:xfrm>
            <a:off x="4297680" y="3657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4" name="TextBox 18"/>
          <p:cNvSpPr/>
          <p:nvPr/>
        </p:nvSpPr>
        <p:spPr>
          <a:xfrm>
            <a:off x="4480560" y="3822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意象化描写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Box 19"/>
          <p:cNvSpPr/>
          <p:nvPr/>
        </p:nvSpPr>
        <p:spPr>
          <a:xfrm>
            <a:off x="4480560" y="4251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晚香玉、服饰、麻将、挖花，把公馆写成诗意而抽象的画面，推向思辨。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Rounded Rectangle 20"/>
          <p:cNvSpPr/>
          <p:nvPr/>
        </p:nvSpPr>
        <p:spPr>
          <a:xfrm>
            <a:off x="8183880" y="3657600"/>
            <a:ext cx="3702960" cy="21027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7" name="TextBox 21"/>
          <p:cNvSpPr/>
          <p:nvPr/>
        </p:nvSpPr>
        <p:spPr>
          <a:xfrm>
            <a:off x="8366760" y="382212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对话与词汇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22"/>
          <p:cNvSpPr/>
          <p:nvPr/>
        </p:nvSpPr>
        <p:spPr>
          <a:xfrm>
            <a:off x="8366760" y="4251960"/>
            <a:ext cx="3337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对话见性格关系；「熏住」「迎过来」「冒出火」把迷恋写到动作与感官。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2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2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26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2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07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语言特色与反讽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反讽是贯穿全文的结构原则，不只是几句挖苦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5"/>
          <p:cNvSpPr/>
          <p:nvPr/>
        </p:nvSpPr>
        <p:spPr>
          <a:xfrm>
            <a:off x="502920" y="12985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6f655c"/>
                </a:solidFill>
                <a:latin typeface="Microsoft YaHei"/>
                <a:ea typeface="Microsoft YaHei"/>
              </a:rPr>
              <a:t>概念：表面意思与真实意思分裂；读者须克服叙述者，才能到达隐含作者。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ounded Rectangle 6"/>
          <p:cNvSpPr/>
          <p:nvPr/>
        </p:nvSpPr>
        <p:spPr>
          <a:xfrm>
            <a:off x="457200" y="1783080"/>
            <a:ext cx="5623200" cy="1919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TextBox 7"/>
          <p:cNvSpPr/>
          <p:nvPr/>
        </p:nvSpPr>
        <p:spPr>
          <a:xfrm>
            <a:off x="685800" y="19659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话语反讽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Box 8"/>
          <p:cNvSpPr/>
          <p:nvPr/>
        </p:nvSpPr>
        <p:spPr>
          <a:xfrm>
            <a:off x="685800" y="2423160"/>
            <a:ext cx="5211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「老当益壮」感叹号很坚定，上文却是风湿、溃烂的眼。意义被语境扭曲；吴经理听了却「心中熨帖」。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ounded Rectangle 9"/>
          <p:cNvSpPr/>
          <p:nvPr/>
        </p:nvSpPr>
        <p:spPr>
          <a:xfrm>
            <a:off x="6309360" y="1783080"/>
            <a:ext cx="5623200" cy="1919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0" name="TextBox 10"/>
          <p:cNvSpPr/>
          <p:nvPr/>
        </p:nvSpPr>
        <p:spPr>
          <a:xfrm>
            <a:off x="6537960" y="19659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情景反讽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Box 11"/>
          <p:cNvSpPr/>
          <p:nvPr/>
        </p:nvSpPr>
        <p:spPr>
          <a:xfrm>
            <a:off x="6537960" y="2423160"/>
            <a:ext cx="5211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大悲（葬礼）接大喜（四大喜）；她不悲不喜。「吃你的红」点破否极泰来的痴想，对方浑然不知。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Rounded Rectangle 12"/>
          <p:cNvSpPr/>
          <p:nvPr/>
        </p:nvSpPr>
        <p:spPr>
          <a:xfrm>
            <a:off x="457200" y="3840480"/>
            <a:ext cx="5623200" cy="1919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3" name="TextBox 13"/>
          <p:cNvSpPr/>
          <p:nvPr/>
        </p:nvSpPr>
        <p:spPr>
          <a:xfrm>
            <a:off x="685800" y="40233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人物反讽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Box 14"/>
          <p:cNvSpPr/>
          <p:nvPr/>
        </p:nvSpPr>
        <p:spPr>
          <a:xfrm>
            <a:off x="685800" y="4480560"/>
            <a:ext cx="5211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以人的身体存世，却不老不死、高位俯瞰。以虚写实、以静衬动，反讽人世厮杀。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Rounded Rectangle 15"/>
          <p:cNvSpPr/>
          <p:nvPr/>
        </p:nvSpPr>
        <p:spPr>
          <a:xfrm>
            <a:off x="6309360" y="3840480"/>
            <a:ext cx="5623200" cy="1919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6" name="TextBox 16"/>
          <p:cNvSpPr/>
          <p:nvPr/>
        </p:nvSpPr>
        <p:spPr>
          <a:xfrm>
            <a:off x="6537960" y="402336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结构反讽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17"/>
          <p:cNvSpPr/>
          <p:nvPr/>
        </p:nvSpPr>
        <p:spPr>
          <a:xfrm>
            <a:off x="6537960" y="4480560"/>
            <a:ext cx="5211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表面：永恒人物重现京沪繁华。实际：时过境迁，人们仍执迷追逐死亡之力，用享乐逃避无常。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18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Box 19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27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2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07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语言特色与反讽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三组对照把反讽写进结构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Rounded Rectangle 5"/>
          <p:cNvSpPr/>
          <p:nvPr/>
        </p:nvSpPr>
        <p:spPr>
          <a:xfrm>
            <a:off x="411480" y="1371600"/>
            <a:ext cx="3748680" cy="4525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5" name="Rectangle 6"/>
          <p:cNvSpPr/>
          <p:nvPr/>
        </p:nvSpPr>
        <p:spPr>
          <a:xfrm>
            <a:off x="411480" y="1371600"/>
            <a:ext cx="374868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TextBox 7"/>
          <p:cNvSpPr/>
          <p:nvPr/>
        </p:nvSpPr>
        <p:spPr>
          <a:xfrm>
            <a:off x="612720" y="160020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容颜：流逝 </a:t>
            </a:r>
            <a:r>
              <a:rPr b="1" lang="en-US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不逝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Box 8"/>
          <p:cNvSpPr/>
          <p:nvPr/>
        </p:nvSpPr>
        <p:spPr>
          <a:xfrm>
            <a:off x="612720" y="2331720"/>
            <a:ext cx="33829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宋太太痴肥气喘，吴经理白发溃眼；她「像枝万年青，愈来愈年青」。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用没有止境的永生，反讽人的衰老与死亡。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「人生代代无穷已，江月年年望相似。」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ounded Rectangle 9"/>
          <p:cNvSpPr/>
          <p:nvPr/>
        </p:nvSpPr>
        <p:spPr>
          <a:xfrm>
            <a:off x="4297680" y="1371600"/>
            <a:ext cx="3748680" cy="4525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9" name="Rectangle 10"/>
          <p:cNvSpPr/>
          <p:nvPr/>
        </p:nvSpPr>
        <p:spPr>
          <a:xfrm>
            <a:off x="4297680" y="1371600"/>
            <a:ext cx="3748680" cy="7272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0" name="TextBox 11"/>
          <p:cNvSpPr/>
          <p:nvPr/>
        </p:nvSpPr>
        <p:spPr>
          <a:xfrm>
            <a:off x="4498920" y="160020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态度：热烈 </a:t>
            </a:r>
            <a:r>
              <a:rPr b="1" lang="en-US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清冷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Box 12"/>
          <p:cNvSpPr/>
          <p:nvPr/>
        </p:nvSpPr>
        <p:spPr>
          <a:xfrm>
            <a:off x="4498920" y="2331720"/>
            <a:ext cx="33829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王、洪、徐及满座新旧客人着魔追逐；她停一宵、带走家当、鞠躬握手后当晚开局。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他们需要这味精神药剂，重煞也抵不过逃避的兴味。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Rounded Rectangle 13"/>
          <p:cNvSpPr/>
          <p:nvPr/>
        </p:nvSpPr>
        <p:spPr>
          <a:xfrm>
            <a:off x="8183880" y="1371600"/>
            <a:ext cx="3748680" cy="45259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3" name="Rectangle 14"/>
          <p:cNvSpPr/>
          <p:nvPr/>
        </p:nvSpPr>
        <p:spPr>
          <a:xfrm>
            <a:off x="8183880" y="1371600"/>
            <a:ext cx="374868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4" name="TextBox 15"/>
          <p:cNvSpPr/>
          <p:nvPr/>
        </p:nvSpPr>
        <p:spPr>
          <a:xfrm>
            <a:off x="8385120" y="160020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欲望 </a:t>
            </a:r>
            <a:r>
              <a:rPr b="1" lang="en-US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/ </a:t>
            </a:r>
            <a:r>
              <a:rPr b="1" lang="zh-CN" sz="16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死亡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16"/>
          <p:cNvSpPr/>
          <p:nvPr/>
        </p:nvSpPr>
        <p:spPr>
          <a:xfrm>
            <a:off x="8385120" y="2331720"/>
            <a:ext cx="33829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公馆给人身份认同，填不满的欲望让人甘之如饴奔向冷漠。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牌局如人生。她加速纵欲者的死亡。永生与衰老、不悲不喜与为情所困——命运短暂而可笑。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17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18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28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0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08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主旨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六层主旨：由时间命运到欲望虚无（答题选切题的两三重写）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5"/>
          <p:cNvSpPr/>
          <p:nvPr/>
        </p:nvSpPr>
        <p:spPr>
          <a:xfrm>
            <a:off x="411480" y="135324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TextBox 6"/>
          <p:cNvSpPr/>
          <p:nvPr/>
        </p:nvSpPr>
        <p:spPr>
          <a:xfrm>
            <a:off x="612720" y="14904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7"/>
          <p:cNvSpPr/>
          <p:nvPr/>
        </p:nvSpPr>
        <p:spPr>
          <a:xfrm>
            <a:off x="1051560" y="14904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时间与命运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不可抗拒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Box 8"/>
          <p:cNvSpPr/>
          <p:nvPr/>
        </p:nvSpPr>
        <p:spPr>
          <a:xfrm>
            <a:off x="612720" y="23590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不老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vs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衰老死亡。王、洪、徐都无法逃脱摆布。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ounded Rectangle 9"/>
          <p:cNvSpPr/>
          <p:nvPr/>
        </p:nvSpPr>
        <p:spPr>
          <a:xfrm>
            <a:off x="4297680" y="135324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7" name="TextBox 10"/>
          <p:cNvSpPr/>
          <p:nvPr/>
        </p:nvSpPr>
        <p:spPr>
          <a:xfrm>
            <a:off x="4498920" y="14904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11"/>
          <p:cNvSpPr/>
          <p:nvPr/>
        </p:nvSpPr>
        <p:spPr>
          <a:xfrm>
            <a:off x="4937760" y="14904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繁华与衰落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的对比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Box 12"/>
          <p:cNvSpPr/>
          <p:nvPr/>
        </p:nvSpPr>
        <p:spPr>
          <a:xfrm>
            <a:off x="4498920" y="23590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百乐门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尹公馆 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vs 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台北的今不如昔。公馆是荣光的残影。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ounded Rectangle 13"/>
          <p:cNvSpPr/>
          <p:nvPr/>
        </p:nvSpPr>
        <p:spPr>
          <a:xfrm>
            <a:off x="8183880" y="135324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TextBox 14"/>
          <p:cNvSpPr/>
          <p:nvPr/>
        </p:nvSpPr>
        <p:spPr>
          <a:xfrm>
            <a:off x="8385120" y="14904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Box 15"/>
          <p:cNvSpPr/>
          <p:nvPr/>
        </p:nvSpPr>
        <p:spPr>
          <a:xfrm>
            <a:off x="8823960" y="149040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人性的复杂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与矛盾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16"/>
          <p:cNvSpPr/>
          <p:nvPr/>
        </p:nvSpPr>
        <p:spPr>
          <a:xfrm>
            <a:off x="8385120" y="23590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煞气多是外界投射；她从容生活，却被读成祸水。向往与恐惧并存。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Rounded Rectangle 17"/>
          <p:cNvSpPr/>
          <p:nvPr/>
        </p:nvSpPr>
        <p:spPr>
          <a:xfrm>
            <a:off x="411480" y="368496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5" name="TextBox 18"/>
          <p:cNvSpPr/>
          <p:nvPr/>
        </p:nvSpPr>
        <p:spPr>
          <a:xfrm>
            <a:off x="612720" y="38221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Box 19"/>
          <p:cNvSpPr/>
          <p:nvPr/>
        </p:nvSpPr>
        <p:spPr>
          <a:xfrm>
            <a:off x="1051560" y="382212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怀旧与现实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的冲突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Box 20"/>
          <p:cNvSpPr/>
          <p:nvPr/>
        </p:nvSpPr>
        <p:spPr>
          <a:xfrm>
            <a:off x="612720" y="469080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身在当下、心在往昔。公馆是避风港，也是不肯醒来的证明。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Rounded Rectangle 21"/>
          <p:cNvSpPr/>
          <p:nvPr/>
        </p:nvSpPr>
        <p:spPr>
          <a:xfrm>
            <a:off x="4297680" y="368496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9" name="TextBox 22"/>
          <p:cNvSpPr/>
          <p:nvPr/>
        </p:nvSpPr>
        <p:spPr>
          <a:xfrm>
            <a:off x="4498920" y="38221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23"/>
          <p:cNvSpPr/>
          <p:nvPr/>
        </p:nvSpPr>
        <p:spPr>
          <a:xfrm>
            <a:off x="4937760" y="382212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女性的力量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与悲剧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24"/>
          <p:cNvSpPr/>
          <p:nvPr/>
        </p:nvSpPr>
        <p:spPr>
          <a:xfrm>
            <a:off x="4498920" y="469080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迷倒男女，自己仍依附男性生存；被污名，也被需要。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Rounded Rectangle 25"/>
          <p:cNvSpPr/>
          <p:nvPr/>
        </p:nvSpPr>
        <p:spPr>
          <a:xfrm>
            <a:off x="8183880" y="3684960"/>
            <a:ext cx="3748680" cy="21942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3" name="TextBox 26"/>
          <p:cNvSpPr/>
          <p:nvPr/>
        </p:nvSpPr>
        <p:spPr>
          <a:xfrm>
            <a:off x="8385120" y="38221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Box 27"/>
          <p:cNvSpPr/>
          <p:nvPr/>
        </p:nvSpPr>
        <p:spPr>
          <a:xfrm>
            <a:off x="8823960" y="382212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轮回、欲望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与无常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Box 28"/>
          <p:cNvSpPr/>
          <p:nvPr/>
        </p:nvSpPr>
        <p:spPr>
          <a:xfrm>
            <a:off x="8385120" y="469080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追逐故事一直没变。欲望之神不老，人是命运手中的玩偶。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29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30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29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08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主旨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手法如何服务主旨：一条可写进论文的因果链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ounded Rectangle 5"/>
          <p:cNvSpPr/>
          <p:nvPr/>
        </p:nvSpPr>
        <p:spPr>
          <a:xfrm>
            <a:off x="411480" y="1298520"/>
            <a:ext cx="11338200" cy="480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TextBox 6"/>
          <p:cNvSpPr/>
          <p:nvPr/>
        </p:nvSpPr>
        <p:spPr>
          <a:xfrm>
            <a:off x="640080" y="1417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手法组合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Box 7"/>
          <p:cNvSpPr/>
          <p:nvPr/>
        </p:nvSpPr>
        <p:spPr>
          <a:xfrm>
            <a:off x="5486400" y="14173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直接效果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8"/>
          <p:cNvSpPr/>
          <p:nvPr/>
        </p:nvSpPr>
        <p:spPr>
          <a:xfrm>
            <a:off x="8138160" y="14173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通向的主旨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Rectangle 9"/>
          <p:cNvSpPr/>
          <p:nvPr/>
        </p:nvSpPr>
        <p:spPr>
          <a:xfrm>
            <a:off x="640080" y="1783080"/>
            <a:ext cx="10881000" cy="13320"/>
          </a:xfrm>
          <a:prstGeom prst="rect">
            <a:avLst/>
          </a:prstGeom>
          <a:solidFill>
            <a:srgbClr val="d9cfc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10"/>
          <p:cNvSpPr/>
          <p:nvPr/>
        </p:nvSpPr>
        <p:spPr>
          <a:xfrm>
            <a:off x="640080" y="192024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塑造：银白 </a:t>
            </a:r>
            <a:r>
              <a:rPr b="1" lang="en-US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+ </a:t>
            </a: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不写内心 </a:t>
            </a:r>
            <a:r>
              <a:rPr b="1" lang="en-US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+ </a:t>
            </a: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细节之冷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Box 11"/>
          <p:cNvSpPr/>
          <p:nvPr/>
        </p:nvSpPr>
        <p:spPr>
          <a:xfrm>
            <a:off x="5486400" y="19202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人物非人化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12"/>
          <p:cNvSpPr/>
          <p:nvPr/>
        </p:nvSpPr>
        <p:spPr>
          <a:xfrm>
            <a:off x="8138160" y="19202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才能同时承担欲望、命运、死神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Box 13"/>
          <p:cNvSpPr/>
          <p:nvPr/>
        </p:nvSpPr>
        <p:spPr>
          <a:xfrm>
            <a:off x="640080" y="256032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叙事：全知不入内 </a:t>
            </a:r>
            <a:r>
              <a:rPr b="1" lang="en-US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+ </a:t>
            </a: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倾慕口吻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Box 14"/>
          <p:cNvSpPr/>
          <p:nvPr/>
        </p:nvSpPr>
        <p:spPr>
          <a:xfrm>
            <a:off x="5486400" y="25603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不可靠叙述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15"/>
          <p:cNvSpPr/>
          <p:nvPr/>
        </p:nvSpPr>
        <p:spPr>
          <a:xfrm>
            <a:off x="8138160" y="25603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读者经历「着迷→察觉裂隙→批判」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Box 16"/>
          <p:cNvSpPr/>
          <p:nvPr/>
        </p:nvSpPr>
        <p:spPr>
          <a:xfrm>
            <a:off x="640080" y="32004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插叙：上海插入台北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Box 17"/>
          <p:cNvSpPr/>
          <p:nvPr/>
        </p:nvSpPr>
        <p:spPr>
          <a:xfrm>
            <a:off x="5486400" y="320040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今昔对照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Box 18"/>
          <p:cNvSpPr/>
          <p:nvPr/>
        </p:nvSpPr>
        <p:spPr>
          <a:xfrm>
            <a:off x="8138160" y="320040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怀旧是自欺，繁华是仿制品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19"/>
          <p:cNvSpPr/>
          <p:nvPr/>
        </p:nvSpPr>
        <p:spPr>
          <a:xfrm>
            <a:off x="640080" y="384048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空白：失声、态度词、环境满而人空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Box 20"/>
          <p:cNvSpPr/>
          <p:nvPr/>
        </p:nvSpPr>
        <p:spPr>
          <a:xfrm>
            <a:off x="5486400" y="384048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象征敞开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Box 21"/>
          <p:cNvSpPr/>
          <p:nvPr/>
        </p:nvSpPr>
        <p:spPr>
          <a:xfrm>
            <a:off x="8138160" y="384048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意义在读者填补中多重实现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22"/>
          <p:cNvSpPr/>
          <p:nvPr/>
        </p:nvSpPr>
        <p:spPr>
          <a:xfrm>
            <a:off x="640080" y="448056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色彩</a:t>
            </a:r>
            <a:r>
              <a:rPr b="1" lang="en-US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</a:t>
            </a: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晚香玉</a:t>
            </a:r>
            <a:r>
              <a:rPr b="1" lang="en-US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/</a:t>
            </a: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麻将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23"/>
          <p:cNvSpPr/>
          <p:nvPr/>
        </p:nvSpPr>
        <p:spPr>
          <a:xfrm>
            <a:off x="5486400" y="448056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感官与寓言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Box 24"/>
          <p:cNvSpPr/>
          <p:nvPr/>
        </p:nvSpPr>
        <p:spPr>
          <a:xfrm>
            <a:off x="8138160" y="448056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危险的快乐、命运不受控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Box 25"/>
          <p:cNvSpPr/>
          <p:nvPr/>
        </p:nvSpPr>
        <p:spPr>
          <a:xfrm>
            <a:off x="640080" y="512064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反讽贯穿语调与结构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26"/>
          <p:cNvSpPr/>
          <p:nvPr/>
        </p:nvSpPr>
        <p:spPr>
          <a:xfrm>
            <a:off x="5486400" y="51206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→ </a:t>
            </a:r>
            <a:r>
              <a:rPr b="1" lang="zh-CN" sz="13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主题深化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Box 27"/>
          <p:cNvSpPr/>
          <p:nvPr/>
        </p:nvSpPr>
        <p:spPr>
          <a:xfrm>
            <a:off x="8138160" y="512064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愚顽自欺无法摆脱生死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Box 28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Box 29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30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9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08  </a:t>
            </a: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主旨与答题路径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IB / </a:t>
            </a: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文学论述：把概念用对，把例子写透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Rounded Rectangle 5"/>
          <p:cNvSpPr/>
          <p:nvPr/>
        </p:nvSpPr>
        <p:spPr>
          <a:xfrm>
            <a:off x="411480" y="132588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2" name="TextBox 6"/>
          <p:cNvSpPr/>
          <p:nvPr/>
        </p:nvSpPr>
        <p:spPr>
          <a:xfrm>
            <a:off x="612720" y="14356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审题先定层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7"/>
          <p:cNvSpPr/>
          <p:nvPr/>
        </p:nvSpPr>
        <p:spPr>
          <a:xfrm>
            <a:off x="612720" y="178308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问「人物」就走形象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+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塑造；问「叙事」走视角与不可靠；问「主题」必须有手法作证据，不要只复述情节。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Rounded Rectangle 8"/>
          <p:cNvSpPr/>
          <p:nvPr/>
        </p:nvSpPr>
        <p:spPr>
          <a:xfrm>
            <a:off x="6263640" y="132588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5" name="TextBox 9"/>
          <p:cNvSpPr/>
          <p:nvPr/>
        </p:nvSpPr>
        <p:spPr>
          <a:xfrm>
            <a:off x="6464880" y="14356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例子要带原文词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10"/>
          <p:cNvSpPr/>
          <p:nvPr/>
        </p:nvSpPr>
        <p:spPr>
          <a:xfrm>
            <a:off x="6464880" y="178308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「总也不老」「停了一宵」「还算有良心」「吃你的红」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「悲天悯人」「却放着两颗鲜红的樱桃」——词就是论点的钉子。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Rounded Rectangle 11"/>
          <p:cNvSpPr/>
          <p:nvPr/>
        </p:nvSpPr>
        <p:spPr>
          <a:xfrm>
            <a:off x="411480" y="288036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8" name="TextBox 12"/>
          <p:cNvSpPr/>
          <p:nvPr/>
        </p:nvSpPr>
        <p:spPr>
          <a:xfrm>
            <a:off x="612720" y="299016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反讽必写裂隙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Box 13"/>
          <p:cNvSpPr/>
          <p:nvPr/>
        </p:nvSpPr>
        <p:spPr>
          <a:xfrm>
            <a:off x="612720" y="333756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说出「谁在说」与「谁在想」：叙述者 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 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隐含作者 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 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读者。没有这三方，反讽只是形容词。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Rounded Rectangle 14"/>
          <p:cNvSpPr/>
          <p:nvPr/>
        </p:nvSpPr>
        <p:spPr>
          <a:xfrm>
            <a:off x="6263640" y="288036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1" name="TextBox 15"/>
          <p:cNvSpPr/>
          <p:nvPr/>
        </p:nvSpPr>
        <p:spPr>
          <a:xfrm>
            <a:off x="6464880" y="299016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象征不要清单化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Box 16"/>
          <p:cNvSpPr/>
          <p:nvPr/>
        </p:nvSpPr>
        <p:spPr>
          <a:xfrm>
            <a:off x="6464880" y="333756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一次作文选 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1–2 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个象征轴写深（欲望或时间），用色彩、空白、情节循环去支撑，比罗列六种象征更有力。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Rounded Rectangle 17"/>
          <p:cNvSpPr/>
          <p:nvPr/>
        </p:nvSpPr>
        <p:spPr>
          <a:xfrm>
            <a:off x="411480" y="443484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4" name="TextBox 18"/>
          <p:cNvSpPr/>
          <p:nvPr/>
        </p:nvSpPr>
        <p:spPr>
          <a:xfrm>
            <a:off x="612720" y="45446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评价可落在张力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Box 19"/>
          <p:cNvSpPr/>
          <p:nvPr/>
        </p:nvSpPr>
        <p:spPr>
          <a:xfrm>
            <a:off x="612720" y="489204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神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妖、冷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热、白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红、永远</a:t>
            </a:r>
            <a:r>
              <a:rPr b="0" lang="en-US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无常。点明张力如何让「台北人」的怀旧显出可笑与可哀。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Rounded Rectangle 20"/>
          <p:cNvSpPr/>
          <p:nvPr/>
        </p:nvSpPr>
        <p:spPr>
          <a:xfrm>
            <a:off x="6263640" y="4434840"/>
            <a:ext cx="5668920" cy="14169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7" name="TextBox 21"/>
          <p:cNvSpPr/>
          <p:nvPr/>
        </p:nvSpPr>
        <p:spPr>
          <a:xfrm>
            <a:off x="6464880" y="45446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常见误读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Box 22"/>
          <p:cNvSpPr/>
          <p:nvPr/>
        </p:nvSpPr>
        <p:spPr>
          <a:xfrm>
            <a:off x="6464880" y="489204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停在赞美佳人；或简单骂她祸水。两种都是被叙述者或吴家阿婆牵着走。文本要的是欲望与命运的思考。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Box 23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Box 24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31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6f0e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2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a324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3" name="TextBox 3"/>
          <p:cNvSpPr/>
          <p:nvPr/>
        </p:nvSpPr>
        <p:spPr>
          <a:xfrm>
            <a:off x="502920" y="201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a32432"/>
                </a:solidFill>
                <a:latin typeface="Microsoft YaHei"/>
                <a:ea typeface="Microsoft YaHei"/>
              </a:rPr>
              <a:t>复习清单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Box 4"/>
          <p:cNvSpPr/>
          <p:nvPr/>
        </p:nvSpPr>
        <p:spPr>
          <a:xfrm>
            <a:off x="502920" y="42048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1e1816"/>
                </a:solidFill>
                <a:latin typeface="Microsoft YaHei"/>
                <a:ea typeface="Microsoft YaHei"/>
              </a:rPr>
              <a:t>合上笔记前，能用自己的话回答这些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Rounded Rectangle 5"/>
          <p:cNvSpPr/>
          <p:nvPr/>
        </p:nvSpPr>
        <p:spPr>
          <a:xfrm>
            <a:off x="411480" y="13258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6" name="TextBox 6"/>
          <p:cNvSpPr/>
          <p:nvPr/>
        </p:nvSpPr>
        <p:spPr>
          <a:xfrm>
            <a:off x="548640" y="1527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Box 7"/>
          <p:cNvSpPr/>
          <p:nvPr/>
        </p:nvSpPr>
        <p:spPr>
          <a:xfrm>
            <a:off x="1051560" y="14356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「尹雪艳总也不老」为何既是人物设定，又是反讽基调？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Rounded Rectangle 8"/>
          <p:cNvSpPr/>
          <p:nvPr/>
        </p:nvSpPr>
        <p:spPr>
          <a:xfrm>
            <a:off x="6263640" y="13258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9" name="TextBox 9"/>
          <p:cNvSpPr/>
          <p:nvPr/>
        </p:nvSpPr>
        <p:spPr>
          <a:xfrm>
            <a:off x="6400800" y="15271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Box 10"/>
          <p:cNvSpPr/>
          <p:nvPr/>
        </p:nvSpPr>
        <p:spPr>
          <a:xfrm>
            <a:off x="6903720" y="14356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「雪」与「艳」如何在服饰、色彩、行为上同时展开？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Rounded Rectangle 11"/>
          <p:cNvSpPr/>
          <p:nvPr/>
        </p:nvSpPr>
        <p:spPr>
          <a:xfrm>
            <a:off x="411480" y="22402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2" name="TextBox 12"/>
          <p:cNvSpPr/>
          <p:nvPr/>
        </p:nvSpPr>
        <p:spPr>
          <a:xfrm>
            <a:off x="548640" y="24415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Box 13"/>
          <p:cNvSpPr/>
          <p:nvPr/>
        </p:nvSpPr>
        <p:spPr>
          <a:xfrm>
            <a:off x="1051560" y="23500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以形写神、白描、细节三者，各举一例并说明效果有何不同。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Rounded Rectangle 14"/>
          <p:cNvSpPr/>
          <p:nvPr/>
        </p:nvSpPr>
        <p:spPr>
          <a:xfrm>
            <a:off x="6263640" y="22402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5" name="TextBox 15"/>
          <p:cNvSpPr/>
          <p:nvPr/>
        </p:nvSpPr>
        <p:spPr>
          <a:xfrm>
            <a:off x="6400800" y="24415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Box 16"/>
          <p:cNvSpPr/>
          <p:nvPr/>
        </p:nvSpPr>
        <p:spPr>
          <a:xfrm>
            <a:off x="6903720" y="23500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全知但不入内心，怎样制造神秘，又怎样为嘲讽服务？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Rounded Rectangle 17"/>
          <p:cNvSpPr/>
          <p:nvPr/>
        </p:nvSpPr>
        <p:spPr>
          <a:xfrm>
            <a:off x="411480" y="31546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8" name="TextBox 18"/>
          <p:cNvSpPr/>
          <p:nvPr/>
        </p:nvSpPr>
        <p:spPr>
          <a:xfrm>
            <a:off x="548640" y="33559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Box 19"/>
          <p:cNvSpPr/>
          <p:nvPr/>
        </p:nvSpPr>
        <p:spPr>
          <a:xfrm>
            <a:off x="1051560" y="32644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叙述者说「还算有良心」，隐含作者可能想让读者感到什么？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Rounded Rectangle 20"/>
          <p:cNvSpPr/>
          <p:nvPr/>
        </p:nvSpPr>
        <p:spPr>
          <a:xfrm>
            <a:off x="6263640" y="31546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" name="TextBox 21"/>
          <p:cNvSpPr/>
          <p:nvPr/>
        </p:nvSpPr>
        <p:spPr>
          <a:xfrm>
            <a:off x="6400800" y="33559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22"/>
          <p:cNvSpPr/>
          <p:nvPr/>
        </p:nvSpPr>
        <p:spPr>
          <a:xfrm>
            <a:off x="6903720" y="32644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空白（失声、态度词、环境）如何把她从「女人」推向「欲望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命运」？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Rounded Rectangle 23"/>
          <p:cNvSpPr/>
          <p:nvPr/>
        </p:nvSpPr>
        <p:spPr>
          <a:xfrm>
            <a:off x="411480" y="40690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TextBox 24"/>
          <p:cNvSpPr/>
          <p:nvPr/>
        </p:nvSpPr>
        <p:spPr>
          <a:xfrm>
            <a:off x="548640" y="427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Box 25"/>
          <p:cNvSpPr/>
          <p:nvPr/>
        </p:nvSpPr>
        <p:spPr>
          <a:xfrm>
            <a:off x="1051560" y="41788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晚香玉三次出现，如何把「危险的快乐」写进徐壮图的路线？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Rounded Rectangle 26"/>
          <p:cNvSpPr/>
          <p:nvPr/>
        </p:nvSpPr>
        <p:spPr>
          <a:xfrm>
            <a:off x="6263640" y="40690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7" name="TextBox 27"/>
          <p:cNvSpPr/>
          <p:nvPr/>
        </p:nvSpPr>
        <p:spPr>
          <a:xfrm>
            <a:off x="6400800" y="42703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28"/>
          <p:cNvSpPr/>
          <p:nvPr/>
        </p:nvSpPr>
        <p:spPr>
          <a:xfrm>
            <a:off x="6903720" y="41788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白与红在葬礼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寿宴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樱桃</a:t>
            </a:r>
            <a:r>
              <a:rPr b="0" lang="en-US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/</a:t>
            </a: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吃红四处，怎样把死亡主题视觉化？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Rounded Rectangle 29"/>
          <p:cNvSpPr/>
          <p:nvPr/>
        </p:nvSpPr>
        <p:spPr>
          <a:xfrm>
            <a:off x="411480" y="49834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0" name="TextBox 30"/>
          <p:cNvSpPr/>
          <p:nvPr/>
        </p:nvSpPr>
        <p:spPr>
          <a:xfrm>
            <a:off x="548640" y="51847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09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Box 31"/>
          <p:cNvSpPr/>
          <p:nvPr/>
        </p:nvSpPr>
        <p:spPr>
          <a:xfrm>
            <a:off x="1051560" y="50932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插叙让上海进入台北，对「怀旧」主题做了什么？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Rounded Rectangle 32"/>
          <p:cNvSpPr/>
          <p:nvPr/>
        </p:nvSpPr>
        <p:spPr>
          <a:xfrm>
            <a:off x="6263640" y="4983480"/>
            <a:ext cx="5668920" cy="804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600">
            <a:solidFill>
              <a:srgbClr val="d9cfc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3" name="TextBox 33"/>
          <p:cNvSpPr/>
          <p:nvPr/>
        </p:nvSpPr>
        <p:spPr>
          <a:xfrm>
            <a:off x="6400800" y="518472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Box 34"/>
          <p:cNvSpPr/>
          <p:nvPr/>
        </p:nvSpPr>
        <p:spPr>
          <a:xfrm>
            <a:off x="6903720" y="509328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322a26"/>
                </a:solidFill>
                <a:latin typeface="Microsoft YaHei"/>
                <a:ea typeface="Microsoft YaHei"/>
              </a:rPr>
              <a:t>若只选一个贯穿手法统领全篇，为什么是反讽而不是象征？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Box 35"/>
          <p:cNvSpPr/>
          <p:nvPr/>
        </p:nvSpPr>
        <p:spPr>
          <a:xfrm>
            <a:off x="457200" y="6565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《永远的尹雪艳》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文学概念与手法  </a:t>
            </a: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|  </a:t>
            </a:r>
            <a:r>
              <a:rPr b="0" lang="zh-CN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白先勇《台北人》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Box 36"/>
          <p:cNvSpPr/>
          <p:nvPr/>
        </p:nvSpPr>
        <p:spPr>
          <a:xfrm>
            <a:off x="10424160" y="65653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c8beb2"/>
                </a:solidFill>
                <a:latin typeface="Microsoft YaHei"/>
                <a:ea typeface="Microsoft YaHei"/>
              </a:rPr>
              <a:t>32  /  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4a161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935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9" name="TextBox 3"/>
          <p:cNvSpPr/>
          <p:nvPr/>
        </p:nvSpPr>
        <p:spPr>
          <a:xfrm>
            <a:off x="731520" y="18288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收束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4"/>
          <p:cNvSpPr/>
          <p:nvPr/>
        </p:nvSpPr>
        <p:spPr>
          <a:xfrm>
            <a:off x="731520" y="228600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zh-CN" sz="28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永远的，不是美人，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28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而是欲望本身，以及人对幻觉的需要。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Box 5"/>
          <p:cNvSpPr/>
          <p:nvPr/>
        </p:nvSpPr>
        <p:spPr>
          <a:xfrm>
            <a:off x="731520" y="39319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e8c8c4"/>
                </a:solidFill>
                <a:latin typeface="Microsoft YaHei"/>
                <a:ea typeface="Microsoft YaHei"/>
              </a:rPr>
              <a:t>尹雪艳总也不老——因为心魔不老。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600" spc="-1" strike="noStrike">
                <a:solidFill>
                  <a:srgbClr val="e8c8c4"/>
                </a:solidFill>
                <a:latin typeface="Microsoft YaHei"/>
                <a:ea typeface="Microsoft YaHei"/>
              </a:rPr>
              <a:t>公馆总还开着牌局——因为自欺总还需要一个舞台。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600" spc="-1" strike="noStrike">
                <a:solidFill>
                  <a:srgbClr val="e8c8c4"/>
                </a:solidFill>
                <a:latin typeface="Microsoft YaHei"/>
                <a:ea typeface="Microsoft YaHei"/>
              </a:rPr>
              <a:t>文学手法的意义，是让读者在赞美的语调里，听见死亡的寒意。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Box 6"/>
          <p:cNvSpPr/>
          <p:nvPr/>
        </p:nvSpPr>
        <p:spPr>
          <a:xfrm>
            <a:off x="731520" y="5943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CN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白先勇  </a:t>
            </a:r>
            <a:r>
              <a:rPr b="0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《永远的尹雪艳》  </a:t>
            </a:r>
            <a:r>
              <a:rPr b="0" lang="en-US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·  </a:t>
            </a:r>
            <a:r>
              <a:rPr b="0" lang="zh-CN" sz="1400" spc="-1" strike="noStrike">
                <a:solidFill>
                  <a:srgbClr val="b8935a"/>
                </a:solidFill>
                <a:latin typeface="Microsoft YaHei"/>
                <a:ea typeface="Microsoft YaHei"/>
              </a:rPr>
              <a:t>《台北人》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