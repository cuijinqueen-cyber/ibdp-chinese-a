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49" r:id="rId3"/>
    <p:sldMasterId id="2147483650" r:id="rId4"/>
    <p:sldMasterId id="2147483651" r:id="rId5"/>
    <p:sldMasterId id="2147483652" r:id="rId6"/>
    <p:sldMasterId id="2147483653" r:id="rId7"/>
    <p:sldMasterId id="2147483654" r:id="rId8"/>
    <p:sldMasterId id="2147483655" r:id="rId9"/>
    <p:sldMasterId id="2147483656" r:id="rId10"/>
    <p:sldMasterId id="2147483659" r:id="rId11"/>
    <p:sldMasterId id="2147483660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C2194EE-E662-42AA-8D80-C09ACF9973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54FADFB-F982-4338-B775-A001E62723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69A426-AC5E-4CCC-AFFD-9B052CAEE14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46F6183-A80B-4ECB-90E4-7460A45FE6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3AC9C1-ACC0-4D0B-9273-A7FF45FE1F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2FED3B-63C0-4B29-843E-4A7A07DCDD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457E06-814F-4000-AF88-7DA39FBA59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C00DB2-D86F-4C95-871D-BF7803C99A9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83FBF8-93CA-46D9-8215-B9DCA2912B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B1C517-E611-4C14-A593-B8556E0B5A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3EE3CA-766C-410E-BDA1-EA57A93F69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  <p:sldLayoutId id="2147483658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CBF493-31F8-4A0C-9B18-E0D3BFECD0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EE0E1B-8BF2-4273-9454-E2F0DCF62FA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6355080"/>
            <a:ext cx="12191400" cy="502560"/>
          </a:xfrm>
          <a:prstGeom prst="rect">
            <a:avLst/>
          </a:prstGeom>
          <a:solidFill>
            <a:srgbClr val="36101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640080" y="10515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IBDP Chinese A  ·  </a:t>
            </a:r>
            <a:r>
              <a:rPr b="1" lang="zh-CN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文学复习讲座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640080" y="1554480"/>
            <a:ext cx="10972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48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永远的尹雪艳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640080" y="2606040"/>
            <a:ext cx="1097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2600" spc="-1" strike="noStrike">
                <a:solidFill>
                  <a:srgbClr val="f0d4c0"/>
                </a:solidFill>
                <a:latin typeface="Microsoft YaHei"/>
                <a:ea typeface="Microsoft YaHei"/>
              </a:rPr>
              <a:t>文学概念、手法与细读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640080" y="320040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500" spc="-1" strike="noStrike">
                <a:solidFill>
                  <a:srgbClr val="e8c8c4"/>
                </a:solidFill>
                <a:latin typeface="Microsoft YaHei"/>
                <a:ea typeface="Microsoft YaHei"/>
              </a:rPr>
              <a:t>先界定概念，再落到原文词句：引用 → 手法 → 效果 → 主旨。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500" spc="-1" strike="noStrike">
                <a:solidFill>
                  <a:srgbClr val="e8c8c4"/>
                </a:solidFill>
                <a:latin typeface="Microsoft YaHei"/>
                <a:ea typeface="Microsoft YaHei"/>
              </a:rPr>
              <a:t>按「文本表层 → 艺术手法 → 象征意义 → 主题思想」展开。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640080" y="50749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白先勇  </a:t>
            </a:r>
            <a:r>
              <a:rPr b="0" lang="en-US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《台北人》首篇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短篇小说  </a:t>
            </a:r>
            <a:r>
              <a:rPr b="0" lang="en-US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·  1960</a:t>
            </a:r>
            <a:r>
              <a:rPr b="0" lang="zh-CN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年代台北 </a:t>
            </a:r>
            <a:r>
              <a:rPr b="0" lang="en-US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/ </a:t>
            </a:r>
            <a:r>
              <a:rPr b="0" lang="zh-CN" sz="1400" spc="-1" strike="noStrike">
                <a:solidFill>
                  <a:srgbClr val="d4b0a8"/>
                </a:solidFill>
                <a:latin typeface="Microsoft YaHei"/>
                <a:ea typeface="Microsoft YaHei"/>
              </a:rPr>
              <a:t>旧上海记忆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640080" y="644652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概念界定  </a:t>
            </a:r>
            <a:r>
              <a:rPr b="0" lang="en-US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 </a:t>
            </a:r>
            <a:r>
              <a:rPr b="0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原文细读  </a:t>
            </a:r>
            <a:r>
              <a:rPr b="0" lang="en-US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 </a:t>
            </a:r>
            <a:r>
              <a:rPr b="0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手法识别  </a:t>
            </a:r>
            <a:r>
              <a:rPr b="0" lang="en-US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 </a:t>
            </a:r>
            <a:r>
              <a:rPr b="0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主旨贯通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阅读路径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为什么按这个顺序讲？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502920" y="859680"/>
            <a:ext cx="1097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文学分析不是清单堆砌，而是从「看见什么」走向「如何做成」再走向「意味着什么」。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ounded Rectangle 6"/>
          <p:cNvSpPr/>
          <p:nvPr/>
        </p:nvSpPr>
        <p:spPr>
          <a:xfrm>
            <a:off x="457200" y="1417320"/>
            <a:ext cx="2742840" cy="3245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7"/>
          <p:cNvSpPr/>
          <p:nvPr/>
        </p:nvSpPr>
        <p:spPr>
          <a:xfrm>
            <a:off x="658440" y="16002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8"/>
          <p:cNvSpPr/>
          <p:nvPr/>
        </p:nvSpPr>
        <p:spPr>
          <a:xfrm>
            <a:off x="658440" y="2057400"/>
            <a:ext cx="2331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定位文本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658440" y="2560320"/>
            <a:ext cx="23313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文类、系列、核心句子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「尹雪艳总也不老」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3063240" y="274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ounded Rectangle 11"/>
          <p:cNvSpPr/>
          <p:nvPr/>
        </p:nvSpPr>
        <p:spPr>
          <a:xfrm>
            <a:off x="3383280" y="1417320"/>
            <a:ext cx="2742840" cy="3245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3584520" y="16002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13"/>
          <p:cNvSpPr/>
          <p:nvPr/>
        </p:nvSpPr>
        <p:spPr>
          <a:xfrm>
            <a:off x="3584520" y="2057400"/>
            <a:ext cx="2331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抓住人物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3584520" y="2560320"/>
            <a:ext cx="23313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形象是小说的枢纽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矛盾体 → 象征体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5989320" y="274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ounded Rectangle 16"/>
          <p:cNvSpPr/>
          <p:nvPr/>
        </p:nvSpPr>
        <p:spPr>
          <a:xfrm>
            <a:off x="6309360" y="1417320"/>
            <a:ext cx="2742840" cy="3245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6510600" y="16002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8"/>
          <p:cNvSpPr/>
          <p:nvPr/>
        </p:nvSpPr>
        <p:spPr>
          <a:xfrm>
            <a:off x="6510600" y="2057400"/>
            <a:ext cx="2331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拆解手法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6510600" y="2560320"/>
            <a:ext cx="23313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塑造 </a:t>
            </a:r>
            <a:r>
              <a:rPr b="0" lang="en-US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叙事 </a:t>
            </a:r>
            <a:r>
              <a:rPr b="0" lang="en-US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空白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意象 </a:t>
            </a:r>
            <a:r>
              <a:rPr b="0" lang="en-US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语言 </a:t>
            </a:r>
            <a:r>
              <a:rPr b="0" lang="en-US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反讽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20"/>
          <p:cNvSpPr/>
          <p:nvPr/>
        </p:nvSpPr>
        <p:spPr>
          <a:xfrm>
            <a:off x="8915400" y="274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Rounded Rectangle 21"/>
          <p:cNvSpPr/>
          <p:nvPr/>
        </p:nvSpPr>
        <p:spPr>
          <a:xfrm>
            <a:off x="9235440" y="1417320"/>
            <a:ext cx="2742840" cy="3245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22"/>
          <p:cNvSpPr/>
          <p:nvPr/>
        </p:nvSpPr>
        <p:spPr>
          <a:xfrm>
            <a:off x="9436680" y="16002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23"/>
          <p:cNvSpPr/>
          <p:nvPr/>
        </p:nvSpPr>
        <p:spPr>
          <a:xfrm>
            <a:off x="9436680" y="2057400"/>
            <a:ext cx="2331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落到主旨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24"/>
          <p:cNvSpPr/>
          <p:nvPr/>
        </p:nvSpPr>
        <p:spPr>
          <a:xfrm>
            <a:off x="9436680" y="2560320"/>
            <a:ext cx="23313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时间、欲望、命运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怀旧与虚无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5"/>
          <p:cNvSpPr/>
          <p:nvPr/>
        </p:nvSpPr>
        <p:spPr>
          <a:xfrm>
            <a:off x="502920" y="4892040"/>
            <a:ext cx="11155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贯穿原则：反讽。它既是人物手法，也是叙事策略，更是结构原则——表面赞美、内里批判。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因此本讲不把「反讽」提前单列成第一章，而让它在塑造、叙事、语言中反复现身，最后收束为整体结构。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6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7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CONTENTS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八个板块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概念贯穿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原文细读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5"/>
          <p:cNvSpPr/>
          <p:nvPr/>
        </p:nvSpPr>
        <p:spPr>
          <a:xfrm>
            <a:off x="457200" y="137160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457200" y="137160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713160" y="151776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一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1325880" y="153612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作品定位与核心概念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1325880" y="190188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文类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术语表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细读公式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10"/>
          <p:cNvSpPr/>
          <p:nvPr/>
        </p:nvSpPr>
        <p:spPr>
          <a:xfrm>
            <a:off x="6309360" y="137160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11"/>
          <p:cNvSpPr/>
          <p:nvPr/>
        </p:nvSpPr>
        <p:spPr>
          <a:xfrm>
            <a:off x="6309360" y="137160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6565320" y="151776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二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7178040" y="153612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人物形象：矛盾与象征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7178040" y="190188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雪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艳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开篇句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重煞细读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ounded Rectangle 15"/>
          <p:cNvSpPr/>
          <p:nvPr/>
        </p:nvSpPr>
        <p:spPr>
          <a:xfrm>
            <a:off x="457200" y="254196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ectangle 16"/>
          <p:cNvSpPr/>
          <p:nvPr/>
        </p:nvSpPr>
        <p:spPr>
          <a:xfrm>
            <a:off x="457200" y="254196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713160" y="26884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三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1325880" y="270648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人物塑造手法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1325880" y="307224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以形写神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白描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语言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细节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ounded Rectangle 20"/>
          <p:cNvSpPr/>
          <p:nvPr/>
        </p:nvSpPr>
        <p:spPr>
          <a:xfrm>
            <a:off x="6309360" y="254196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Rectangle 21"/>
          <p:cNvSpPr/>
          <p:nvPr/>
        </p:nvSpPr>
        <p:spPr>
          <a:xfrm>
            <a:off x="6309360" y="254196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6565320" y="26884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四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7178040" y="270648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叙事手法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7178040" y="307224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插叙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全知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不可靠叙述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态度词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ounded Rectangle 25"/>
          <p:cNvSpPr/>
          <p:nvPr/>
        </p:nvSpPr>
        <p:spPr>
          <a:xfrm>
            <a:off x="457200" y="371232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Rectangle 26"/>
          <p:cNvSpPr/>
          <p:nvPr/>
        </p:nvSpPr>
        <p:spPr>
          <a:xfrm>
            <a:off x="457200" y="371232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713160" y="38588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五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1325880" y="387720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空白手法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1325880" y="424296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伊瑟尔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人物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环境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情节空白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ounded Rectangle 30"/>
          <p:cNvSpPr/>
          <p:nvPr/>
        </p:nvSpPr>
        <p:spPr>
          <a:xfrm>
            <a:off x="6309360" y="371232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Rectangle 31"/>
          <p:cNvSpPr/>
          <p:nvPr/>
        </p:nvSpPr>
        <p:spPr>
          <a:xfrm>
            <a:off x="6309360" y="371232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32"/>
          <p:cNvSpPr/>
          <p:nvPr/>
        </p:nvSpPr>
        <p:spPr>
          <a:xfrm>
            <a:off x="6565320" y="38588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六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33"/>
          <p:cNvSpPr/>
          <p:nvPr/>
        </p:nvSpPr>
        <p:spPr>
          <a:xfrm>
            <a:off x="7178040" y="387720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环境、意象与象征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34"/>
          <p:cNvSpPr/>
          <p:nvPr/>
        </p:nvSpPr>
        <p:spPr>
          <a:xfrm>
            <a:off x="7178040" y="424296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白红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晚香玉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女祭司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观世音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ounded Rectangle 35"/>
          <p:cNvSpPr/>
          <p:nvPr/>
        </p:nvSpPr>
        <p:spPr>
          <a:xfrm>
            <a:off x="457200" y="488304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Rectangle 36"/>
          <p:cNvSpPr/>
          <p:nvPr/>
        </p:nvSpPr>
        <p:spPr>
          <a:xfrm>
            <a:off x="457200" y="488304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TextBox 37"/>
          <p:cNvSpPr/>
          <p:nvPr/>
        </p:nvSpPr>
        <p:spPr>
          <a:xfrm>
            <a:off x="713160" y="50292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38"/>
          <p:cNvSpPr/>
          <p:nvPr/>
        </p:nvSpPr>
        <p:spPr>
          <a:xfrm>
            <a:off x="1325880" y="504756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语言特色与反讽结构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9"/>
          <p:cNvSpPr/>
          <p:nvPr/>
        </p:nvSpPr>
        <p:spPr>
          <a:xfrm>
            <a:off x="1325880" y="541332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吃红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四喜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互文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整体反讽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ounded Rectangle 40"/>
          <p:cNvSpPr/>
          <p:nvPr/>
        </p:nvSpPr>
        <p:spPr>
          <a:xfrm>
            <a:off x="6309360" y="4883040"/>
            <a:ext cx="562320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41"/>
          <p:cNvSpPr/>
          <p:nvPr/>
        </p:nvSpPr>
        <p:spPr>
          <a:xfrm>
            <a:off x="6309360" y="488304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42"/>
          <p:cNvSpPr/>
          <p:nvPr/>
        </p:nvSpPr>
        <p:spPr>
          <a:xfrm>
            <a:off x="6565320" y="50292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0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43"/>
          <p:cNvSpPr/>
          <p:nvPr/>
        </p:nvSpPr>
        <p:spPr>
          <a:xfrm>
            <a:off x="7178040" y="504756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主旨与答题路径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44"/>
          <p:cNvSpPr/>
          <p:nvPr/>
        </p:nvSpPr>
        <p:spPr>
          <a:xfrm>
            <a:off x="7178040" y="5413320"/>
            <a:ext cx="4480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六层主旨 </a:t>
            </a:r>
            <a:r>
              <a:rPr b="0" lang="en-US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· </a:t>
            </a:r>
            <a:r>
              <a:rPr b="0" lang="zh-CN" sz="12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引用如何写进论述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45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46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作品定位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先把文本放进正确的坐标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411480" y="1371600"/>
            <a:ext cx="278856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6"/>
          <p:cNvSpPr/>
          <p:nvPr/>
        </p:nvSpPr>
        <p:spPr>
          <a:xfrm>
            <a:off x="411480" y="1371600"/>
            <a:ext cx="278856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7"/>
          <p:cNvSpPr/>
          <p:nvPr/>
        </p:nvSpPr>
        <p:spPr>
          <a:xfrm>
            <a:off x="594360" y="160020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文类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594360" y="2103120"/>
            <a:ext cx="2422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短篇小说，情节完整、有头有尾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传统线性骨架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+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插叙补层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适合考查：视角、象征、反讽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3337560" y="1371600"/>
            <a:ext cx="278856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0"/>
          <p:cNvSpPr/>
          <p:nvPr/>
        </p:nvSpPr>
        <p:spPr>
          <a:xfrm>
            <a:off x="3337560" y="1371600"/>
            <a:ext cx="278856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3520440" y="160020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系列位置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2"/>
          <p:cNvSpPr/>
          <p:nvPr/>
        </p:nvSpPr>
        <p:spPr>
          <a:xfrm>
            <a:off x="3520440" y="2103120"/>
            <a:ext cx="2422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《台北人》十四篇之首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为整部集子定下调性：怀旧、沧桑、嘲讽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「永远」与「台北人」的时间张力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6263640" y="1371600"/>
            <a:ext cx="278856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14"/>
          <p:cNvSpPr/>
          <p:nvPr/>
        </p:nvSpPr>
        <p:spPr>
          <a:xfrm>
            <a:off x="6263640" y="1371600"/>
            <a:ext cx="278856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6446520" y="160020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时空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6"/>
          <p:cNvSpPr/>
          <p:nvPr/>
        </p:nvSpPr>
        <p:spPr>
          <a:xfrm>
            <a:off x="6446520" y="2103120"/>
            <a:ext cx="2422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现在：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1960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年代台北尹公馆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过去：上海百乐门、霞飞路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视点立足现在，不断插入上海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17"/>
          <p:cNvSpPr/>
          <p:nvPr/>
        </p:nvSpPr>
        <p:spPr>
          <a:xfrm>
            <a:off x="9189720" y="1371600"/>
            <a:ext cx="278856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18"/>
          <p:cNvSpPr/>
          <p:nvPr/>
        </p:nvSpPr>
        <p:spPr>
          <a:xfrm>
            <a:off x="9189720" y="1371600"/>
            <a:ext cx="2788560" cy="7272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19"/>
          <p:cNvSpPr/>
          <p:nvPr/>
        </p:nvSpPr>
        <p:spPr>
          <a:xfrm>
            <a:off x="9372600" y="160020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核心句子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0"/>
          <p:cNvSpPr/>
          <p:nvPr/>
        </p:nvSpPr>
        <p:spPr>
          <a:xfrm>
            <a:off x="9372600" y="2103120"/>
            <a:ext cx="24228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开篇：「尹雪艳总也不老。」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既是人物设定，也是反讽基调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谁能不老？「永远」是幻觉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502920" y="4983480"/>
            <a:ext cx="111553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分析入口：不要一上来赞美「永远的美人」。先问——叙述者为什么这样说？隐含作者是否同意？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「总也不老」是表层话语；「谁能不老」才是文本真正要读者想到的常识。二者的裂隙，就是反讽开始的地方。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作品定位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概念地图：手法如何通向主旨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ounded Rectangle 5"/>
          <p:cNvSpPr/>
          <p:nvPr/>
        </p:nvSpPr>
        <p:spPr>
          <a:xfrm>
            <a:off x="640080" y="1325880"/>
            <a:ext cx="7589160" cy="776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6"/>
          <p:cNvSpPr/>
          <p:nvPr/>
        </p:nvSpPr>
        <p:spPr>
          <a:xfrm>
            <a:off x="868680" y="139896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7"/>
          <p:cNvSpPr/>
          <p:nvPr/>
        </p:nvSpPr>
        <p:spPr>
          <a:xfrm>
            <a:off x="3108960" y="139896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尹雪艳：雪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艳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冷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热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人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神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死神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Rounded Rectangle 8"/>
          <p:cNvSpPr/>
          <p:nvPr/>
        </p:nvSpPr>
        <p:spPr>
          <a:xfrm>
            <a:off x="640080" y="2240280"/>
            <a:ext cx="7589160" cy="776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9"/>
          <p:cNvSpPr/>
          <p:nvPr/>
        </p:nvSpPr>
        <p:spPr>
          <a:xfrm>
            <a:off x="868680" y="231336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塑造手法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0"/>
          <p:cNvSpPr/>
          <p:nvPr/>
        </p:nvSpPr>
        <p:spPr>
          <a:xfrm>
            <a:off x="3108960" y="231336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以形写神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白描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语言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细节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11"/>
          <p:cNvSpPr/>
          <p:nvPr/>
        </p:nvSpPr>
        <p:spPr>
          <a:xfrm>
            <a:off x="640080" y="3154680"/>
            <a:ext cx="7589160" cy="776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868680" y="322776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叙事与空白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3"/>
          <p:cNvSpPr/>
          <p:nvPr/>
        </p:nvSpPr>
        <p:spPr>
          <a:xfrm>
            <a:off x="3108960" y="322776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插叙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全知冷静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不可靠叙述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留白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14"/>
          <p:cNvSpPr/>
          <p:nvPr/>
        </p:nvSpPr>
        <p:spPr>
          <a:xfrm>
            <a:off x="640080" y="4069080"/>
            <a:ext cx="7589160" cy="776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868680" y="414216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意象与语言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3108960" y="414216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红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晚香玉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麻将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客观冷静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暗示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17"/>
          <p:cNvSpPr/>
          <p:nvPr/>
        </p:nvSpPr>
        <p:spPr>
          <a:xfrm>
            <a:off x="640080" y="4983480"/>
            <a:ext cx="7589160" cy="776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18"/>
          <p:cNvSpPr/>
          <p:nvPr/>
        </p:nvSpPr>
        <p:spPr>
          <a:xfrm>
            <a:off x="868680" y="5056560"/>
            <a:ext cx="2194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反讽结构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3108960" y="5056560"/>
            <a:ext cx="4937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话语反讽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情景反讽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整体反讽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20"/>
          <p:cNvSpPr/>
          <p:nvPr/>
        </p:nvSpPr>
        <p:spPr>
          <a:xfrm>
            <a:off x="8503920" y="1325880"/>
            <a:ext cx="3200040" cy="443448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8686800" y="155448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落点：主旨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8686800" y="2057400"/>
            <a:ext cx="2834280" cy="159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时间与命运不可抗拒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繁华与衰落的对照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人性的复杂与矛盾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怀旧与现实的冲突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女性的力量与悲剧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▸  </a:t>
            </a:r>
            <a:r>
              <a:rPr b="0" lang="zh-CN" sz="13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欲望、轮回与虚无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5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文学概念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术语表（一）：谁在说？从哪看？可不可信？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5"/>
          <p:cNvSpPr/>
          <p:nvPr/>
        </p:nvSpPr>
        <p:spPr>
          <a:xfrm>
            <a:off x="502920" y="859680"/>
            <a:ext cx="1097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答题时先把「叙述者」和「作者」分开，否则反讽写不出来。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ounded Rectangle 6"/>
          <p:cNvSpPr/>
          <p:nvPr/>
        </p:nvSpPr>
        <p:spPr>
          <a:xfrm>
            <a:off x="4114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7"/>
          <p:cNvSpPr/>
          <p:nvPr/>
        </p:nvSpPr>
        <p:spPr>
          <a:xfrm>
            <a:off x="6127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叙述者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8"/>
          <p:cNvSpPr/>
          <p:nvPr/>
        </p:nvSpPr>
        <p:spPr>
          <a:xfrm>
            <a:off x="6127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讲故事的那个声音。本篇冷眼旁观，口吻倾慕、赞美尹雪艳。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ounded Rectangle 9"/>
          <p:cNvSpPr/>
          <p:nvPr/>
        </p:nvSpPr>
        <p:spPr>
          <a:xfrm>
            <a:off x="42976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44989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隐含作者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11"/>
          <p:cNvSpPr/>
          <p:nvPr/>
        </p:nvSpPr>
        <p:spPr>
          <a:xfrm>
            <a:off x="44989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文本整体流露出的价值立场。本篇冷静、批判、带悲悯。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12"/>
          <p:cNvSpPr/>
          <p:nvPr/>
        </p:nvSpPr>
        <p:spPr>
          <a:xfrm>
            <a:off x="81838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13"/>
          <p:cNvSpPr/>
          <p:nvPr/>
        </p:nvSpPr>
        <p:spPr>
          <a:xfrm>
            <a:off x="83851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不可靠叙述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14"/>
          <p:cNvSpPr/>
          <p:nvPr/>
        </p:nvSpPr>
        <p:spPr>
          <a:xfrm>
            <a:off x="83851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布斯：叙述者规范 ≠ 隐含作者规范。裂隙即反讽。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Rounded Rectangle 15"/>
          <p:cNvSpPr/>
          <p:nvPr/>
        </p:nvSpPr>
        <p:spPr>
          <a:xfrm>
            <a:off x="4114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16"/>
          <p:cNvSpPr/>
          <p:nvPr/>
        </p:nvSpPr>
        <p:spPr>
          <a:xfrm>
            <a:off x="6127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全知视角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17"/>
          <p:cNvSpPr/>
          <p:nvPr/>
        </p:nvSpPr>
        <p:spPr>
          <a:xfrm>
            <a:off x="6127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能看见所有人外貌言行，但本篇刻意不进入任何人内心。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ounded Rectangle 18"/>
          <p:cNvSpPr/>
          <p:nvPr/>
        </p:nvSpPr>
        <p:spPr>
          <a:xfrm>
            <a:off x="42976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TextBox 19"/>
          <p:cNvSpPr/>
          <p:nvPr/>
        </p:nvSpPr>
        <p:spPr>
          <a:xfrm>
            <a:off x="44989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语调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tone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20"/>
          <p:cNvSpPr/>
          <p:nvPr/>
        </p:nvSpPr>
        <p:spPr>
          <a:xfrm>
            <a:off x="44989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欧阳子：嘲讽一贯，靠叙述口气传达，而非作者跳出来说。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ounded Rectangle 21"/>
          <p:cNvSpPr/>
          <p:nvPr/>
        </p:nvSpPr>
        <p:spPr>
          <a:xfrm>
            <a:off x="81838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22"/>
          <p:cNvSpPr/>
          <p:nvPr/>
        </p:nvSpPr>
        <p:spPr>
          <a:xfrm>
            <a:off x="83851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插叙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23"/>
          <p:cNvSpPr/>
          <p:nvPr/>
        </p:nvSpPr>
        <p:spPr>
          <a:xfrm>
            <a:off x="83851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主线在台北「现在」，不断插入上海往事，今昔对照。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24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5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6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文学概念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术语表（二）：形象如何被做成？意义如何溢出？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ounded Rectangle 5"/>
          <p:cNvSpPr/>
          <p:nvPr/>
        </p:nvSpPr>
        <p:spPr>
          <a:xfrm>
            <a:off x="4114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6"/>
          <p:cNvSpPr/>
          <p:nvPr/>
        </p:nvSpPr>
        <p:spPr>
          <a:xfrm>
            <a:off x="6127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以形写神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7"/>
          <p:cNvSpPr/>
          <p:nvPr/>
        </p:nvSpPr>
        <p:spPr>
          <a:xfrm>
            <a:off x="6127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传统小说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画论：写衣着、神情、动作，让精神从外形长出。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8"/>
          <p:cNvSpPr/>
          <p:nvPr/>
        </p:nvSpPr>
        <p:spPr>
          <a:xfrm>
            <a:off x="42976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9"/>
          <p:cNvSpPr/>
          <p:nvPr/>
        </p:nvSpPr>
        <p:spPr>
          <a:xfrm>
            <a:off x="44989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白描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0"/>
          <p:cNvSpPr/>
          <p:nvPr/>
        </p:nvSpPr>
        <p:spPr>
          <a:xfrm>
            <a:off x="44989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少堆形容词，抓最突出特征，三言两语神情毕现。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11"/>
          <p:cNvSpPr/>
          <p:nvPr/>
        </p:nvSpPr>
        <p:spPr>
          <a:xfrm>
            <a:off x="8183880" y="1371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12"/>
          <p:cNvSpPr/>
          <p:nvPr/>
        </p:nvSpPr>
        <p:spPr>
          <a:xfrm>
            <a:off x="838512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3"/>
          <p:cNvSpPr/>
          <p:nvPr/>
        </p:nvSpPr>
        <p:spPr>
          <a:xfrm>
            <a:off x="8385120" y="2011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表面意思与真实意思分裂。分话语、情景、人物、结构四层。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14"/>
          <p:cNvSpPr/>
          <p:nvPr/>
        </p:nvSpPr>
        <p:spPr>
          <a:xfrm>
            <a:off x="4114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15"/>
          <p:cNvSpPr/>
          <p:nvPr/>
        </p:nvSpPr>
        <p:spPr>
          <a:xfrm>
            <a:off x="6127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隐喻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6"/>
          <p:cNvSpPr/>
          <p:nvPr/>
        </p:nvSpPr>
        <p:spPr>
          <a:xfrm>
            <a:off x="6127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意象可感；隐喻以此喻彼；象征指向多层抽象意义。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17"/>
          <p:cNvSpPr/>
          <p:nvPr/>
        </p:nvSpPr>
        <p:spPr>
          <a:xfrm>
            <a:off x="42976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18"/>
          <p:cNvSpPr/>
          <p:nvPr/>
        </p:nvSpPr>
        <p:spPr>
          <a:xfrm>
            <a:off x="44989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空白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未定点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9"/>
          <p:cNvSpPr/>
          <p:nvPr/>
        </p:nvSpPr>
        <p:spPr>
          <a:xfrm>
            <a:off x="44989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伊瑟尔：意义在阅读中填补。人物失声、态度词、环境满而人空。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ounded Rectangle 20"/>
          <p:cNvSpPr/>
          <p:nvPr/>
        </p:nvSpPr>
        <p:spPr>
          <a:xfrm>
            <a:off x="8183880" y="3657600"/>
            <a:ext cx="374868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21"/>
          <p:cNvSpPr/>
          <p:nvPr/>
        </p:nvSpPr>
        <p:spPr>
          <a:xfrm>
            <a:off x="838512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对照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互文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22"/>
          <p:cNvSpPr/>
          <p:nvPr/>
        </p:nvSpPr>
        <p:spPr>
          <a:xfrm>
            <a:off x="8385120" y="4297680"/>
            <a:ext cx="3337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红、冷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热、永远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无常。妲己褒姒等典故把她读成祸水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妖孽。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7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01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文学概念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细读公式：原词必须成为论点的钉子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ounded Rectangle 5"/>
          <p:cNvSpPr/>
          <p:nvPr/>
        </p:nvSpPr>
        <p:spPr>
          <a:xfrm>
            <a:off x="457200" y="1371600"/>
            <a:ext cx="2788560" cy="31086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6"/>
          <p:cNvSpPr/>
          <p:nvPr/>
        </p:nvSpPr>
        <p:spPr>
          <a:xfrm>
            <a:off x="640080" y="15544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1  </a:t>
            </a: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引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640080" y="2194560"/>
            <a:ext cx="2422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摘关键原词，不整段抄。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如「总也不老」「却」「算是」「吃你的红」。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8"/>
          <p:cNvSpPr/>
          <p:nvPr/>
        </p:nvSpPr>
        <p:spPr>
          <a:xfrm>
            <a:off x="3108960" y="25603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ounded Rectangle 9"/>
          <p:cNvSpPr/>
          <p:nvPr/>
        </p:nvSpPr>
        <p:spPr>
          <a:xfrm>
            <a:off x="3383280" y="1371600"/>
            <a:ext cx="2788560" cy="31086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10"/>
          <p:cNvSpPr/>
          <p:nvPr/>
        </p:nvSpPr>
        <p:spPr>
          <a:xfrm>
            <a:off x="3566160" y="15544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2  </a:t>
            </a: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点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1"/>
          <p:cNvSpPr/>
          <p:nvPr/>
        </p:nvSpPr>
        <p:spPr>
          <a:xfrm>
            <a:off x="3566160" y="2194560"/>
            <a:ext cx="2422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点明概念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手法。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这是反讽、白描、空白，还是象征？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2"/>
          <p:cNvSpPr/>
          <p:nvPr/>
        </p:nvSpPr>
        <p:spPr>
          <a:xfrm>
            <a:off x="6035040" y="25603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13"/>
          <p:cNvSpPr/>
          <p:nvPr/>
        </p:nvSpPr>
        <p:spPr>
          <a:xfrm>
            <a:off x="6309360" y="1371600"/>
            <a:ext cx="2788560" cy="31086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14"/>
          <p:cNvSpPr/>
          <p:nvPr/>
        </p:nvSpPr>
        <p:spPr>
          <a:xfrm>
            <a:off x="6492240" y="15544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3  </a:t>
            </a: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析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15"/>
          <p:cNvSpPr/>
          <p:nvPr/>
        </p:nvSpPr>
        <p:spPr>
          <a:xfrm>
            <a:off x="6492240" y="2194560"/>
            <a:ext cx="2422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分析这个词如何工作。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谁在说？和上下文哪里打架？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16"/>
          <p:cNvSpPr/>
          <p:nvPr/>
        </p:nvSpPr>
        <p:spPr>
          <a:xfrm>
            <a:off x="8961120" y="2560320"/>
            <a:ext cx="319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Rounded Rectangle 17"/>
          <p:cNvSpPr/>
          <p:nvPr/>
        </p:nvSpPr>
        <p:spPr>
          <a:xfrm>
            <a:off x="9235440" y="1371600"/>
            <a:ext cx="2788560" cy="31086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TextBox 18"/>
          <p:cNvSpPr/>
          <p:nvPr/>
        </p:nvSpPr>
        <p:spPr>
          <a:xfrm>
            <a:off x="9418320" y="155448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4  </a:t>
            </a: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19"/>
          <p:cNvSpPr/>
          <p:nvPr/>
        </p:nvSpPr>
        <p:spPr>
          <a:xfrm>
            <a:off x="9418320" y="2194560"/>
            <a:ext cx="2422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落到效果与主旨。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自欺、欲望、命运、怀旧的虚无。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ounded Rectangle 20"/>
          <p:cNvSpPr/>
          <p:nvPr/>
        </p:nvSpPr>
        <p:spPr>
          <a:xfrm>
            <a:off x="457200" y="4663440"/>
            <a:ext cx="11246760" cy="1371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21"/>
          <p:cNvSpPr/>
          <p:nvPr/>
        </p:nvSpPr>
        <p:spPr>
          <a:xfrm>
            <a:off x="685800" y="48006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示范句式（可直接改写进论述）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22"/>
          <p:cNvSpPr/>
          <p:nvPr/>
        </p:nvSpPr>
        <p:spPr>
          <a:xfrm>
            <a:off x="685800" y="516636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叙述者用「永远是尹雪艳」把时间停住，这是表层赞美；但「谁能不老」的常识使这句话成为不可靠叙述的第一声。隐含作者借绝对化的「总也」，提前为全文定下反讽的调。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8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尹雪艳是整篇小说的概念枢纽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5"/>
          <p:cNvSpPr/>
          <p:nvPr/>
        </p:nvSpPr>
        <p:spPr>
          <a:xfrm>
            <a:off x="502920" y="859680"/>
            <a:ext cx="10972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先分清三层：作为「人」的性格、作为「符号」的象征、作为「叙述效果」的神秘。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"/>
          <p:cNvSpPr/>
          <p:nvPr/>
        </p:nvSpPr>
        <p:spPr>
          <a:xfrm>
            <a:off x="457200" y="1417320"/>
            <a:ext cx="3657240" cy="41601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7"/>
          <p:cNvSpPr/>
          <p:nvPr/>
        </p:nvSpPr>
        <p:spPr>
          <a:xfrm>
            <a:off x="457200" y="1417320"/>
            <a:ext cx="3657240" cy="910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8"/>
          <p:cNvSpPr/>
          <p:nvPr/>
        </p:nvSpPr>
        <p:spPr>
          <a:xfrm>
            <a:off x="685800" y="164592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表层：可见的人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9"/>
          <p:cNvSpPr/>
          <p:nvPr/>
        </p:nvSpPr>
        <p:spPr>
          <a:xfrm>
            <a:off x="685800" y="2194560"/>
            <a:ext cx="32000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容颜不老、银白旗袍、风情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社交女王：牌局、公馆、应酬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淡然世故、八面玲珑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对男女皆有吸引力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10"/>
          <p:cNvSpPr/>
          <p:nvPr/>
        </p:nvSpPr>
        <p:spPr>
          <a:xfrm>
            <a:off x="4297680" y="1417320"/>
            <a:ext cx="3657240" cy="41601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Rectangle 11"/>
          <p:cNvSpPr/>
          <p:nvPr/>
        </p:nvSpPr>
        <p:spPr>
          <a:xfrm>
            <a:off x="4297680" y="1417320"/>
            <a:ext cx="3657240" cy="910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TextBox 12"/>
          <p:cNvSpPr/>
          <p:nvPr/>
        </p:nvSpPr>
        <p:spPr>
          <a:xfrm>
            <a:off x="4526280" y="164592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中层：矛盾的性格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3"/>
          <p:cNvSpPr/>
          <p:nvPr/>
        </p:nvSpPr>
        <p:spPr>
          <a:xfrm>
            <a:off x="4526280" y="2194560"/>
            <a:ext cx="32000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冷艳 ↔ 慈悲（安抚失意者）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超然 ↔ 寄生（吃红、周旋）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圣洁（雪）↔ 魅惑（艳）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女祭司 </a:t>
            </a: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命运女神 </a:t>
            </a: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红颜祸水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4"/>
          <p:cNvSpPr/>
          <p:nvPr/>
        </p:nvSpPr>
        <p:spPr>
          <a:xfrm>
            <a:off x="8138160" y="1417320"/>
            <a:ext cx="3657240" cy="41601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Rectangle 15"/>
          <p:cNvSpPr/>
          <p:nvPr/>
        </p:nvSpPr>
        <p:spPr>
          <a:xfrm>
            <a:off x="8138160" y="1417320"/>
            <a:ext cx="3657240" cy="91080"/>
          </a:xfrm>
          <a:prstGeom prst="rect">
            <a:avLst/>
          </a:prstGeom>
          <a:solidFill>
            <a:srgbClr val="1e181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16"/>
          <p:cNvSpPr/>
          <p:nvPr/>
        </p:nvSpPr>
        <p:spPr>
          <a:xfrm>
            <a:off x="8366760" y="164592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深层：象征的功能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17"/>
          <p:cNvSpPr/>
          <p:nvPr/>
        </p:nvSpPr>
        <p:spPr>
          <a:xfrm>
            <a:off x="8366760" y="2194560"/>
            <a:ext cx="32000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时间：永恒 </a:t>
            </a: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vs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变迁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欲望：心魔与黑洞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命运：摆渡者 </a:t>
            </a: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死神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旧上海：海市蜃楼式繁华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8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19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9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名字即概念：「雪」与「艳」的矛盾统一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Rounded Rectangle 5"/>
          <p:cNvSpPr/>
          <p:nvPr/>
        </p:nvSpPr>
        <p:spPr>
          <a:xfrm>
            <a:off x="457200" y="1371600"/>
            <a:ext cx="5394600" cy="42973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6"/>
          <p:cNvSpPr/>
          <p:nvPr/>
        </p:nvSpPr>
        <p:spPr>
          <a:xfrm>
            <a:off x="731520" y="155448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雪  </a:t>
            </a:r>
            <a:r>
              <a:rPr b="1" lang="en-US" sz="18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·  </a:t>
            </a:r>
            <a:r>
              <a:rPr b="1" lang="zh-CN" sz="18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冷、白、圣洁、死亡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7"/>
          <p:cNvSpPr/>
          <p:nvPr/>
        </p:nvSpPr>
        <p:spPr>
          <a:xfrm>
            <a:off x="731520" y="2103120"/>
            <a:ext cx="484596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雪白肌肤、素白旗袍、银狐大氅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「冰雪化成的精灵」「通身银白的女祭司」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不擦胭抹粉、不穿红戴绿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内心冷酷、超然、均衡不受外界迁异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白色 </a:t>
            </a: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=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死亡寒意、花圈丧幛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8"/>
          <p:cNvSpPr/>
          <p:nvPr/>
        </p:nvSpPr>
        <p:spPr>
          <a:xfrm>
            <a:off x="6126480" y="1371600"/>
            <a:ext cx="5577480" cy="42973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9"/>
          <p:cNvSpPr/>
          <p:nvPr/>
        </p:nvSpPr>
        <p:spPr>
          <a:xfrm>
            <a:off x="6400800" y="15544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艳  </a:t>
            </a:r>
            <a:r>
              <a:rPr b="1" lang="en-US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红、热、魅惑、血光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10"/>
          <p:cNvSpPr/>
          <p:nvPr/>
        </p:nvSpPr>
        <p:spPr>
          <a:xfrm>
            <a:off x="6400800" y="2103120"/>
            <a:ext cx="502884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血红郁金香、鲜红樱桃、桃花心红木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「世人不及的风情」、舞池中的从容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重煞传说：轻则家败，重则人亡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吸引王贵生、洪处长、徐壮图前仆后继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红色 </a:t>
            </a: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=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欲望、血腥、见血预兆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1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1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10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开篇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「尹雪艳总也不老」——反讽从第一句开始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「尹雪艳总也不老。……不管人事怎么变迁，尹雪艳永远是尹雪艳，在台北仍旧穿着她那一身蝉翼纱的素白旗袍，一径那么浅浅的笑着，连眼角儿也不肯皱一下。」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反讽基调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对照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不可靠叙述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时间象征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「总也」「永远」「连……也不肯」都是绝对化。叙述者把「不老」说成事实，而非比喻。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看裂隙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同一段里，五陵年少「头上开了顶」「两鬓添了霜」。她的恒定，靠别人的衰老衬出来。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「永远」是台北人需要的幻觉。开篇已把自欺写成语法：用不容置疑的口气，说一件不可能的事。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11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风姿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旋律、拍子、柳絮：均衡即非人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「即使跳着快狐步，尹雪艳从来也没有失过分寸……像一球随风飘荡的柳絮，脚下没有扎根似的。尹雪艳有她自己的旋律。尹雪艳有她自己的拍子。绝不因外界的迁异，影响到她的均衡。」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以形写神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比喻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「柳絮」「没有扎根」：美在轻，也在无根。上海到台北，她像风，不落地。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看手法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旋律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拍子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均衡是音乐隐喻。外界「迁异」，她有自己的时间，像节拍器，不像人。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无根的轻盈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不参与历史。历史变迁是别人的；她只提供一个不变的舞台。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12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介于神灵与妖孽之间，导向「死神」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ounded Rectangle 5"/>
          <p:cNvSpPr/>
          <p:nvPr/>
        </p:nvSpPr>
        <p:spPr>
          <a:xfrm>
            <a:off x="457200" y="1371600"/>
            <a:ext cx="365724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457200" y="1371600"/>
            <a:ext cx="3657240" cy="7272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TextBox 7"/>
          <p:cNvSpPr/>
          <p:nvPr/>
        </p:nvSpPr>
        <p:spPr>
          <a:xfrm>
            <a:off x="685800" y="1600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神灵一侧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685800" y="210312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通身银白的女祭司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命运女神般安抚客人们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悲天悯人地看牌桌厮杀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对吴经理、宋太太的慈悲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9"/>
          <p:cNvSpPr/>
          <p:nvPr/>
        </p:nvSpPr>
        <p:spPr>
          <a:xfrm>
            <a:off x="4297680" y="1371600"/>
            <a:ext cx="365724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Rectangle 10"/>
          <p:cNvSpPr/>
          <p:nvPr/>
        </p:nvSpPr>
        <p:spPr>
          <a:xfrm>
            <a:off x="4297680" y="1371600"/>
            <a:ext cx="365724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TextBox 11"/>
          <p:cNvSpPr/>
          <p:nvPr/>
        </p:nvSpPr>
        <p:spPr>
          <a:xfrm>
            <a:off x="4526280" y="1600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妖孽一侧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4526280" y="210312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八字带重煞、犯白虎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吴家阿婆比作妲己、褒姒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「狐狸精」「祸水」的流言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所到之处「血光一片」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ounded Rectangle 13"/>
          <p:cNvSpPr/>
          <p:nvPr/>
        </p:nvSpPr>
        <p:spPr>
          <a:xfrm>
            <a:off x="8138160" y="1371600"/>
            <a:ext cx="365724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Rectangle 14"/>
          <p:cNvSpPr/>
          <p:nvPr/>
        </p:nvSpPr>
        <p:spPr>
          <a:xfrm>
            <a:off x="8138160" y="1371600"/>
            <a:ext cx="3657240" cy="72720"/>
          </a:xfrm>
          <a:prstGeom prst="rect">
            <a:avLst/>
          </a:prstGeom>
          <a:solidFill>
            <a:srgbClr val="1e181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TextBox 15"/>
          <p:cNvSpPr/>
          <p:nvPr/>
        </p:nvSpPr>
        <p:spPr>
          <a:xfrm>
            <a:off x="8366760" y="1600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死神化身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6"/>
          <p:cNvSpPr/>
          <p:nvPr/>
        </p:nvSpPr>
        <p:spPr>
          <a:xfrm>
            <a:off x="8366760" y="210312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不老不死，旁观众生老去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「我来吃你的红」的双关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加速纵欲者走向毁灭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命运舟楫上的清冷摆渡者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502920" y="4983480"/>
            <a:ext cx="111553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关键判断：她不是「坏女人」这么简单。神、妖、死神三种读法同时成立，人物才有张力。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她的永恒 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vs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周围人事的无常、她的清冷 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vs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众人的炙热追逐——变与不变反复对照，指向欲望腐蚀与命运无助。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18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19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13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传说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重煞：流言如何变成结构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「尹雪艳的八字带着重煞，犯了白虎，沾上的人，轻者家败，重者人亡。谁知道就是为着尹雪艳享了重煞的令誉，上海洋场的男士们都对她增加了十分的兴味。……去闯闯这颗红遍了黄浦滩的煞星儿。」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不可靠叙述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欲望象征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情节预示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谁在说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先是「姊妹淘醋心」的流言。叙述者没有否认，反而写男士因此更想冒险。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看反转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煞气本该吓退，结果变成吸引力。禁忌刺激欲望，结构上预告王、洪、徐的结局。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5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害他们的不是八字，是「兴味」本身。煞星是心魔的外衣。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14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社交掌控力，与冷艳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慈悲的双重性格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5"/>
          <p:cNvSpPr/>
          <p:nvPr/>
        </p:nvSpPr>
        <p:spPr>
          <a:xfrm>
            <a:off x="457200" y="1371600"/>
            <a:ext cx="557748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6"/>
          <p:cNvSpPr/>
          <p:nvPr/>
        </p:nvSpPr>
        <p:spPr>
          <a:xfrm>
            <a:off x="457200" y="1371600"/>
            <a:ext cx="72720" cy="45716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7"/>
          <p:cNvSpPr/>
          <p:nvPr/>
        </p:nvSpPr>
        <p:spPr>
          <a:xfrm>
            <a:off x="658440" y="1481400"/>
            <a:ext cx="5257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掌控：公馆即舞台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8"/>
          <p:cNvSpPr/>
          <p:nvPr/>
        </p:nvSpPr>
        <p:spPr>
          <a:xfrm>
            <a:off x="658440" y="1810440"/>
            <a:ext cx="5230080" cy="18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百乐门到尹公馆，她始终是全场中心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懂牌品癖性，巧妙排局，不伤和气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用「作废了的头衔」称呼旧客，恢复其优越感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对徐壮图：劝酒、点牌、特别款待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见什么人说什么话——金口难开，开口即中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概念：人物的「功能性」——她是社交机器，也是怀旧药剂。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9"/>
          <p:cNvSpPr/>
          <p:nvPr/>
        </p:nvSpPr>
        <p:spPr>
          <a:xfrm>
            <a:off x="6263640" y="1371600"/>
            <a:ext cx="548604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Rectangle 10"/>
          <p:cNvSpPr/>
          <p:nvPr/>
        </p:nvSpPr>
        <p:spPr>
          <a:xfrm>
            <a:off x="6263640" y="1371600"/>
            <a:ext cx="72720" cy="45716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TextBox 11"/>
          <p:cNvSpPr/>
          <p:nvPr/>
        </p:nvSpPr>
        <p:spPr>
          <a:xfrm>
            <a:off x="6464880" y="1481400"/>
            <a:ext cx="5166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双重：冷艳与慈悲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6464880" y="1810440"/>
            <a:ext cx="5138640" cy="15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冷：素白旗袍、距离感的微笑、处理后事的淡漠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慈：电暖炉与铁观音给吴经理；热毛巾给宋太太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「人无千日好，花无百日红」——像神谕，也像麻醉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读法提醒：慈悲可以是真的同情，也可以是经营人头、维持牌局的手腕。文本允许两种理解并存——这正是空白与反讽的接口。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1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1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15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02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人物形象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尹雪艳的象征网络（答题时按题干选一层，勿全堆）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Rounded Rectangle 5"/>
          <p:cNvSpPr/>
          <p:nvPr/>
        </p:nvSpPr>
        <p:spPr>
          <a:xfrm>
            <a:off x="411480" y="1371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6"/>
          <p:cNvSpPr/>
          <p:nvPr/>
        </p:nvSpPr>
        <p:spPr>
          <a:xfrm>
            <a:off x="612720" y="1554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1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时间的旁观者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7"/>
          <p:cNvSpPr/>
          <p:nvPr/>
        </p:nvSpPr>
        <p:spPr>
          <a:xfrm>
            <a:off x="612720" y="2057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自己恒定，见证他人老去。她是刻度，标出过去与现在的界限。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ounded Rectangle 8"/>
          <p:cNvSpPr/>
          <p:nvPr/>
        </p:nvSpPr>
        <p:spPr>
          <a:xfrm>
            <a:off x="4297680" y="1371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TextBox 9"/>
          <p:cNvSpPr/>
          <p:nvPr/>
        </p:nvSpPr>
        <p:spPr>
          <a:xfrm>
            <a:off x="4498920" y="1554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2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旧时代的残影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0"/>
          <p:cNvSpPr/>
          <p:nvPr/>
        </p:nvSpPr>
        <p:spPr>
          <a:xfrm>
            <a:off x="4498920" y="2057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公馆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上海繁华的仿制品；她周身「透着荣华的麝香」。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Rounded Rectangle 11"/>
          <p:cNvSpPr/>
          <p:nvPr/>
        </p:nvSpPr>
        <p:spPr>
          <a:xfrm>
            <a:off x="8183880" y="1371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4" name="TextBox 12"/>
          <p:cNvSpPr/>
          <p:nvPr/>
        </p:nvSpPr>
        <p:spPr>
          <a:xfrm>
            <a:off x="8385120" y="1554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3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欲望的外化 </a:t>
            </a: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心魔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13"/>
          <p:cNvSpPr/>
          <p:nvPr/>
        </p:nvSpPr>
        <p:spPr>
          <a:xfrm>
            <a:off x="8385120" y="2057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男人不是被煞气所害，是被自己的欲望吞没。她是导火索与镜子。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14"/>
          <p:cNvSpPr/>
          <p:nvPr/>
        </p:nvSpPr>
        <p:spPr>
          <a:xfrm>
            <a:off x="411480" y="3657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TextBox 15"/>
          <p:cNvSpPr/>
          <p:nvPr/>
        </p:nvSpPr>
        <p:spPr>
          <a:xfrm>
            <a:off x="612720" y="3840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4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命运 </a:t>
            </a: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死神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16"/>
          <p:cNvSpPr/>
          <p:nvPr/>
        </p:nvSpPr>
        <p:spPr>
          <a:xfrm>
            <a:off x="612720" y="4343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摆渡者、女祭司、吃红。纵欲加速死亡；她不悲不喜。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ounded Rectangle 17"/>
          <p:cNvSpPr/>
          <p:nvPr/>
        </p:nvSpPr>
        <p:spPr>
          <a:xfrm>
            <a:off x="4297680" y="3657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18"/>
          <p:cNvSpPr/>
          <p:nvPr/>
        </p:nvSpPr>
        <p:spPr>
          <a:xfrm>
            <a:off x="4498920" y="3840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5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人性的清醒与冷酷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19"/>
          <p:cNvSpPr/>
          <p:nvPr/>
        </p:nvSpPr>
        <p:spPr>
          <a:xfrm>
            <a:off x="4498920" y="4343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旁观厮杀，自己不入局——理智，也是非人。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20"/>
          <p:cNvSpPr/>
          <p:nvPr/>
        </p:nvSpPr>
        <p:spPr>
          <a:xfrm>
            <a:off x="8183880" y="3657600"/>
            <a:ext cx="3702960" cy="20844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TextBox 21"/>
          <p:cNvSpPr/>
          <p:nvPr/>
        </p:nvSpPr>
        <p:spPr>
          <a:xfrm>
            <a:off x="8385120" y="384048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6  </a:t>
            </a: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乌托邦与虚无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22"/>
          <p:cNvSpPr/>
          <p:nvPr/>
        </p:nvSpPr>
        <p:spPr>
          <a:xfrm>
            <a:off x="8385120" y="4343400"/>
            <a:ext cx="3291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尹公馆是精神欲望的乌托邦；繁华背后是枯骨，色即是空。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16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人物塑造手法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四种核心手法：由外而内，由形到神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"/>
          <p:cNvSpPr/>
          <p:nvPr/>
        </p:nvSpPr>
        <p:spPr>
          <a:xfrm>
            <a:off x="457200" y="1417320"/>
            <a:ext cx="2788560" cy="32000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6"/>
          <p:cNvSpPr/>
          <p:nvPr/>
        </p:nvSpPr>
        <p:spPr>
          <a:xfrm>
            <a:off x="658440" y="160020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658440" y="2057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以形写神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8"/>
          <p:cNvSpPr/>
          <p:nvPr/>
        </p:nvSpPr>
        <p:spPr>
          <a:xfrm>
            <a:off x="658440" y="2651760"/>
            <a:ext cx="23770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衣着、神情、动作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写出内心的「冷」与沧桑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9"/>
          <p:cNvSpPr/>
          <p:nvPr/>
        </p:nvSpPr>
        <p:spPr>
          <a:xfrm>
            <a:off x="3383280" y="1417320"/>
            <a:ext cx="2788560" cy="32000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10"/>
          <p:cNvSpPr/>
          <p:nvPr/>
        </p:nvSpPr>
        <p:spPr>
          <a:xfrm>
            <a:off x="3584520" y="160020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11"/>
          <p:cNvSpPr/>
          <p:nvPr/>
        </p:nvSpPr>
        <p:spPr>
          <a:xfrm>
            <a:off x="3584520" y="2057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白描勾勒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12"/>
          <p:cNvSpPr/>
          <p:nvPr/>
        </p:nvSpPr>
        <p:spPr>
          <a:xfrm>
            <a:off x="3584520" y="2651760"/>
            <a:ext cx="23770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抓住突出特征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三言两语，神情毕现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Rounded Rectangle 13"/>
          <p:cNvSpPr/>
          <p:nvPr/>
        </p:nvSpPr>
        <p:spPr>
          <a:xfrm>
            <a:off x="6309360" y="1417320"/>
            <a:ext cx="2788560" cy="32000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14"/>
          <p:cNvSpPr/>
          <p:nvPr/>
        </p:nvSpPr>
        <p:spPr>
          <a:xfrm>
            <a:off x="6510600" y="160020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15"/>
          <p:cNvSpPr/>
          <p:nvPr/>
        </p:nvSpPr>
        <p:spPr>
          <a:xfrm>
            <a:off x="6510600" y="2057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个性化语言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16"/>
          <p:cNvSpPr/>
          <p:nvPr/>
        </p:nvSpPr>
        <p:spPr>
          <a:xfrm>
            <a:off x="6510600" y="2651760"/>
            <a:ext cx="23770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见人说话、金口难开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话里露出寄生本质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Rounded Rectangle 17"/>
          <p:cNvSpPr/>
          <p:nvPr/>
        </p:nvSpPr>
        <p:spPr>
          <a:xfrm>
            <a:off x="9235440" y="1417320"/>
            <a:ext cx="2788560" cy="32000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8"/>
          <p:cNvSpPr/>
          <p:nvPr/>
        </p:nvSpPr>
        <p:spPr>
          <a:xfrm>
            <a:off x="9436680" y="160020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9"/>
          <p:cNvSpPr/>
          <p:nvPr/>
        </p:nvSpPr>
        <p:spPr>
          <a:xfrm>
            <a:off x="9436680" y="2057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特征性细节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20"/>
          <p:cNvSpPr/>
          <p:nvPr/>
        </p:nvSpPr>
        <p:spPr>
          <a:xfrm>
            <a:off x="9436680" y="2651760"/>
            <a:ext cx="23770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郁金香颤动、抚摩孩子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当晚成牌局 → 心理与个性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21"/>
          <p:cNvSpPr/>
          <p:nvPr/>
        </p:nvSpPr>
        <p:spPr>
          <a:xfrm>
            <a:off x="502920" y="4846320"/>
            <a:ext cx="111553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概念辨析：「以形写神」是中国传统小说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画论术语，强调外形描写通向精神气质；「白描」强调少形容词、抓特征。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二者常叠用：开篇「总也不老」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+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雪白肌肤、细挑身材，既是白描，也在以形写神。答题时点明侧重点即可。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22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23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17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人物塑造手法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以形写神：衣着之「冷」与神情之「悯」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ounded Rectangle 5"/>
          <p:cNvSpPr/>
          <p:nvPr/>
        </p:nvSpPr>
        <p:spPr>
          <a:xfrm>
            <a:off x="457200" y="1371600"/>
            <a:ext cx="557748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Rectangle 6"/>
          <p:cNvSpPr/>
          <p:nvPr/>
        </p:nvSpPr>
        <p:spPr>
          <a:xfrm>
            <a:off x="457200" y="1371600"/>
            <a:ext cx="72720" cy="45716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6" name="TextBox 7"/>
          <p:cNvSpPr/>
          <p:nvPr/>
        </p:nvSpPr>
        <p:spPr>
          <a:xfrm>
            <a:off x="658440" y="1481400"/>
            <a:ext cx="5257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形：反复写「银白」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8"/>
          <p:cNvSpPr/>
          <p:nvPr/>
        </p:nvSpPr>
        <p:spPr>
          <a:xfrm>
            <a:off x="658440" y="1810440"/>
            <a:ext cx="5230080" cy="21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概念：通过服饰、动作的精细描绘，让性格从外形中长出来。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夏天浑身银白，净扮了不得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盛宴：翻领束腰银狐大氅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寿宴：月白织锦旗袍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徐壮图祭悼：仍一身素白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一个字：冷。衣着之冷衬容貌之艳，更暗示内心冷酷；情节推进后，外冷与内冷完全融合。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ounded Rectangle 9"/>
          <p:cNvSpPr/>
          <p:nvPr/>
        </p:nvSpPr>
        <p:spPr>
          <a:xfrm>
            <a:off x="6263640" y="1371600"/>
            <a:ext cx="548604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Rectangle 10"/>
          <p:cNvSpPr/>
          <p:nvPr/>
        </p:nvSpPr>
        <p:spPr>
          <a:xfrm>
            <a:off x="6263640" y="1371600"/>
            <a:ext cx="72720" cy="45716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TextBox 11"/>
          <p:cNvSpPr/>
          <p:nvPr/>
        </p:nvSpPr>
        <p:spPr>
          <a:xfrm>
            <a:off x="6464880" y="1481400"/>
            <a:ext cx="5166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神：喷烟圈与悲天悯人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12"/>
          <p:cNvSpPr/>
          <p:nvPr/>
        </p:nvSpPr>
        <p:spPr>
          <a:xfrm>
            <a:off x="6464880" y="1810440"/>
            <a:ext cx="5138640" cy="15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麻将桌上，客人们互相厮杀时：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「叼着金嘴子的三个九，徐徐地喷着烟圈，以悲天悯人的眼光看着她这一群……狂热的互相厮杀」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效果：冷静、清醒、局外人姿态；同时「这一群」是她的，她悲悯他们也悲悯自己——美人迟暮的潜台词由此写出。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1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18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以形写神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女祭司与悲天悯人：社交场面升格为祭祀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当牌局进展激烈的当儿，尹雪艳便换上轻装，周旋在几个牌桌之间，踏着她那风一般的步子……像个通身银白的女祭司，替那些作战的人们祈祷和祭祀。」又：「叼着金嘴子的三个九，徐徐的喷着烟圈，以悲天悯人的眼光看着她这一群……狂热的互相厮杀、互相宰割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以形写神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比喻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宗教意象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旁观视角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「作战」「祈祷」「祭祀」「厮杀」「宰割」：麻将被写成战争与献祭。她不下场，只巡视。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看神情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「徐徐」「悲天悯人」是高位的怜悯。金嘴烟、喷烟圈，把冷和倦写进动作。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女祭司送人上祭坛。她悲悯的「这一群」包括自己——美人迟暮的潜台词在旁观里。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19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人物塑造手法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白描：洗练勾勒，以少胜多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5"/>
          <p:cNvSpPr/>
          <p:nvPr/>
        </p:nvSpPr>
        <p:spPr>
          <a:xfrm>
            <a:off x="502920" y="1325880"/>
            <a:ext cx="10972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概念：抓住最突出的特征，用简洁文字勾勒，三言两语神情毕现。不靠堆砌形容词，而靠「选哪几笔」。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6"/>
          <p:cNvSpPr/>
          <p:nvPr/>
        </p:nvSpPr>
        <p:spPr>
          <a:xfrm>
            <a:off x="457200" y="1828800"/>
            <a:ext cx="5577480" cy="4114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Rectangle 7"/>
          <p:cNvSpPr/>
          <p:nvPr/>
        </p:nvSpPr>
        <p:spPr>
          <a:xfrm>
            <a:off x="457200" y="1828800"/>
            <a:ext cx="72720" cy="41144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TextBox 8"/>
          <p:cNvSpPr/>
          <p:nvPr/>
        </p:nvSpPr>
        <p:spPr>
          <a:xfrm>
            <a:off x="658440" y="1938600"/>
            <a:ext cx="5257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例：吴经理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9"/>
          <p:cNvSpPr/>
          <p:nvPr/>
        </p:nvSpPr>
        <p:spPr>
          <a:xfrm>
            <a:off x="658440" y="2267640"/>
            <a:ext cx="5230080" cy="16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头发全白 </a:t>
            </a:r>
            <a:r>
              <a:rPr b="1" lang="en-US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风湿蹒跚 </a:t>
            </a:r>
            <a:r>
              <a:rPr b="1" lang="en-US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沙眼倒睫 </a:t>
            </a:r>
            <a:r>
              <a:rPr b="1" lang="en-US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眼圈溃烂露粉红肉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几笔下去：暮路英雄、晚景凄凉。读者自然对照他「银行总经理」的过去，人世沧桑不必作者直说。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功能：用「老」衬托尹雪艳的「不老」；为后文「老当益壮」的反讽预埋事实压力。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ounded Rectangle 10"/>
          <p:cNvSpPr/>
          <p:nvPr/>
        </p:nvSpPr>
        <p:spPr>
          <a:xfrm>
            <a:off x="6263640" y="1828800"/>
            <a:ext cx="5486040" cy="4114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Rectangle 11"/>
          <p:cNvSpPr/>
          <p:nvPr/>
        </p:nvSpPr>
        <p:spPr>
          <a:xfrm>
            <a:off x="6263640" y="1828800"/>
            <a:ext cx="72720" cy="41144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TextBox 12"/>
          <p:cNvSpPr/>
          <p:nvPr/>
        </p:nvSpPr>
        <p:spPr>
          <a:xfrm>
            <a:off x="6464880" y="1938600"/>
            <a:ext cx="5166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例：尹雪艳开篇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3"/>
          <p:cNvSpPr/>
          <p:nvPr/>
        </p:nvSpPr>
        <p:spPr>
          <a:xfrm>
            <a:off x="6464880" y="2267640"/>
            <a:ext cx="5138640" cy="15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「尹雪艳总也不老。」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雪白肌肤、细挑身材、俏丽恬静眉眼；「像一株晚开的玉梨花」。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精练描写突出美丽，也暗示冷酷（玉、晚开、压倒群芳）。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白描在这里同时完成「美」的建立与「非人」的预感。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4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5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20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白描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溃烂的眼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vs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万年青：几笔写成对照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吴经理：「头发确实全白了，而且患着严重的风湿，走起路来，十分蹒跚，眼睛又害沙眼……眼圈已经开始溃烂，露出粉红的肉来。」他对她说：「阿囡，看看干爹的头发都白光喽！侬还像枝万年青一式，愈来愈年轻！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白描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对照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时间主题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白发、蹒跚、倒睫、溃烂、粉红肉——专写「坏掉的身体」。粉红是衰老之红，不是喜庆。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看对照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万年青「愈来愈年轻」是不可能的植物。他的眼在流泪，她的眼角「也不肯皱一下」。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白描先把「老」钉死，后面「老当益壮」才笑得出来。事实是反讽的底板。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21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人物塑造手法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通过人物语言写性格：多声部，而非定音定调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5"/>
          <p:cNvSpPr/>
          <p:nvPr/>
        </p:nvSpPr>
        <p:spPr>
          <a:xfrm>
            <a:off x="411480" y="1325880"/>
            <a:ext cx="11338200" cy="47545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TextBox 6"/>
          <p:cNvSpPr/>
          <p:nvPr/>
        </p:nvSpPr>
        <p:spPr>
          <a:xfrm>
            <a:off x="777240" y="14173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7"/>
          <p:cNvSpPr/>
          <p:nvPr/>
        </p:nvSpPr>
        <p:spPr>
          <a:xfrm>
            <a:off x="2423160" y="14173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原话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做法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8"/>
          <p:cNvSpPr/>
          <p:nvPr/>
        </p:nvSpPr>
        <p:spPr>
          <a:xfrm>
            <a:off x="6629400" y="14173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性格与功能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Rectangle 9"/>
          <p:cNvSpPr/>
          <p:nvPr/>
        </p:nvSpPr>
        <p:spPr>
          <a:xfrm>
            <a:off x="594360" y="1783080"/>
            <a:ext cx="10972440" cy="13320"/>
          </a:xfrm>
          <a:prstGeom prst="rect">
            <a:avLst/>
          </a:prstGeom>
          <a:solidFill>
            <a:srgbClr val="d9cfc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31320" bIns="-3132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2" name="TextBox 10"/>
          <p:cNvSpPr/>
          <p:nvPr/>
        </p:nvSpPr>
        <p:spPr>
          <a:xfrm>
            <a:off x="594360" y="1920240"/>
            <a:ext cx="1554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对吴经理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Box 11"/>
          <p:cNvSpPr/>
          <p:nvPr/>
        </p:nvSpPr>
        <p:spPr>
          <a:xfrm>
            <a:off x="2240280" y="1920240"/>
            <a:ext cx="4023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「干爹才是老当益壮呢！」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12"/>
          <p:cNvSpPr/>
          <p:nvPr/>
        </p:nvSpPr>
        <p:spPr>
          <a:xfrm>
            <a:off x="6446520" y="1920240"/>
            <a:ext cx="5028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安慰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+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经营：他能引来商界人头。话语反讽：与风烛残年的外形完全相反。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13"/>
          <p:cNvSpPr/>
          <p:nvPr/>
        </p:nvSpPr>
        <p:spPr>
          <a:xfrm>
            <a:off x="594360" y="2697480"/>
            <a:ext cx="1554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对旧客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14"/>
          <p:cNvSpPr/>
          <p:nvPr/>
        </p:nvSpPr>
        <p:spPr>
          <a:xfrm>
            <a:off x="2240280" y="2697480"/>
            <a:ext cx="4023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用十几年前作废的头衔称呼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15"/>
          <p:cNvSpPr/>
          <p:nvPr/>
        </p:nvSpPr>
        <p:spPr>
          <a:xfrm>
            <a:off x="6446520" y="2697480"/>
            <a:ext cx="5028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心理按摩：优越感「如同受过诰封」。她贩卖的是身份幻觉。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16"/>
          <p:cNvSpPr/>
          <p:nvPr/>
        </p:nvSpPr>
        <p:spPr>
          <a:xfrm>
            <a:off x="594360" y="3474720"/>
            <a:ext cx="1554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对太太们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17"/>
          <p:cNvSpPr/>
          <p:nvPr/>
        </p:nvSpPr>
        <p:spPr>
          <a:xfrm>
            <a:off x="2240280" y="3474720"/>
            <a:ext cx="4023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「人无千日好，花无百日红」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18"/>
          <p:cNvSpPr/>
          <p:nvPr/>
        </p:nvSpPr>
        <p:spPr>
          <a:xfrm>
            <a:off x="6446520" y="3474720"/>
            <a:ext cx="5028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安抚焦躁，也把她们留在公馆里「烘云托月」。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19"/>
          <p:cNvSpPr/>
          <p:nvPr/>
        </p:nvSpPr>
        <p:spPr>
          <a:xfrm>
            <a:off x="594360" y="4251960"/>
            <a:ext cx="1554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对徐壮图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20"/>
          <p:cNvSpPr/>
          <p:nvPr/>
        </p:nvSpPr>
        <p:spPr>
          <a:xfrm>
            <a:off x="2240280" y="4251960"/>
            <a:ext cx="4023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「稀客……自然要跟别人不同一点」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21"/>
          <p:cNvSpPr/>
          <p:nvPr/>
        </p:nvSpPr>
        <p:spPr>
          <a:xfrm>
            <a:off x="6446520" y="4251960"/>
            <a:ext cx="5028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高雅熨帖，交际手腕；特别款待即诱惑的开始。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22"/>
          <p:cNvSpPr/>
          <p:nvPr/>
        </p:nvSpPr>
        <p:spPr>
          <a:xfrm>
            <a:off x="594360" y="5029200"/>
            <a:ext cx="1554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收束句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23"/>
          <p:cNvSpPr/>
          <p:nvPr/>
        </p:nvSpPr>
        <p:spPr>
          <a:xfrm>
            <a:off x="2240280" y="5029200"/>
            <a:ext cx="4023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「回头赢了……我来吃你的红。」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24"/>
          <p:cNvSpPr/>
          <p:nvPr/>
        </p:nvSpPr>
        <p:spPr>
          <a:xfrm>
            <a:off x="6446520" y="5029200"/>
            <a:ext cx="5028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双关：吃彩头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死神吞没。寄生本质与死亡主题叠合。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25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26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22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0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话语反讽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「老当益壮」：夸奖把衰老说成了英勇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上文写吴经理「头发确实全白了……眼圈已经开始溃烂，露出粉红的肉来」。尹雪艳却笑吟吟：「哪里的话，干爹才是老当益壮呢！」吴经理听了「心中熨帖了」，当众票了一出《坐宫》。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话语反讽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个性化语言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对照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自欺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「老当益壮」加感叹号，语气很坚定；上文的溃烂眼睛是事实压力，词义被拧弯。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看听话人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吴经理需要这句麻醉。反讽不在她「说谎」，而在他甘心被假话救起。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公馆贩卖的就是熨帖。语言替过时的人恢复尊严，也加速他们沉溺。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23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神谕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「人无千日好」：安慰话其实是判词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宋太太输了钱、感伤今昔。尹雪艳递过热毛巾：「宋家阿姊，『人无千日好，花无百日红』，谁又能保得住一辈子享荣华、受富贵呢？」文中写：这个时候，她的话「就如同神谕一般令人敬畏」。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个性化语言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互文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谚语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命运主题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谚语本是劝解，被抬成「神谕」。她不谈宋先生外遇，只谈荣华无常。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看功能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熨平脾气，也把个人悲剧说成人人难免，责任被推给命运。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说的是真的（谁也不能永远富贵），用的却是麻醉。真理可以帮人逃避。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24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人物塑造手法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特征性细节：一小处动作，托出心理与个性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ounded Rectangle 5"/>
          <p:cNvSpPr/>
          <p:nvPr/>
        </p:nvSpPr>
        <p:spPr>
          <a:xfrm>
            <a:off x="457200" y="1353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Rectangle 6"/>
          <p:cNvSpPr/>
          <p:nvPr/>
        </p:nvSpPr>
        <p:spPr>
          <a:xfrm>
            <a:off x="457200" y="135324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777240" y="146304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血红郁金香「颤巍巍地抖动」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8"/>
          <p:cNvSpPr/>
          <p:nvPr/>
        </p:nvSpPr>
        <p:spPr>
          <a:xfrm>
            <a:off x="777240" y="181044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初识徐壮图。细节把内心的热写到头饰上——白衣上的红，欲望破例外露。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ounded Rectangle 9"/>
          <p:cNvSpPr/>
          <p:nvPr/>
        </p:nvSpPr>
        <p:spPr>
          <a:xfrm>
            <a:off x="457200" y="2496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Rectangle 10"/>
          <p:cNvSpPr/>
          <p:nvPr/>
        </p:nvSpPr>
        <p:spPr>
          <a:xfrm>
            <a:off x="457200" y="249624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777240" y="260604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银耳坠「来回地浪荡」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12"/>
          <p:cNvSpPr/>
          <p:nvPr/>
        </p:nvSpPr>
        <p:spPr>
          <a:xfrm>
            <a:off x="777240" y="295344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从徐壮图眼中写出。诱惑被对象化，读者与徐壮图同时「着道」。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3"/>
          <p:cNvSpPr/>
          <p:nvPr/>
        </p:nvSpPr>
        <p:spPr>
          <a:xfrm>
            <a:off x="457200" y="3639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Rectangle 14"/>
          <p:cNvSpPr/>
          <p:nvPr/>
        </p:nvSpPr>
        <p:spPr>
          <a:xfrm>
            <a:off x="457200" y="3639240"/>
            <a:ext cx="91080" cy="102384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TextBox 15"/>
          <p:cNvSpPr/>
          <p:nvPr/>
        </p:nvSpPr>
        <p:spPr>
          <a:xfrm>
            <a:off x="777240" y="374904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葬礼：抚摩孩子的头，与徐太太握手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777240" y="409644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庄重得体的社交表演；「良心」的仪节，而非哀伤。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17"/>
          <p:cNvSpPr/>
          <p:nvPr/>
        </p:nvSpPr>
        <p:spPr>
          <a:xfrm>
            <a:off x="457200" y="4782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Rectangle 18"/>
          <p:cNvSpPr/>
          <p:nvPr/>
        </p:nvSpPr>
        <p:spPr>
          <a:xfrm>
            <a:off x="457200" y="4782240"/>
            <a:ext cx="91080" cy="10238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TextBox 19"/>
          <p:cNvSpPr/>
          <p:nvPr/>
        </p:nvSpPr>
        <p:spPr>
          <a:xfrm>
            <a:off x="777240" y="489204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当晚又成上牌局，有人是祭悼会后约好的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20"/>
          <p:cNvSpPr/>
          <p:nvPr/>
        </p:nvSpPr>
        <p:spPr>
          <a:xfrm>
            <a:off x="777240" y="5239440"/>
            <a:ext cx="10698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虚伪、狠冷、循环开始。新的「徐壮图」已经在路上。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25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03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郁金香、耳坠、樱桃：红点破了白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寿宴上她「破例的在右鬓簪上一朵酒杯大血红的郁金香」。对徐壮图说「自然要跟别人不同一点」时，「发上那朵血红的郁金香颤巍巍的抖动着」。徐壮图看见「一对银耳坠子……来回地浪荡着」。席上杏仁豆腐「上面却放着两颗鲜红的樱桃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特征性细节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色彩象征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视角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预示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「破例」「颤巍巍」「浪荡」「却」——白衣上的红不是装饰，是破戒与见血。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看视角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郁金香的抖，从旁写出她的热；耳坠的荡，从徐壮图眼里写出他已着道。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2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3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「却」把不该出现的红硬嵌进白色甜食。欲望的预兆写进一颗樱桃。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26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三条叙事线索：结构、视角、可靠性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Rounded Rectangle 5"/>
          <p:cNvSpPr/>
          <p:nvPr/>
        </p:nvSpPr>
        <p:spPr>
          <a:xfrm>
            <a:off x="457200" y="1371600"/>
            <a:ext cx="11246760" cy="1371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2" name="TextBox 6"/>
          <p:cNvSpPr/>
          <p:nvPr/>
        </p:nvSpPr>
        <p:spPr>
          <a:xfrm>
            <a:off x="731520" y="15361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插叙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7"/>
          <p:cNvSpPr/>
          <p:nvPr/>
        </p:nvSpPr>
        <p:spPr>
          <a:xfrm>
            <a:off x="3017520" y="157284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结构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8"/>
          <p:cNvSpPr/>
          <p:nvPr/>
        </p:nvSpPr>
        <p:spPr>
          <a:xfrm>
            <a:off x="731520" y="196596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总体按时间顺序：来台北 → 结识徐壮图 → 丧生 → 公馆依旧繁荣。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视点立足「现在」，不断插入上海往事，上海与台北、过去与现在交织。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ounded Rectangle 9"/>
          <p:cNvSpPr/>
          <p:nvPr/>
        </p:nvSpPr>
        <p:spPr>
          <a:xfrm>
            <a:off x="457200" y="2880360"/>
            <a:ext cx="11246760" cy="1371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10"/>
          <p:cNvSpPr/>
          <p:nvPr/>
        </p:nvSpPr>
        <p:spPr>
          <a:xfrm>
            <a:off x="731520" y="304488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全知叙事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11"/>
          <p:cNvSpPr/>
          <p:nvPr/>
        </p:nvSpPr>
        <p:spPr>
          <a:xfrm>
            <a:off x="3017520" y="30816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视角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12"/>
          <p:cNvSpPr/>
          <p:nvPr/>
        </p:nvSpPr>
        <p:spPr>
          <a:xfrm>
            <a:off x="731520" y="347472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冷眼旁观，不探入任一角色意识，只写外貌言行与情节。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刻意不同于白先勇惯用的内心透视，以制造尹雪艳的「冰冷神秘」。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Rounded Rectangle 13"/>
          <p:cNvSpPr/>
          <p:nvPr/>
        </p:nvSpPr>
        <p:spPr>
          <a:xfrm>
            <a:off x="457200" y="4389120"/>
            <a:ext cx="11246760" cy="1371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0" name="TextBox 14"/>
          <p:cNvSpPr/>
          <p:nvPr/>
        </p:nvSpPr>
        <p:spPr>
          <a:xfrm>
            <a:off x="731520" y="455364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不可靠叙述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15"/>
          <p:cNvSpPr/>
          <p:nvPr/>
        </p:nvSpPr>
        <p:spPr>
          <a:xfrm>
            <a:off x="3017520" y="45903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叙述者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16"/>
          <p:cNvSpPr/>
          <p:nvPr/>
        </p:nvSpPr>
        <p:spPr>
          <a:xfrm>
            <a:off x="731520" y="49834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叙述者口吻倾慕、赞美；隐含作者冷静批判。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表层「永远迷人」与深层「不祥、自欺」构成韦恩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·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布斯所谓的不可信叙述。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17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18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27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插叙：现在与过去、台北和上海的交织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Rounded Rectangle 5"/>
          <p:cNvSpPr/>
          <p:nvPr/>
        </p:nvSpPr>
        <p:spPr>
          <a:xfrm>
            <a:off x="457200" y="1371600"/>
            <a:ext cx="5577480" cy="4525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6"/>
          <p:cNvSpPr/>
          <p:nvPr/>
        </p:nvSpPr>
        <p:spPr>
          <a:xfrm>
            <a:off x="685800" y="15544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主线（现在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台北）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7"/>
          <p:cNvSpPr/>
          <p:nvPr/>
        </p:nvSpPr>
        <p:spPr>
          <a:xfrm>
            <a:off x="685800" y="2057400"/>
            <a:ext cx="5120280" cy="12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1.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尹雪艳到台北后仍像当年那样迷人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2.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结识新兴实业巨子徐壮图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3.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徐壮图因迷她而丧生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4.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死后尹公馆仍像以前一样繁荣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8"/>
          <p:cNvSpPr/>
          <p:nvPr/>
        </p:nvSpPr>
        <p:spPr>
          <a:xfrm>
            <a:off x="6263640" y="1371600"/>
            <a:ext cx="5486040" cy="4525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TextBox 9"/>
          <p:cNvSpPr/>
          <p:nvPr/>
        </p:nvSpPr>
        <p:spPr>
          <a:xfrm>
            <a:off x="6492240" y="15544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插入层（过去 </a:t>
            </a: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</a:t>
            </a:r>
            <a:r>
              <a:rPr b="1" lang="zh-CN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上海）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10"/>
          <p:cNvSpPr/>
          <p:nvPr/>
        </p:nvSpPr>
        <p:spPr>
          <a:xfrm>
            <a:off x="6492240" y="2057400"/>
            <a:ext cx="5028840" cy="12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1.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百乐门舞皇后、玉梨花压倒群芳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2.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王贵生官商勾结下狱枪毙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3.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洪处长休妻弃子，后丢官破产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4.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尹公馆对霞飞路排场的刻意维持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11"/>
          <p:cNvSpPr/>
          <p:nvPr/>
        </p:nvSpPr>
        <p:spPr>
          <a:xfrm>
            <a:off x="6492240" y="4663440"/>
            <a:ext cx="5028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效果：社会历史变迁进入命运；「永远」被证明是复制与循环，不是真的静止。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Box 12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13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28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9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0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全知叙事与冷静嘲讽（语调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tone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Box 5"/>
          <p:cNvSpPr/>
          <p:nvPr/>
        </p:nvSpPr>
        <p:spPr>
          <a:xfrm>
            <a:off x="502920" y="1298520"/>
            <a:ext cx="11155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欧阳子：《永远的尹雪艳》是《台北人》中嘲讽意味最浓的一篇。作者完全隔离，冷眼旁观；嘲讽前后一贯，藉由叙述者口吻传达。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Rounded Rectangle 6"/>
          <p:cNvSpPr/>
          <p:nvPr/>
        </p:nvSpPr>
        <p:spPr>
          <a:xfrm>
            <a:off x="457200" y="2011680"/>
            <a:ext cx="5623200" cy="1828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7"/>
          <p:cNvSpPr/>
          <p:nvPr/>
        </p:nvSpPr>
        <p:spPr>
          <a:xfrm>
            <a:off x="685800" y="21945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有所保留的全知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8"/>
          <p:cNvSpPr/>
          <p:nvPr/>
        </p:nvSpPr>
        <p:spPr>
          <a:xfrm>
            <a:off x="685800" y="2651760"/>
            <a:ext cx="5211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不进入任何人的内心。尹雪艳因此无法被「理解」为普通人，神秘感成立，象征性才站得住。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Rounded Rectangle 9"/>
          <p:cNvSpPr/>
          <p:nvPr/>
        </p:nvSpPr>
        <p:spPr>
          <a:xfrm>
            <a:off x="6309360" y="2011680"/>
            <a:ext cx="5623200" cy="1828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7" name="TextBox 10"/>
          <p:cNvSpPr/>
          <p:nvPr/>
        </p:nvSpPr>
        <p:spPr>
          <a:xfrm>
            <a:off x="6537960" y="21945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表层话语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11"/>
          <p:cNvSpPr/>
          <p:nvPr/>
        </p:nvSpPr>
        <p:spPr>
          <a:xfrm>
            <a:off x="6537960" y="2651760"/>
            <a:ext cx="5211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叙述者只写她美丽、称职、永远浅笑。表层含义必须先成立，隐含作者的批判才能与之对立。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12"/>
          <p:cNvSpPr/>
          <p:nvPr/>
        </p:nvSpPr>
        <p:spPr>
          <a:xfrm>
            <a:off x="457200" y="3977640"/>
            <a:ext cx="5623200" cy="1828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0" name="TextBox 13"/>
          <p:cNvSpPr/>
          <p:nvPr/>
        </p:nvSpPr>
        <p:spPr>
          <a:xfrm>
            <a:off x="685800" y="41605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语调即反讽通道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14"/>
          <p:cNvSpPr/>
          <p:nvPr/>
        </p:nvSpPr>
        <p:spPr>
          <a:xfrm>
            <a:off x="685800" y="4617720"/>
            <a:ext cx="5211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客观冷静 ≠ 没有态度。越是不动声色地记录「宾至如归」「心甘情愿」，谴责与同情越沉郁。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15"/>
          <p:cNvSpPr/>
          <p:nvPr/>
        </p:nvSpPr>
        <p:spPr>
          <a:xfrm>
            <a:off x="6309360" y="3977640"/>
            <a:ext cx="5623200" cy="18284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16"/>
          <p:cNvSpPr/>
          <p:nvPr/>
        </p:nvSpPr>
        <p:spPr>
          <a:xfrm>
            <a:off x="6537960" y="41605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与白先勇习惯对照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17"/>
          <p:cNvSpPr/>
          <p:nvPr/>
        </p:nvSpPr>
        <p:spPr>
          <a:xfrm>
            <a:off x="6537960" y="4617720"/>
            <a:ext cx="5211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他通常展开内心以博取认同与悲悯；本篇反其道，正是为「冰冷」与「嘲讽」服务。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8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9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29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不可靠叙述：叙述者 ≠ 隐含作者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ounded Rectangle 5"/>
          <p:cNvSpPr/>
          <p:nvPr/>
        </p:nvSpPr>
        <p:spPr>
          <a:xfrm>
            <a:off x="457200" y="1325880"/>
            <a:ext cx="11246760" cy="105120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TextBox 6"/>
          <p:cNvSpPr/>
          <p:nvPr/>
        </p:nvSpPr>
        <p:spPr>
          <a:xfrm>
            <a:off x="685800" y="141732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韦恩</a:t>
            </a:r>
            <a:r>
              <a:rPr b="0" lang="en-US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·</a:t>
            </a: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布斯《小说修辞学》：叙述者若为作品的思想规范（隐含作者的规范）辩护或接近它，便是可靠的；反之不可靠。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本篇叙述者站在「着了道的人」一边赞美她；隐含作者则冷静、批判。裂隙即反讽。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Rounded Rectangle 7"/>
          <p:cNvSpPr/>
          <p:nvPr/>
        </p:nvSpPr>
        <p:spPr>
          <a:xfrm>
            <a:off x="457200" y="2560320"/>
            <a:ext cx="557748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Rectangle 8"/>
          <p:cNvSpPr/>
          <p:nvPr/>
        </p:nvSpPr>
        <p:spPr>
          <a:xfrm>
            <a:off x="457200" y="2560320"/>
            <a:ext cx="72720" cy="33829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5" name="TextBox 9"/>
          <p:cNvSpPr/>
          <p:nvPr/>
        </p:nvSpPr>
        <p:spPr>
          <a:xfrm>
            <a:off x="658440" y="2670120"/>
            <a:ext cx="5257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叙述者看见的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10"/>
          <p:cNvSpPr/>
          <p:nvPr/>
        </p:nvSpPr>
        <p:spPr>
          <a:xfrm>
            <a:off x="658440" y="2999160"/>
            <a:ext cx="523008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「不管人事怎么变迁，尹雪艳永远是尹雪艳」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「迷人的地方实在讲不清，数不尽」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「最称职的主人」「还算有良心」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这是被蛊惑者的感受。读者若停在这一层，会误读为赞美佳人。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ounded Rectangle 11"/>
          <p:cNvSpPr/>
          <p:nvPr/>
        </p:nvSpPr>
        <p:spPr>
          <a:xfrm>
            <a:off x="6263640" y="2560320"/>
            <a:ext cx="5486040" cy="3382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12"/>
          <p:cNvSpPr/>
          <p:nvPr/>
        </p:nvSpPr>
        <p:spPr>
          <a:xfrm>
            <a:off x="6263640" y="2560320"/>
            <a:ext cx="72720" cy="338292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13"/>
          <p:cNvSpPr/>
          <p:nvPr/>
        </p:nvSpPr>
        <p:spPr>
          <a:xfrm>
            <a:off x="6464880" y="2670120"/>
            <a:ext cx="5166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隐含作者埋下的「漏洞」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14"/>
          <p:cNvSpPr/>
          <p:nvPr/>
        </p:nvSpPr>
        <p:spPr>
          <a:xfrm>
            <a:off x="6464880" y="2999160"/>
            <a:ext cx="513864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王贵生枪毙那天，她只在百乐门「停了一宵」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离洪处长「还算有良心」——带走家当与仆人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徐壮图葬礼当晚即开牌局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敏感读者从自相矛盾中读出言外之意：薄情、虚伪、循环。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15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16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30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态度词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「算是」「还算」：叙述者替她开脱，读者听见冷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当王贵生犯上官商勾结的重罪，下狱枪毙的那一天，尹雪艳在百乐门停了一宵，算是对王贵生致了哀。」「尹雪艳离开洪处长时还算有良心，除了自己的家当外，只带走一个从上海跟来的名厨司及两个苏州娘姨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不可靠叙述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空白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语气词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「停了一宵」「算是」把哀悼缩成一夜；「还算有良心」先褒后贬，良心被家当和仆人抵消。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看谁在说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叙述者像在帮她说话。敏感读者听见的是开脱失败——薄情被「良心」二字反衬出来。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态度词是空白，也是反讽开关。她的内心始终不写，只留下这些不肯诚实的修饰。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31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04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叙事手法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不可靠叙述的两个目的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ounded Rectangle 5"/>
          <p:cNvSpPr/>
          <p:nvPr/>
        </p:nvSpPr>
        <p:spPr>
          <a:xfrm>
            <a:off x="457200" y="1371600"/>
            <a:ext cx="557748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0" name="TextBox 6"/>
          <p:cNvSpPr/>
          <p:nvPr/>
        </p:nvSpPr>
        <p:spPr>
          <a:xfrm>
            <a:off x="685800" y="155448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一、让读者先「着道」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"/>
          <p:cNvSpPr/>
          <p:nvPr/>
        </p:nvSpPr>
        <p:spPr>
          <a:xfrm>
            <a:off x="685800" y="2103120"/>
            <a:ext cx="512028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尹雪艳的魅力依赖视听嗅觉，文字难以直接传递，故叙述者用夸张比喻：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「冰雪化成的精灵，冷艳逼人」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「像一阵三月的微风……全场的人都好像给这阵风熏中了」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读者须先感到难以抗拒，才能理解悲剧：人难以抗拒她，正如难以抗拒欲望与死亡。这是人类本能弱点造成的永恒悲剧。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8"/>
          <p:cNvSpPr/>
          <p:nvPr/>
        </p:nvSpPr>
        <p:spPr>
          <a:xfrm>
            <a:off x="6263640" y="1371600"/>
            <a:ext cx="548604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3" name="TextBox 9"/>
          <p:cNvSpPr/>
          <p:nvPr/>
        </p:nvSpPr>
        <p:spPr>
          <a:xfrm>
            <a:off x="6492240" y="15544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二、使象征性浮现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10"/>
          <p:cNvSpPr/>
          <p:nvPr/>
        </p:nvSpPr>
        <p:spPr>
          <a:xfrm>
            <a:off x="6492240" y="2103120"/>
            <a:ext cx="502884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反讽造成形象的不确定性：「永远不老」「血光一片」都不像真人。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她象征心魔——永远无法满足却不由自主受其吸引的欲望；过度欲望加速毁灭。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尹雪艳像镜子，反照出人们不肯正视台北荒凉与身份跌落、自欺欺人的真面目。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1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TextBox 1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32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05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空白手法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伊瑟尔：文本是充满「未定点」与「空白」的结构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ounded Rectangle 5"/>
          <p:cNvSpPr/>
          <p:nvPr/>
        </p:nvSpPr>
        <p:spPr>
          <a:xfrm>
            <a:off x="457200" y="1353240"/>
            <a:ext cx="11246760" cy="123408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2" name="TextBox 6"/>
          <p:cNvSpPr/>
          <p:nvPr/>
        </p:nvSpPr>
        <p:spPr>
          <a:xfrm>
            <a:off x="685800" y="1508760"/>
            <a:ext cx="107895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5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沃尔夫冈</a:t>
            </a:r>
            <a:r>
              <a:rPr b="0" lang="en-US" sz="15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·</a:t>
            </a:r>
            <a:r>
              <a:rPr b="0" lang="zh-CN" sz="15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伊瑟尔（接受美学）：作品意义不在文本里封存完毕，而在阅读中对空白的填补。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5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本篇的空白是综合性手法——可以是人物空白、环境空白，也可以是情节空白。它服务于象征，而不是故弄玄虚。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Rounded Rectangle 7"/>
          <p:cNvSpPr/>
          <p:nvPr/>
        </p:nvSpPr>
        <p:spPr>
          <a:xfrm>
            <a:off x="457200" y="2834640"/>
            <a:ext cx="3657240" cy="3062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4" name="TextBox 8"/>
          <p:cNvSpPr/>
          <p:nvPr/>
        </p:nvSpPr>
        <p:spPr>
          <a:xfrm>
            <a:off x="658440" y="301752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人物空白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9"/>
          <p:cNvSpPr/>
          <p:nvPr/>
        </p:nvSpPr>
        <p:spPr>
          <a:xfrm>
            <a:off x="658440" y="3520440"/>
            <a:ext cx="324576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正面细描极少，年龄长相难以坐实。侧击、传说、留白如水墨，想象空间被故意撑开。开篇把她推向「非人化」。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10"/>
          <p:cNvSpPr/>
          <p:nvPr/>
        </p:nvSpPr>
        <p:spPr>
          <a:xfrm>
            <a:off x="4297680" y="2834640"/>
            <a:ext cx="3657240" cy="3062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7" name="TextBox 11"/>
          <p:cNvSpPr/>
          <p:nvPr/>
        </p:nvSpPr>
        <p:spPr>
          <a:xfrm>
            <a:off x="4498920" y="301752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环境空白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12"/>
          <p:cNvSpPr/>
          <p:nvPr/>
        </p:nvSpPr>
        <p:spPr>
          <a:xfrm>
            <a:off x="4498920" y="3520440"/>
            <a:ext cx="324576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公馆写得很满（红木、黑枕、晚香玉），尹雪艳本人却是素白「留白」。满与空对照，追问她究竟是谁。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Rounded Rectangle 13"/>
          <p:cNvSpPr/>
          <p:nvPr/>
        </p:nvSpPr>
        <p:spPr>
          <a:xfrm>
            <a:off x="8138160" y="2834640"/>
            <a:ext cx="3657240" cy="3062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14"/>
          <p:cNvSpPr/>
          <p:nvPr/>
        </p:nvSpPr>
        <p:spPr>
          <a:xfrm>
            <a:off x="8339400" y="301752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情节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心理空白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15"/>
          <p:cNvSpPr/>
          <p:nvPr/>
        </p:nvSpPr>
        <p:spPr>
          <a:xfrm>
            <a:off x="8339400" y="3520440"/>
            <a:ext cx="324576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三名男人结局写了，她的态度只用「算是」「还算」「当晚」。全文几乎没有她的心理——女主人公「失声」。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Box 16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TextBox 17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33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6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05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空白手法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空白如何生成意义：从欲望中介到命运思考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5"/>
          <p:cNvSpPr/>
          <p:nvPr/>
        </p:nvSpPr>
        <p:spPr>
          <a:xfrm>
            <a:off x="457200" y="1353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9" name="TextBox 6"/>
          <p:cNvSpPr/>
          <p:nvPr/>
        </p:nvSpPr>
        <p:spPr>
          <a:xfrm>
            <a:off x="685800" y="1463040"/>
            <a:ext cx="502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7"/>
          <p:cNvSpPr/>
          <p:nvPr/>
        </p:nvSpPr>
        <p:spPr>
          <a:xfrm>
            <a:off x="1371600" y="149040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不写内心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Box 8"/>
          <p:cNvSpPr/>
          <p:nvPr/>
        </p:nvSpPr>
        <p:spPr>
          <a:xfrm>
            <a:off x="3566160" y="151776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她不像真人，而像欲望之神、命运之神。非人</a:t>
            </a:r>
            <a:r>
              <a:rPr b="0" lang="en-US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神性的一面被空白托出。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Rounded Rectangle 9"/>
          <p:cNvSpPr/>
          <p:nvPr/>
        </p:nvSpPr>
        <p:spPr>
          <a:xfrm>
            <a:off x="457200" y="2496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TextBox 10"/>
          <p:cNvSpPr/>
          <p:nvPr/>
        </p:nvSpPr>
        <p:spPr>
          <a:xfrm>
            <a:off x="685800" y="2606040"/>
            <a:ext cx="502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11"/>
          <p:cNvSpPr/>
          <p:nvPr/>
        </p:nvSpPr>
        <p:spPr>
          <a:xfrm>
            <a:off x="1371600" y="263340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三男之死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12"/>
          <p:cNvSpPr/>
          <p:nvPr/>
        </p:nvSpPr>
        <p:spPr>
          <a:xfrm>
            <a:off x="3566160" y="266076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她只是导火索。表面煞气，实则每人被自己的欲望吞没。吴家阿婆的妲己之喻，暴露的是徐壮图内心的外化。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ounded Rectangle 13"/>
          <p:cNvSpPr/>
          <p:nvPr/>
        </p:nvSpPr>
        <p:spPr>
          <a:xfrm>
            <a:off x="457200" y="3639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7" name="TextBox 14"/>
          <p:cNvSpPr/>
          <p:nvPr/>
        </p:nvSpPr>
        <p:spPr>
          <a:xfrm>
            <a:off x="685800" y="3749040"/>
            <a:ext cx="502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15"/>
          <p:cNvSpPr/>
          <p:nvPr/>
        </p:nvSpPr>
        <p:spPr>
          <a:xfrm>
            <a:off x="1371600" y="377640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公馆乌托邦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Box 16"/>
          <p:cNvSpPr/>
          <p:nvPr/>
        </p:nvSpPr>
        <p:spPr>
          <a:xfrm>
            <a:off x="3566160" y="380376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纸醉金迷麻痹「离家的孩子」。她以近乎上帝的视角旁观厮杀，繁华被推向虚无。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Rounded Rectangle 17"/>
          <p:cNvSpPr/>
          <p:nvPr/>
        </p:nvSpPr>
        <p:spPr>
          <a:xfrm>
            <a:off x="457200" y="4782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1" name="TextBox 18"/>
          <p:cNvSpPr/>
          <p:nvPr/>
        </p:nvSpPr>
        <p:spPr>
          <a:xfrm>
            <a:off x="685800" y="4892040"/>
            <a:ext cx="502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19"/>
          <p:cNvSpPr/>
          <p:nvPr/>
        </p:nvSpPr>
        <p:spPr>
          <a:xfrm>
            <a:off x="1371600" y="4919400"/>
            <a:ext cx="2102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麻将神谕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0"/>
          <p:cNvSpPr/>
          <p:nvPr/>
        </p:nvSpPr>
        <p:spPr>
          <a:xfrm>
            <a:off x="3566160" y="494676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「一个人的命运往往不受控制」——牌局说的是人生。欲望由人而生，人摆脱不了欲望，这本身即是命运。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34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06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先分清三个概念，再看本篇如何叠用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Rounded Rectangle 5"/>
          <p:cNvSpPr/>
          <p:nvPr/>
        </p:nvSpPr>
        <p:spPr>
          <a:xfrm>
            <a:off x="457200" y="1353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1" name="TextBox 6"/>
          <p:cNvSpPr/>
          <p:nvPr/>
        </p:nvSpPr>
        <p:spPr>
          <a:xfrm>
            <a:off x="685800" y="16459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7"/>
          <p:cNvSpPr/>
          <p:nvPr/>
        </p:nvSpPr>
        <p:spPr>
          <a:xfrm>
            <a:off x="2286000" y="149040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可感知的物象，承载情思。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"/>
          <p:cNvSpPr/>
          <p:nvPr/>
        </p:nvSpPr>
        <p:spPr>
          <a:xfrm>
            <a:off x="6035040" y="1490400"/>
            <a:ext cx="5394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晚香玉、麻将、银白旗袍、郁金香、杏仁豆腐上的樱桃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9"/>
          <p:cNvSpPr/>
          <p:nvPr/>
        </p:nvSpPr>
        <p:spPr>
          <a:xfrm>
            <a:off x="457200" y="2496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5" name="TextBox 10"/>
          <p:cNvSpPr/>
          <p:nvPr/>
        </p:nvSpPr>
        <p:spPr>
          <a:xfrm>
            <a:off x="685800" y="27889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隐喻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11"/>
          <p:cNvSpPr/>
          <p:nvPr/>
        </p:nvSpPr>
        <p:spPr>
          <a:xfrm>
            <a:off x="2286000" y="263340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以此喻彼，使无生命者有感觉情欲（维柯）。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12"/>
          <p:cNvSpPr/>
          <p:nvPr/>
        </p:nvSpPr>
        <p:spPr>
          <a:xfrm>
            <a:off x="6035040" y="2633400"/>
            <a:ext cx="5394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麻将桌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人生；女祭司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送人上祭坛；晚香玉花语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危险的快乐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ounded Rectangle 13"/>
          <p:cNvSpPr/>
          <p:nvPr/>
        </p:nvSpPr>
        <p:spPr>
          <a:xfrm>
            <a:off x="457200" y="3639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9" name="TextBox 14"/>
          <p:cNvSpPr/>
          <p:nvPr/>
        </p:nvSpPr>
        <p:spPr>
          <a:xfrm>
            <a:off x="685800" y="39319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Box 15"/>
          <p:cNvSpPr/>
          <p:nvPr/>
        </p:nvSpPr>
        <p:spPr>
          <a:xfrm>
            <a:off x="2286000" y="377640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具体形象指向超越自身的抽象意义，可多层。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16"/>
          <p:cNvSpPr/>
          <p:nvPr/>
        </p:nvSpPr>
        <p:spPr>
          <a:xfrm>
            <a:off x="6035040" y="3776400"/>
            <a:ext cx="5394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尹雪艳 → 欲望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命运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时间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旧上海；白色 → 死亡；红色 → 血光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17"/>
          <p:cNvSpPr/>
          <p:nvPr/>
        </p:nvSpPr>
        <p:spPr>
          <a:xfrm>
            <a:off x="457200" y="4782240"/>
            <a:ext cx="11246760" cy="10238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3" name="TextBox 18"/>
          <p:cNvSpPr/>
          <p:nvPr/>
        </p:nvSpPr>
        <p:spPr>
          <a:xfrm>
            <a:off x="685800" y="50749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8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19"/>
          <p:cNvSpPr/>
          <p:nvPr/>
        </p:nvSpPr>
        <p:spPr>
          <a:xfrm>
            <a:off x="2286000" y="4919400"/>
            <a:ext cx="3657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人物活动的空间，反作用于人。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20"/>
          <p:cNvSpPr/>
          <p:nvPr/>
        </p:nvSpPr>
        <p:spPr>
          <a:xfrm>
            <a:off x="6035040" y="4919400"/>
            <a:ext cx="5394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尹公馆：暖炉冷气、霞飞路排场——海市蜃楼，创造并囚禁这群人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35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9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0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06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色彩隐喻：白色与红色互相对照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Rounded Rectangle 5"/>
          <p:cNvSpPr/>
          <p:nvPr/>
        </p:nvSpPr>
        <p:spPr>
          <a:xfrm>
            <a:off x="457200" y="1371600"/>
            <a:ext cx="557748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3" name="TextBox 6"/>
          <p:cNvSpPr/>
          <p:nvPr/>
        </p:nvSpPr>
        <p:spPr>
          <a:xfrm>
            <a:off x="685800" y="15544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白  </a:t>
            </a:r>
            <a:r>
              <a:rPr b="1" lang="en-US" sz="17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·  </a:t>
            </a:r>
            <a:r>
              <a:rPr b="1" lang="zh-CN" sz="1700" spc="-1" strike="noStrike">
                <a:solidFill>
                  <a:srgbClr val="5a6a78"/>
                </a:solidFill>
                <a:latin typeface="Microsoft YaHei"/>
                <a:ea typeface="Microsoft YaHei"/>
              </a:rPr>
              <a:t>宁静、圣洁、死亡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7"/>
          <p:cNvSpPr/>
          <p:nvPr/>
        </p:nvSpPr>
        <p:spPr>
          <a:xfrm>
            <a:off x="685800" y="2057400"/>
            <a:ext cx="512028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名字之「雪」、雪白肌肤、素白旗袍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玉梨花、冰雪精灵、银白女祭司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月白旗袍与绣花鞋、银坠子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雪白喷花露水的冰面巾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殡仪馆「花圈丧幛白簇簇」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葬礼上她仍素白打扮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ounded Rectangle 8"/>
          <p:cNvSpPr/>
          <p:nvPr/>
        </p:nvSpPr>
        <p:spPr>
          <a:xfrm>
            <a:off x="6263640" y="1371600"/>
            <a:ext cx="5486040" cy="45716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6" name="TextBox 9"/>
          <p:cNvSpPr/>
          <p:nvPr/>
        </p:nvSpPr>
        <p:spPr>
          <a:xfrm>
            <a:off x="6492240" y="15544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红  </a:t>
            </a:r>
            <a:r>
              <a:rPr b="1" lang="en-US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欲望、血腥、预兆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10"/>
          <p:cNvSpPr/>
          <p:nvPr/>
        </p:nvSpPr>
        <p:spPr>
          <a:xfrm>
            <a:off x="6492240" y="2057400"/>
            <a:ext cx="502884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名字之「艳」；血红郁金香破例上鬓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桃花心红木桌椅（公馆的欲望底色）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杏仁豆腐上「却」放两颗鲜红樱桃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吴经理眼圈溃烂的粉红肉（衰老之红）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「我来吃你的红」（彩头 </a:t>
            </a: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血）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b="0" lang="en-US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 </a:t>
            </a:r>
            <a:r>
              <a:rPr b="0" lang="zh-CN" sz="15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重煞见血：王、洪、徐的血光之路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1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1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36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06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四个关键意象：晚香玉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麻将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公馆 </a:t>
            </a: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·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女祭司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5"/>
          <p:cNvSpPr/>
          <p:nvPr/>
        </p:nvSpPr>
        <p:spPr>
          <a:xfrm>
            <a:off x="411480" y="1353240"/>
            <a:ext cx="566892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5" name="TextBox 6"/>
          <p:cNvSpPr/>
          <p:nvPr/>
        </p:nvSpPr>
        <p:spPr>
          <a:xfrm>
            <a:off x="640080" y="15177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晚香玉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7"/>
          <p:cNvSpPr/>
          <p:nvPr/>
        </p:nvSpPr>
        <p:spPr>
          <a:xfrm>
            <a:off x="640080" y="194760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室内本不宜放置的浓香，文中出现三次。徐壮图嗅到甜香，离开时花仍吐浓香。花语：危险的快乐。尹雪艳本身如晚香玉——由纯白转为重煞，再化为白色花圈。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Rounded Rectangle 8"/>
          <p:cNvSpPr/>
          <p:nvPr/>
        </p:nvSpPr>
        <p:spPr>
          <a:xfrm>
            <a:off x="6263640" y="1353240"/>
            <a:ext cx="566892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8" name="TextBox 9"/>
          <p:cNvSpPr/>
          <p:nvPr/>
        </p:nvSpPr>
        <p:spPr>
          <a:xfrm>
            <a:off x="6492240" y="15177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麻将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Box 10"/>
          <p:cNvSpPr/>
          <p:nvPr/>
        </p:nvSpPr>
        <p:spPr>
          <a:xfrm>
            <a:off x="6492240" y="194760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社交娱乐，也是人生缩影。「命运往往不受控制」。追求胜欲、结果未知；牌可再打，人生迷失无回路。她的口才如神谕，补给斗志，却改变不了过眼云烟。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Rounded Rectangle 11"/>
          <p:cNvSpPr/>
          <p:nvPr/>
        </p:nvSpPr>
        <p:spPr>
          <a:xfrm>
            <a:off x="411480" y="3684960"/>
            <a:ext cx="566892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1" name="TextBox 12"/>
          <p:cNvSpPr/>
          <p:nvPr/>
        </p:nvSpPr>
        <p:spPr>
          <a:xfrm>
            <a:off x="640080" y="38494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尹公馆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13"/>
          <p:cNvSpPr/>
          <p:nvPr/>
        </p:nvSpPr>
        <p:spPr>
          <a:xfrm>
            <a:off x="640080" y="427932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冬天暖炉、夏天冷气，维持霞飞路排场。作废头衔被娇声称呼，优越感如诰封。海市蜃楼、精神药剂、游子的乌托邦——也是屠宰场式的牌桌。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ounded Rectangle 14"/>
          <p:cNvSpPr/>
          <p:nvPr/>
        </p:nvSpPr>
        <p:spPr>
          <a:xfrm>
            <a:off x="6263640" y="3684960"/>
            <a:ext cx="566892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4" name="TextBox 15"/>
          <p:cNvSpPr/>
          <p:nvPr/>
        </p:nvSpPr>
        <p:spPr>
          <a:xfrm>
            <a:off x="6492240" y="38494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7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女祭司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Box 16"/>
          <p:cNvSpPr/>
          <p:nvPr/>
        </p:nvSpPr>
        <p:spPr>
          <a:xfrm>
            <a:off x="6492240" y="427932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巡视牌桌「通身银白」。暗示她将把这群人一个个送上祭坛。宗教意象把社交场面升格为祭祀与死亡仪式。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Box 17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18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37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9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0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06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晚香玉：三次甜香，一次危险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3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「整个夏天，尹雪艳的客厅中都细细的透着一股又甜又腻的晚香玉。」徐壮图入门「就嗅中一阵沁人脑肺的甜香」。半夜离开时，「客厅中的晚香玉到了半夜，吐出一蓬蓬的浓香来」。室内本不宜置晚香玉，过浓则令人呼吸困难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意象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通感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环境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7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「又甜又腻」「沁人脑肺」「吐出」——香被写成会呼吸、会吞人。腻，已经越过好闻。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看三次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布置（她的经营）→ 初入（他上钩）→ 夜半（他微醺，花仍在吐香）。香比人更持久。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5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花语是危险的快乐。她如晚香玉：由纯白转为重煞，再化为丧礼的白色花圈。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38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06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比喻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微风、精灵、观世音：神性比喻的叠用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5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盛宴：「像一阵三月的微风，轻盈盈的闪进来……全场的人都好像给这阵风薰中了一般。」「像个冰雪化成的精灵，冷艳逼人。」送徐壮图出门：「一身白色的衣衫，双手合抱在胸前，像一尊观世音。」灵堂里「仍旧一身素白打扮」，「像一阵风一般的闪了进来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比喻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以形写神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互文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9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风、精灵、观世音，都不是「女人」的比喻。薰中、冒出火，把迷恋写成中邪。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3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看叠用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观世音是慈悲；灵堂的风却让徐太太昏厥。同一身素白，救苦与索命并置。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7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8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神性比喻越多，人味越少。象征成立，靠的是这些「不像人」的句子。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39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3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4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07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语言特色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客观冷静的外壳，里面是暗示、古典与张力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ounded Rectangle 5"/>
          <p:cNvSpPr/>
          <p:nvPr/>
        </p:nvSpPr>
        <p:spPr>
          <a:xfrm>
            <a:off x="411480" y="1371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7" name="TextBox 6"/>
          <p:cNvSpPr/>
          <p:nvPr/>
        </p:nvSpPr>
        <p:spPr>
          <a:xfrm>
            <a:off x="59436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客观与冷静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TextBox 7"/>
          <p:cNvSpPr/>
          <p:nvPr/>
        </p:nvSpPr>
        <p:spPr>
          <a:xfrm>
            <a:off x="594360" y="1965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像局外人记录。表面无感情，内里炽烈：对客人谴责仍带同情——可憎、可怜、可悲。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Rounded Rectangle 8"/>
          <p:cNvSpPr/>
          <p:nvPr/>
        </p:nvSpPr>
        <p:spPr>
          <a:xfrm>
            <a:off x="4297680" y="1371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0" name="TextBox 9"/>
          <p:cNvSpPr/>
          <p:nvPr/>
        </p:nvSpPr>
        <p:spPr>
          <a:xfrm>
            <a:off x="448056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古典词语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TextBox 10"/>
          <p:cNvSpPr/>
          <p:nvPr/>
        </p:nvSpPr>
        <p:spPr>
          <a:xfrm>
            <a:off x="4480560" y="1965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体面、相干、台子、诰封……古朴清新带沧桑，与家族衰败、旧朝记忆同调。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Rounded Rectangle 11"/>
          <p:cNvSpPr/>
          <p:nvPr/>
        </p:nvSpPr>
        <p:spPr>
          <a:xfrm>
            <a:off x="8183880" y="1371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TextBox 12"/>
          <p:cNvSpPr/>
          <p:nvPr/>
        </p:nvSpPr>
        <p:spPr>
          <a:xfrm>
            <a:off x="8366760" y="1536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暗示性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Box 13"/>
          <p:cNvSpPr/>
          <p:nvPr/>
        </p:nvSpPr>
        <p:spPr>
          <a:xfrm>
            <a:off x="8366760" y="1965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煞星应验；女祭司；「尹雪艳」一名：雪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内冷善变，艳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=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外美手段。神秘阴影笼罩全文。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Rounded Rectangle 14"/>
          <p:cNvSpPr/>
          <p:nvPr/>
        </p:nvSpPr>
        <p:spPr>
          <a:xfrm>
            <a:off x="411480" y="3657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6" name="TextBox 15"/>
          <p:cNvSpPr/>
          <p:nvPr/>
        </p:nvSpPr>
        <p:spPr>
          <a:xfrm>
            <a:off x="59436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比喻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Box 16"/>
          <p:cNvSpPr/>
          <p:nvPr/>
        </p:nvSpPr>
        <p:spPr>
          <a:xfrm>
            <a:off x="594360" y="4251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玉梨花、冰雪精灵、三月微风、万年青。把不可见的魅力写成可感的形象。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Rounded Rectangle 17"/>
          <p:cNvSpPr/>
          <p:nvPr/>
        </p:nvSpPr>
        <p:spPr>
          <a:xfrm>
            <a:off x="4297680" y="3657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9" name="TextBox 18"/>
          <p:cNvSpPr/>
          <p:nvPr/>
        </p:nvSpPr>
        <p:spPr>
          <a:xfrm>
            <a:off x="448056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意象化描写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9"/>
          <p:cNvSpPr/>
          <p:nvPr/>
        </p:nvSpPr>
        <p:spPr>
          <a:xfrm>
            <a:off x="4480560" y="4251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晚香玉、服饰、麻将、挖花，把公馆写成诗意而抽象的画面，推向思辨。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Rounded Rectangle 20"/>
          <p:cNvSpPr/>
          <p:nvPr/>
        </p:nvSpPr>
        <p:spPr>
          <a:xfrm>
            <a:off x="8183880" y="3657600"/>
            <a:ext cx="3702960" cy="21027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2" name="TextBox 21"/>
          <p:cNvSpPr/>
          <p:nvPr/>
        </p:nvSpPr>
        <p:spPr>
          <a:xfrm>
            <a:off x="8366760" y="382212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对话与词汇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22"/>
          <p:cNvSpPr/>
          <p:nvPr/>
        </p:nvSpPr>
        <p:spPr>
          <a:xfrm>
            <a:off x="8366760" y="4251960"/>
            <a:ext cx="3337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对话见性格关系；「熏住」「迎过来」「冒出火」把迷恋写到动作与感官。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40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07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语言特色与反讽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反讽是贯穿全文的结构原则，不只是几句挖苦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5"/>
          <p:cNvSpPr/>
          <p:nvPr/>
        </p:nvSpPr>
        <p:spPr>
          <a:xfrm>
            <a:off x="502920" y="129852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6f655c"/>
                </a:solidFill>
                <a:latin typeface="Microsoft YaHei"/>
                <a:ea typeface="Microsoft YaHei"/>
              </a:rPr>
              <a:t>概念：表面意思与真实意思分裂；读者须克服叙述者，才能到达隐含作者。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Rounded Rectangle 6"/>
          <p:cNvSpPr/>
          <p:nvPr/>
        </p:nvSpPr>
        <p:spPr>
          <a:xfrm>
            <a:off x="457200" y="1783080"/>
            <a:ext cx="5623200" cy="1919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2" name="TextBox 7"/>
          <p:cNvSpPr/>
          <p:nvPr/>
        </p:nvSpPr>
        <p:spPr>
          <a:xfrm>
            <a:off x="685800" y="19659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话语反讽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TextBox 8"/>
          <p:cNvSpPr/>
          <p:nvPr/>
        </p:nvSpPr>
        <p:spPr>
          <a:xfrm>
            <a:off x="685800" y="2423160"/>
            <a:ext cx="5211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「老当益壮」感叹号很坚定，上文却是风湿、溃烂的眼。意义被语境扭曲；吴经理听了却「心中熨帖」。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Rounded Rectangle 9"/>
          <p:cNvSpPr/>
          <p:nvPr/>
        </p:nvSpPr>
        <p:spPr>
          <a:xfrm>
            <a:off x="6309360" y="1783080"/>
            <a:ext cx="5623200" cy="1919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5" name="TextBox 10"/>
          <p:cNvSpPr/>
          <p:nvPr/>
        </p:nvSpPr>
        <p:spPr>
          <a:xfrm>
            <a:off x="6537960" y="19659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情景反讽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11"/>
          <p:cNvSpPr/>
          <p:nvPr/>
        </p:nvSpPr>
        <p:spPr>
          <a:xfrm>
            <a:off x="6537960" y="2423160"/>
            <a:ext cx="5211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大悲（葬礼）接大喜（四大喜）；她不悲不喜。「吃你的红」点破否极泰来的痴想，对方浑然不知。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ounded Rectangle 12"/>
          <p:cNvSpPr/>
          <p:nvPr/>
        </p:nvSpPr>
        <p:spPr>
          <a:xfrm>
            <a:off x="457200" y="3840480"/>
            <a:ext cx="5623200" cy="1919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8" name="TextBox 13"/>
          <p:cNvSpPr/>
          <p:nvPr/>
        </p:nvSpPr>
        <p:spPr>
          <a:xfrm>
            <a:off x="685800" y="40233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人物反讽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TextBox 14"/>
          <p:cNvSpPr/>
          <p:nvPr/>
        </p:nvSpPr>
        <p:spPr>
          <a:xfrm>
            <a:off x="685800" y="4480560"/>
            <a:ext cx="5211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以人的身体存世，却不老不死、高位俯瞰。以虚写实、以静衬动，反讽人世厮杀。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Rounded Rectangle 15"/>
          <p:cNvSpPr/>
          <p:nvPr/>
        </p:nvSpPr>
        <p:spPr>
          <a:xfrm>
            <a:off x="6309360" y="3840480"/>
            <a:ext cx="5623200" cy="19198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1" name="TextBox 16"/>
          <p:cNvSpPr/>
          <p:nvPr/>
        </p:nvSpPr>
        <p:spPr>
          <a:xfrm>
            <a:off x="6537960" y="40233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结构反讽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TextBox 17"/>
          <p:cNvSpPr/>
          <p:nvPr/>
        </p:nvSpPr>
        <p:spPr>
          <a:xfrm>
            <a:off x="6537960" y="4480560"/>
            <a:ext cx="5211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表面：永恒人物重现京沪繁华。实际：时过境迁，人们仍执迷追逐死亡之力，用享乐逃避无常。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TextBox 18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TextBox 19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41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07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语言特色与反讽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三组对照把反讽写进结构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Rounded Rectangle 5"/>
          <p:cNvSpPr/>
          <p:nvPr/>
        </p:nvSpPr>
        <p:spPr>
          <a:xfrm>
            <a:off x="411480" y="1371600"/>
            <a:ext cx="3748680" cy="4525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0" name="Rectangle 6"/>
          <p:cNvSpPr/>
          <p:nvPr/>
        </p:nvSpPr>
        <p:spPr>
          <a:xfrm>
            <a:off x="411480" y="1371600"/>
            <a:ext cx="374868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1" name="TextBox 7"/>
          <p:cNvSpPr/>
          <p:nvPr/>
        </p:nvSpPr>
        <p:spPr>
          <a:xfrm>
            <a:off x="612720" y="1600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容颜：流逝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不逝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8"/>
          <p:cNvSpPr/>
          <p:nvPr/>
        </p:nvSpPr>
        <p:spPr>
          <a:xfrm>
            <a:off x="612720" y="2331720"/>
            <a:ext cx="3382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宋太太痴肥气喘，吴经理白发溃眼；她「像枝万年青，愈来愈年青」。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用没有止境的永生，反讽人的衰老与死亡。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「人生代代无穷已，江月年年望相似。」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Rounded Rectangle 9"/>
          <p:cNvSpPr/>
          <p:nvPr/>
        </p:nvSpPr>
        <p:spPr>
          <a:xfrm>
            <a:off x="4297680" y="1371600"/>
            <a:ext cx="3748680" cy="4525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4" name="Rectangle 10"/>
          <p:cNvSpPr/>
          <p:nvPr/>
        </p:nvSpPr>
        <p:spPr>
          <a:xfrm>
            <a:off x="4297680" y="1371600"/>
            <a:ext cx="3748680" cy="7272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5" name="TextBox 11"/>
          <p:cNvSpPr/>
          <p:nvPr/>
        </p:nvSpPr>
        <p:spPr>
          <a:xfrm>
            <a:off x="4498920" y="1600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态度：热烈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清冷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12"/>
          <p:cNvSpPr/>
          <p:nvPr/>
        </p:nvSpPr>
        <p:spPr>
          <a:xfrm>
            <a:off x="4498920" y="2331720"/>
            <a:ext cx="3382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王、洪、徐及满座新旧客人着魔追逐；她停一宵、带走家当、鞠躬握手后当晚开局。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他们需要这味精神药剂，重煞也抵不过逃避的兴味。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Rounded Rectangle 13"/>
          <p:cNvSpPr/>
          <p:nvPr/>
        </p:nvSpPr>
        <p:spPr>
          <a:xfrm>
            <a:off x="8183880" y="1371600"/>
            <a:ext cx="3748680" cy="452592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8" name="Rectangle 14"/>
          <p:cNvSpPr/>
          <p:nvPr/>
        </p:nvSpPr>
        <p:spPr>
          <a:xfrm>
            <a:off x="8183880" y="1371600"/>
            <a:ext cx="374868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9" name="TextBox 15"/>
          <p:cNvSpPr/>
          <p:nvPr/>
        </p:nvSpPr>
        <p:spPr>
          <a:xfrm>
            <a:off x="8385120" y="16002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欲望 </a:t>
            </a:r>
            <a:r>
              <a:rPr b="1" lang="en-US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/ </a:t>
            </a:r>
            <a:r>
              <a:rPr b="1" lang="zh-CN" sz="16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死亡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16"/>
          <p:cNvSpPr/>
          <p:nvPr/>
        </p:nvSpPr>
        <p:spPr>
          <a:xfrm>
            <a:off x="8385120" y="2331720"/>
            <a:ext cx="33829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公馆给人身份认同，填不满的欲望让人甘之如饴奔向冷漠。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牌局如人生。她加速纵欲者的死亡。永生与衰老、不悲不喜与为情所困——命运短暂而可笑。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17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18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42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5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07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双关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「四喜临门」与「吃你的红」：大喜即大凶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8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葬礼当晚又开牌局。吴经理和了「东、南、西、北全齐了」的大四喜，喊「人家说和了大四喜，兆头不祥。我倒楣了一辈子……从此否极泰来。」尹雪艳按着他肩膀：「干爹，快打起精神多和两盘……我来吃你的红！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情景反讽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双关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循环结构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死亡主题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2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3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大四喜民俗上主凶。他偏说否极泰来。眼泪从「烂掉了睫毛的血红眼圈」淌下，喜里已有血。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6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看双关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「吃红」是吃彩头，也是死神吞没。新客人余经理、周董事长已经入座——下一个徐壮图。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0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大悲接大喜，她不悲不喜。结构反讽完成：享乐逃避无常，牌一亮，命运已经到了。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43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7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07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细读 </a:t>
            </a: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互文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妲己、褒姒、诰封：典故把幻觉写实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ounded Rectangle 5"/>
          <p:cNvSpPr/>
          <p:nvPr/>
        </p:nvSpPr>
        <p:spPr>
          <a:xfrm>
            <a:off x="457200" y="1298520"/>
            <a:ext cx="11246760" cy="1416960"/>
          </a:xfrm>
          <a:prstGeom prst="roundRect">
            <a:avLst>
              <a:gd name="adj" fmla="val 8000"/>
            </a:avLst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6"/>
          <p:cNvSpPr/>
          <p:nvPr/>
        </p:nvSpPr>
        <p:spPr>
          <a:xfrm>
            <a:off x="640080" y="1389960"/>
            <a:ext cx="1279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1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原文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7"/>
          <p:cNvSpPr/>
          <p:nvPr/>
        </p:nvSpPr>
        <p:spPr>
          <a:xfrm>
            <a:off x="640080" y="164592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吴家阿婆：「这种事情历史上是有的：褒姒、妲己、飞燕、太真——这起祸水！……妖孽！凡是到了乱世，这些妖孽都纷纷下凡。」另一处：作废头衔经她娇声称呼，「也如同受过诰封一般，心理上恢复了不少的优越感。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8"/>
          <p:cNvSpPr/>
          <p:nvPr/>
        </p:nvSpPr>
        <p:spPr>
          <a:xfrm>
            <a:off x="502920" y="2816280"/>
            <a:ext cx="11155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调用概念：  互文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不可靠叙述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  </a:t>
            </a:r>
            <a:r>
              <a:rPr b="1" lang="en-US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·  </a:t>
            </a:r>
            <a:r>
              <a:rPr b="1" lang="zh-CN" sz="13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怀旧主题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Rounded Rectangle 9"/>
          <p:cNvSpPr/>
          <p:nvPr/>
        </p:nvSpPr>
        <p:spPr>
          <a:xfrm>
            <a:off x="45720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Rectangle 10"/>
          <p:cNvSpPr/>
          <p:nvPr/>
        </p:nvSpPr>
        <p:spPr>
          <a:xfrm>
            <a:off x="45720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5" name="TextBox 11"/>
          <p:cNvSpPr/>
          <p:nvPr/>
        </p:nvSpPr>
        <p:spPr>
          <a:xfrm>
            <a:off x="64008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抓原词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TextBox 12"/>
          <p:cNvSpPr/>
          <p:nvPr/>
        </p:nvSpPr>
        <p:spPr>
          <a:xfrm>
            <a:off x="64008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祸水名单是传统女祸叙事。阿婆的话不可全信，却暴露社会如何把男人的欲望推给女人。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Rounded Rectangle 13"/>
          <p:cNvSpPr/>
          <p:nvPr/>
        </p:nvSpPr>
        <p:spPr>
          <a:xfrm>
            <a:off x="420624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8" name="Rectangle 14"/>
          <p:cNvSpPr/>
          <p:nvPr/>
        </p:nvSpPr>
        <p:spPr>
          <a:xfrm>
            <a:off x="4206240" y="3154680"/>
            <a:ext cx="72720" cy="283428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9" name="TextBox 15"/>
          <p:cNvSpPr/>
          <p:nvPr/>
        </p:nvSpPr>
        <p:spPr>
          <a:xfrm>
            <a:off x="438912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看诰封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16"/>
          <p:cNvSpPr/>
          <p:nvPr/>
        </p:nvSpPr>
        <p:spPr>
          <a:xfrm>
            <a:off x="438912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诰封是朝廷封赠。她用一声称呼，把作废的官衔重新加冕——幻觉有仪式。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ounded Rectangle 17"/>
          <p:cNvSpPr/>
          <p:nvPr/>
        </p:nvSpPr>
        <p:spPr>
          <a:xfrm>
            <a:off x="7955280" y="3154680"/>
            <a:ext cx="3638880" cy="283428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Rectangle 18"/>
          <p:cNvSpPr/>
          <p:nvPr/>
        </p:nvSpPr>
        <p:spPr>
          <a:xfrm>
            <a:off x="7955280" y="3154680"/>
            <a:ext cx="72720" cy="283428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3" name="TextBox 19"/>
          <p:cNvSpPr/>
          <p:nvPr/>
        </p:nvSpPr>
        <p:spPr>
          <a:xfrm>
            <a:off x="8138160" y="3273480"/>
            <a:ext cx="336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落主旨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Box 20"/>
          <p:cNvSpPr/>
          <p:nvPr/>
        </p:nvSpPr>
        <p:spPr>
          <a:xfrm>
            <a:off x="8138160" y="3703320"/>
            <a:ext cx="33462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互文让她同时是妖孽与女神；诰封让公馆成为伪朝廷。台北人要的是被封过的梦。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Box 21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TextBox 22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44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08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主旨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六层主旨：由时间命运到欲望虚无（答题选切题的两三重写）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ounded Rectangle 5"/>
          <p:cNvSpPr/>
          <p:nvPr/>
        </p:nvSpPr>
        <p:spPr>
          <a:xfrm>
            <a:off x="411480" y="135324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2" name="TextBox 6"/>
          <p:cNvSpPr/>
          <p:nvPr/>
        </p:nvSpPr>
        <p:spPr>
          <a:xfrm>
            <a:off x="612720" y="149040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TextBox 7"/>
          <p:cNvSpPr/>
          <p:nvPr/>
        </p:nvSpPr>
        <p:spPr>
          <a:xfrm>
            <a:off x="1051560" y="149040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时间与命运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不可抗拒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8"/>
          <p:cNvSpPr/>
          <p:nvPr/>
        </p:nvSpPr>
        <p:spPr>
          <a:xfrm>
            <a:off x="612720" y="235908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不老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vs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衰老死亡。王、洪、徐都无法逃脱摆布。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Rounded Rectangle 9"/>
          <p:cNvSpPr/>
          <p:nvPr/>
        </p:nvSpPr>
        <p:spPr>
          <a:xfrm>
            <a:off x="4297680" y="135324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6" name="TextBox 10"/>
          <p:cNvSpPr/>
          <p:nvPr/>
        </p:nvSpPr>
        <p:spPr>
          <a:xfrm>
            <a:off x="4498920" y="149040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1"/>
          <p:cNvSpPr/>
          <p:nvPr/>
        </p:nvSpPr>
        <p:spPr>
          <a:xfrm>
            <a:off x="4937760" y="149040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繁华与衰落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的对比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12"/>
          <p:cNvSpPr/>
          <p:nvPr/>
        </p:nvSpPr>
        <p:spPr>
          <a:xfrm>
            <a:off x="4498920" y="235908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百乐门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尹公馆 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vs 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台北的今不如昔。公馆是荣光的残影。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Rounded Rectangle 13"/>
          <p:cNvSpPr/>
          <p:nvPr/>
        </p:nvSpPr>
        <p:spPr>
          <a:xfrm>
            <a:off x="8183880" y="135324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TextBox 14"/>
          <p:cNvSpPr/>
          <p:nvPr/>
        </p:nvSpPr>
        <p:spPr>
          <a:xfrm>
            <a:off x="8385120" y="149040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TextBox 15"/>
          <p:cNvSpPr/>
          <p:nvPr/>
        </p:nvSpPr>
        <p:spPr>
          <a:xfrm>
            <a:off x="8823960" y="149040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人性的复杂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与矛盾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Box 16"/>
          <p:cNvSpPr/>
          <p:nvPr/>
        </p:nvSpPr>
        <p:spPr>
          <a:xfrm>
            <a:off x="8385120" y="235908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煞气多是外界投射；她从容生活，却被读成祸水。向往与恐惧并存。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Rounded Rectangle 17"/>
          <p:cNvSpPr/>
          <p:nvPr/>
        </p:nvSpPr>
        <p:spPr>
          <a:xfrm>
            <a:off x="411480" y="368496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TextBox 18"/>
          <p:cNvSpPr/>
          <p:nvPr/>
        </p:nvSpPr>
        <p:spPr>
          <a:xfrm>
            <a:off x="612720" y="382212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19"/>
          <p:cNvSpPr/>
          <p:nvPr/>
        </p:nvSpPr>
        <p:spPr>
          <a:xfrm>
            <a:off x="1051560" y="382212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怀旧与现实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的冲突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20"/>
          <p:cNvSpPr/>
          <p:nvPr/>
        </p:nvSpPr>
        <p:spPr>
          <a:xfrm>
            <a:off x="612720" y="469080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身在当下、心在往昔。公馆是避风港，也是不肯醒来的证明。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ounded Rectangle 21"/>
          <p:cNvSpPr/>
          <p:nvPr/>
        </p:nvSpPr>
        <p:spPr>
          <a:xfrm>
            <a:off x="4297680" y="368496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22"/>
          <p:cNvSpPr/>
          <p:nvPr/>
        </p:nvSpPr>
        <p:spPr>
          <a:xfrm>
            <a:off x="4498920" y="382212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23"/>
          <p:cNvSpPr/>
          <p:nvPr/>
        </p:nvSpPr>
        <p:spPr>
          <a:xfrm>
            <a:off x="4937760" y="382212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女性的力量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与悲剧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Box 24"/>
          <p:cNvSpPr/>
          <p:nvPr/>
        </p:nvSpPr>
        <p:spPr>
          <a:xfrm>
            <a:off x="4498920" y="469080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迷倒男女，自己仍依附男性生存；被污名，也被需要。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Rounded Rectangle 25"/>
          <p:cNvSpPr/>
          <p:nvPr/>
        </p:nvSpPr>
        <p:spPr>
          <a:xfrm>
            <a:off x="8183880" y="3684960"/>
            <a:ext cx="3748680" cy="21942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TextBox 26"/>
          <p:cNvSpPr/>
          <p:nvPr/>
        </p:nvSpPr>
        <p:spPr>
          <a:xfrm>
            <a:off x="8385120" y="3822120"/>
            <a:ext cx="45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27"/>
          <p:cNvSpPr/>
          <p:nvPr/>
        </p:nvSpPr>
        <p:spPr>
          <a:xfrm>
            <a:off x="8823960" y="3822120"/>
            <a:ext cx="2880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轮回、欲望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与无常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28"/>
          <p:cNvSpPr/>
          <p:nvPr/>
        </p:nvSpPr>
        <p:spPr>
          <a:xfrm>
            <a:off x="8385120" y="4690800"/>
            <a:ext cx="33372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追逐故事一直没变。欲望之神不老，人是命运手中的玩偶。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29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Box 30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45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8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9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08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主旨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手法如何服务主旨：一条可写进论文的因果链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ounded Rectangle 5"/>
          <p:cNvSpPr/>
          <p:nvPr/>
        </p:nvSpPr>
        <p:spPr>
          <a:xfrm>
            <a:off x="411480" y="1298520"/>
            <a:ext cx="11338200" cy="4800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TextBox 6"/>
          <p:cNvSpPr/>
          <p:nvPr/>
        </p:nvSpPr>
        <p:spPr>
          <a:xfrm>
            <a:off x="640080" y="14173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手法组合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TextBox 7"/>
          <p:cNvSpPr/>
          <p:nvPr/>
        </p:nvSpPr>
        <p:spPr>
          <a:xfrm>
            <a:off x="5486400" y="1417320"/>
            <a:ext cx="2559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直接效果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8"/>
          <p:cNvSpPr/>
          <p:nvPr/>
        </p:nvSpPr>
        <p:spPr>
          <a:xfrm>
            <a:off x="8138160" y="1417320"/>
            <a:ext cx="3291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通向的主旨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ectangle 9"/>
          <p:cNvSpPr/>
          <p:nvPr/>
        </p:nvSpPr>
        <p:spPr>
          <a:xfrm>
            <a:off x="640080" y="1783080"/>
            <a:ext cx="10881000" cy="13320"/>
          </a:xfrm>
          <a:prstGeom prst="rect">
            <a:avLst/>
          </a:prstGeom>
          <a:solidFill>
            <a:srgbClr val="d9cfc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-31320" bIns="-3132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TextBox 10"/>
          <p:cNvSpPr/>
          <p:nvPr/>
        </p:nvSpPr>
        <p:spPr>
          <a:xfrm>
            <a:off x="640080" y="19202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塑造：银白 </a:t>
            </a:r>
            <a:r>
              <a:rPr b="1" lang="en-US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+ </a:t>
            </a: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不写内心 </a:t>
            </a:r>
            <a:r>
              <a:rPr b="1" lang="en-US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+ </a:t>
            </a: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细节之冷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TextBox 11"/>
          <p:cNvSpPr/>
          <p:nvPr/>
        </p:nvSpPr>
        <p:spPr>
          <a:xfrm>
            <a:off x="5486400" y="192024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人物非人化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12"/>
          <p:cNvSpPr/>
          <p:nvPr/>
        </p:nvSpPr>
        <p:spPr>
          <a:xfrm>
            <a:off x="8138160" y="19202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才能同时承担欲望、命运、死神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13"/>
          <p:cNvSpPr/>
          <p:nvPr/>
        </p:nvSpPr>
        <p:spPr>
          <a:xfrm>
            <a:off x="640080" y="256032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叙事：全知不入内 </a:t>
            </a:r>
            <a:r>
              <a:rPr b="1" lang="en-US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+ </a:t>
            </a: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倾慕口吻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14"/>
          <p:cNvSpPr/>
          <p:nvPr/>
        </p:nvSpPr>
        <p:spPr>
          <a:xfrm>
            <a:off x="5486400" y="256032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不可靠叙述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15"/>
          <p:cNvSpPr/>
          <p:nvPr/>
        </p:nvSpPr>
        <p:spPr>
          <a:xfrm>
            <a:off x="8138160" y="256032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读者经历「着迷→察觉裂隙→批判」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TextBox 16"/>
          <p:cNvSpPr/>
          <p:nvPr/>
        </p:nvSpPr>
        <p:spPr>
          <a:xfrm>
            <a:off x="640080" y="320040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插叙：上海插入台北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TextBox 17"/>
          <p:cNvSpPr/>
          <p:nvPr/>
        </p:nvSpPr>
        <p:spPr>
          <a:xfrm>
            <a:off x="5486400" y="320040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今昔对照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18"/>
          <p:cNvSpPr/>
          <p:nvPr/>
        </p:nvSpPr>
        <p:spPr>
          <a:xfrm>
            <a:off x="8138160" y="320040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怀旧是自欺，繁华是仿制品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19"/>
          <p:cNvSpPr/>
          <p:nvPr/>
        </p:nvSpPr>
        <p:spPr>
          <a:xfrm>
            <a:off x="640080" y="384048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空白：失声、态度词、环境满而人空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Box 20"/>
          <p:cNvSpPr/>
          <p:nvPr/>
        </p:nvSpPr>
        <p:spPr>
          <a:xfrm>
            <a:off x="5486400" y="384048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象征敞开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1"/>
          <p:cNvSpPr/>
          <p:nvPr/>
        </p:nvSpPr>
        <p:spPr>
          <a:xfrm>
            <a:off x="8138160" y="384048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意义在读者填补中多重实现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TextBox 22"/>
          <p:cNvSpPr/>
          <p:nvPr/>
        </p:nvSpPr>
        <p:spPr>
          <a:xfrm>
            <a:off x="640080" y="448056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色彩</a:t>
            </a:r>
            <a:r>
              <a:rPr b="1" lang="en-US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</a:t>
            </a: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晚香玉</a:t>
            </a:r>
            <a:r>
              <a:rPr b="1" lang="en-US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/</a:t>
            </a: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麻将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23"/>
          <p:cNvSpPr/>
          <p:nvPr/>
        </p:nvSpPr>
        <p:spPr>
          <a:xfrm>
            <a:off x="5486400" y="448056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感官与寓言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24"/>
          <p:cNvSpPr/>
          <p:nvPr/>
        </p:nvSpPr>
        <p:spPr>
          <a:xfrm>
            <a:off x="8138160" y="448056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危险的快乐、命运不受控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TextBox 25"/>
          <p:cNvSpPr/>
          <p:nvPr/>
        </p:nvSpPr>
        <p:spPr>
          <a:xfrm>
            <a:off x="640080" y="51206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反讽贯穿语调与结构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TextBox 26"/>
          <p:cNvSpPr/>
          <p:nvPr/>
        </p:nvSpPr>
        <p:spPr>
          <a:xfrm>
            <a:off x="5486400" y="512064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→ </a:t>
            </a:r>
            <a:r>
              <a:rPr b="1" lang="zh-CN" sz="13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主题深化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27"/>
          <p:cNvSpPr/>
          <p:nvPr/>
        </p:nvSpPr>
        <p:spPr>
          <a:xfrm>
            <a:off x="8138160" y="51206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愚顽自欺无法摆脱生死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Box 28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29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46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7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8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08  </a:t>
            </a: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主旨与答题路径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IB / </a:t>
            </a: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文学论述：把概念用对，把例子写透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Rounded Rectangle 5"/>
          <p:cNvSpPr/>
          <p:nvPr/>
        </p:nvSpPr>
        <p:spPr>
          <a:xfrm>
            <a:off x="411480" y="132588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1" name="TextBox 6"/>
          <p:cNvSpPr/>
          <p:nvPr/>
        </p:nvSpPr>
        <p:spPr>
          <a:xfrm>
            <a:off x="612720" y="143568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审题先定层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Box 7"/>
          <p:cNvSpPr/>
          <p:nvPr/>
        </p:nvSpPr>
        <p:spPr>
          <a:xfrm>
            <a:off x="612720" y="178308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问「人物」就走形象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+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塑造；问「叙事」走视角与不可靠；问「主题」必须有手法作证据，不要只复述情节。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Rounded Rectangle 8"/>
          <p:cNvSpPr/>
          <p:nvPr/>
        </p:nvSpPr>
        <p:spPr>
          <a:xfrm>
            <a:off x="6263640" y="132588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4" name="TextBox 9"/>
          <p:cNvSpPr/>
          <p:nvPr/>
        </p:nvSpPr>
        <p:spPr>
          <a:xfrm>
            <a:off x="6464880" y="143568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例子要带原文词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10"/>
          <p:cNvSpPr/>
          <p:nvPr/>
        </p:nvSpPr>
        <p:spPr>
          <a:xfrm>
            <a:off x="6464880" y="178308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「总也不老」「停了一宵」「还算有良心」「吃你的红」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「悲天悯人」「却放着两颗鲜红的樱桃」——词就是论点的钉子。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ounded Rectangle 11"/>
          <p:cNvSpPr/>
          <p:nvPr/>
        </p:nvSpPr>
        <p:spPr>
          <a:xfrm>
            <a:off x="411480" y="288036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7" name="TextBox 12"/>
          <p:cNvSpPr/>
          <p:nvPr/>
        </p:nvSpPr>
        <p:spPr>
          <a:xfrm>
            <a:off x="612720" y="299016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反讽必写裂隙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TextBox 13"/>
          <p:cNvSpPr/>
          <p:nvPr/>
        </p:nvSpPr>
        <p:spPr>
          <a:xfrm>
            <a:off x="612720" y="333756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说出「谁在说」与「谁在想」：叙述者 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 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隐含作者 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 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读者。没有这三方，反讽只是形容词。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Rounded Rectangle 14"/>
          <p:cNvSpPr/>
          <p:nvPr/>
        </p:nvSpPr>
        <p:spPr>
          <a:xfrm>
            <a:off x="6263640" y="288036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TextBox 15"/>
          <p:cNvSpPr/>
          <p:nvPr/>
        </p:nvSpPr>
        <p:spPr>
          <a:xfrm>
            <a:off x="6464880" y="299016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象征不要清单化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16"/>
          <p:cNvSpPr/>
          <p:nvPr/>
        </p:nvSpPr>
        <p:spPr>
          <a:xfrm>
            <a:off x="6464880" y="333756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一次作文选 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1–2 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个象征轴写深（欲望或时间），用色彩、空白、情节循环去支撑，比罗列六种象征更有力。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17"/>
          <p:cNvSpPr/>
          <p:nvPr/>
        </p:nvSpPr>
        <p:spPr>
          <a:xfrm>
            <a:off x="411480" y="443484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TextBox 18"/>
          <p:cNvSpPr/>
          <p:nvPr/>
        </p:nvSpPr>
        <p:spPr>
          <a:xfrm>
            <a:off x="612720" y="454464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评价可落在张力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Box 19"/>
          <p:cNvSpPr/>
          <p:nvPr/>
        </p:nvSpPr>
        <p:spPr>
          <a:xfrm>
            <a:off x="612720" y="489204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神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妖、冷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热、白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红、永远</a:t>
            </a:r>
            <a:r>
              <a:rPr b="0" lang="en-US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无常。点明张力如何让「台北人」的怀旧显出可笑与可哀。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Rounded Rectangle 20"/>
          <p:cNvSpPr/>
          <p:nvPr/>
        </p:nvSpPr>
        <p:spPr>
          <a:xfrm>
            <a:off x="6263640" y="4434840"/>
            <a:ext cx="5668920" cy="141696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6" name="TextBox 21"/>
          <p:cNvSpPr/>
          <p:nvPr/>
        </p:nvSpPr>
        <p:spPr>
          <a:xfrm>
            <a:off x="6464880" y="454464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5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常见误读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Box 22"/>
          <p:cNvSpPr/>
          <p:nvPr/>
        </p:nvSpPr>
        <p:spPr>
          <a:xfrm>
            <a:off x="6464880" y="4892040"/>
            <a:ext cx="5303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2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停在赞美佳人；或简单骂她祸水。两种都是被叙述者或吴家阿婆牵着走。文本要的是欲望与命运的思考。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Box 23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24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47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6f0e4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1" name="Rectangle 2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a3243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2" name="TextBox 3"/>
          <p:cNvSpPr/>
          <p:nvPr/>
        </p:nvSpPr>
        <p:spPr>
          <a:xfrm>
            <a:off x="502920" y="201240"/>
            <a:ext cx="10972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200" spc="-1" strike="noStrike">
                <a:solidFill>
                  <a:srgbClr val="a32432"/>
                </a:solidFill>
                <a:latin typeface="Microsoft YaHei"/>
                <a:ea typeface="Microsoft YaHei"/>
              </a:rPr>
              <a:t>复习清单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TextBox 4"/>
          <p:cNvSpPr/>
          <p:nvPr/>
        </p:nvSpPr>
        <p:spPr>
          <a:xfrm>
            <a:off x="502920" y="42048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1e1816"/>
                </a:solidFill>
                <a:latin typeface="Microsoft YaHei"/>
                <a:ea typeface="Microsoft YaHei"/>
              </a:rPr>
              <a:t>合上笔记前，能用自己的话回答这些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Rounded Rectangle 5"/>
          <p:cNvSpPr/>
          <p:nvPr/>
        </p:nvSpPr>
        <p:spPr>
          <a:xfrm>
            <a:off x="411480" y="13258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5" name="TextBox 6"/>
          <p:cNvSpPr/>
          <p:nvPr/>
        </p:nvSpPr>
        <p:spPr>
          <a:xfrm>
            <a:off x="548640" y="15271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7"/>
          <p:cNvSpPr/>
          <p:nvPr/>
        </p:nvSpPr>
        <p:spPr>
          <a:xfrm>
            <a:off x="1051560" y="14356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「尹雪艳总也不老」为何既是人物设定，又是反讽基调？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ounded Rectangle 8"/>
          <p:cNvSpPr/>
          <p:nvPr/>
        </p:nvSpPr>
        <p:spPr>
          <a:xfrm>
            <a:off x="6263640" y="13258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TextBox 9"/>
          <p:cNvSpPr/>
          <p:nvPr/>
        </p:nvSpPr>
        <p:spPr>
          <a:xfrm>
            <a:off x="6400800" y="15271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TextBox 10"/>
          <p:cNvSpPr/>
          <p:nvPr/>
        </p:nvSpPr>
        <p:spPr>
          <a:xfrm>
            <a:off x="6903720" y="14356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「雪」与「艳」如何在服饰、色彩、行为上同时展开？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Rounded Rectangle 11"/>
          <p:cNvSpPr/>
          <p:nvPr/>
        </p:nvSpPr>
        <p:spPr>
          <a:xfrm>
            <a:off x="411480" y="22402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1" name="TextBox 12"/>
          <p:cNvSpPr/>
          <p:nvPr/>
        </p:nvSpPr>
        <p:spPr>
          <a:xfrm>
            <a:off x="548640" y="24415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13"/>
          <p:cNvSpPr/>
          <p:nvPr/>
        </p:nvSpPr>
        <p:spPr>
          <a:xfrm>
            <a:off x="1051560" y="23500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以形写神、白描、细节三者，各举一例并说明效果有何不同。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Rounded Rectangle 14"/>
          <p:cNvSpPr/>
          <p:nvPr/>
        </p:nvSpPr>
        <p:spPr>
          <a:xfrm>
            <a:off x="6263640" y="22402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15"/>
          <p:cNvSpPr/>
          <p:nvPr/>
        </p:nvSpPr>
        <p:spPr>
          <a:xfrm>
            <a:off x="6400800" y="24415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TextBox 16"/>
          <p:cNvSpPr/>
          <p:nvPr/>
        </p:nvSpPr>
        <p:spPr>
          <a:xfrm>
            <a:off x="6903720" y="23500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全知但不入内心，怎样制造神秘，又怎样为嘲讽服务？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Rounded Rectangle 17"/>
          <p:cNvSpPr/>
          <p:nvPr/>
        </p:nvSpPr>
        <p:spPr>
          <a:xfrm>
            <a:off x="411480" y="31546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7" name="TextBox 18"/>
          <p:cNvSpPr/>
          <p:nvPr/>
        </p:nvSpPr>
        <p:spPr>
          <a:xfrm>
            <a:off x="548640" y="33559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Box 19"/>
          <p:cNvSpPr/>
          <p:nvPr/>
        </p:nvSpPr>
        <p:spPr>
          <a:xfrm>
            <a:off x="1051560" y="32644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叙述者说「还算有良心」，隐含作者可能想让读者感到什么？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Rounded Rectangle 20"/>
          <p:cNvSpPr/>
          <p:nvPr/>
        </p:nvSpPr>
        <p:spPr>
          <a:xfrm>
            <a:off x="6263640" y="31546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0" name="TextBox 21"/>
          <p:cNvSpPr/>
          <p:nvPr/>
        </p:nvSpPr>
        <p:spPr>
          <a:xfrm>
            <a:off x="6400800" y="33559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22"/>
          <p:cNvSpPr/>
          <p:nvPr/>
        </p:nvSpPr>
        <p:spPr>
          <a:xfrm>
            <a:off x="6903720" y="32644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空白（失声、态度词、环境）如何把她从「女人」推向「欲望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命运」？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Rounded Rectangle 23"/>
          <p:cNvSpPr/>
          <p:nvPr/>
        </p:nvSpPr>
        <p:spPr>
          <a:xfrm>
            <a:off x="411480" y="40690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3" name="TextBox 24"/>
          <p:cNvSpPr/>
          <p:nvPr/>
        </p:nvSpPr>
        <p:spPr>
          <a:xfrm>
            <a:off x="548640" y="42703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TextBox 25"/>
          <p:cNvSpPr/>
          <p:nvPr/>
        </p:nvSpPr>
        <p:spPr>
          <a:xfrm>
            <a:off x="1051560" y="41788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晚香玉三次出现，如何把「危险的快乐」写进徐壮图的路线？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Rounded Rectangle 26"/>
          <p:cNvSpPr/>
          <p:nvPr/>
        </p:nvSpPr>
        <p:spPr>
          <a:xfrm>
            <a:off x="6263640" y="40690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6" name="TextBox 27"/>
          <p:cNvSpPr/>
          <p:nvPr/>
        </p:nvSpPr>
        <p:spPr>
          <a:xfrm>
            <a:off x="6400800" y="42703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08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TextBox 28"/>
          <p:cNvSpPr/>
          <p:nvPr/>
        </p:nvSpPr>
        <p:spPr>
          <a:xfrm>
            <a:off x="6903720" y="41788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白与红在葬礼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寿宴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樱桃</a:t>
            </a:r>
            <a:r>
              <a:rPr b="0" lang="en-US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/</a:t>
            </a: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吃红四处，怎样把死亡主题视觉化？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Rounded Rectangle 29"/>
          <p:cNvSpPr/>
          <p:nvPr/>
        </p:nvSpPr>
        <p:spPr>
          <a:xfrm>
            <a:off x="411480" y="49834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TextBox 30"/>
          <p:cNvSpPr/>
          <p:nvPr/>
        </p:nvSpPr>
        <p:spPr>
          <a:xfrm>
            <a:off x="548640" y="51847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09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TextBox 31"/>
          <p:cNvSpPr/>
          <p:nvPr/>
        </p:nvSpPr>
        <p:spPr>
          <a:xfrm>
            <a:off x="1051560" y="50932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插叙让上海进入台北，对「怀旧」主题做了什么？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Rounded Rectangle 32"/>
          <p:cNvSpPr/>
          <p:nvPr/>
        </p:nvSpPr>
        <p:spPr>
          <a:xfrm>
            <a:off x="6263640" y="4983480"/>
            <a:ext cx="5668920" cy="80424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2600">
            <a:solidFill>
              <a:srgbClr val="d9cfc0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33"/>
          <p:cNvSpPr/>
          <p:nvPr/>
        </p:nvSpPr>
        <p:spPr>
          <a:xfrm>
            <a:off x="6400800" y="5184720"/>
            <a:ext cx="502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10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34"/>
          <p:cNvSpPr/>
          <p:nvPr/>
        </p:nvSpPr>
        <p:spPr>
          <a:xfrm>
            <a:off x="6903720" y="5093280"/>
            <a:ext cx="4845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300" spc="-1" strike="noStrike">
                <a:solidFill>
                  <a:srgbClr val="322a26"/>
                </a:solidFill>
                <a:latin typeface="Microsoft YaHei"/>
                <a:ea typeface="Microsoft YaHei"/>
              </a:rPr>
              <a:t>若只选一个贯穿手法统领全篇，为什么是反讽而不是象征？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TextBox 35"/>
          <p:cNvSpPr/>
          <p:nvPr/>
        </p:nvSpPr>
        <p:spPr>
          <a:xfrm>
            <a:off x="457200" y="6565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《永远的尹雪艳》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·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文学概念与手法  </a:t>
            </a: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|  </a:t>
            </a:r>
            <a:r>
              <a:rPr b="0" lang="zh-CN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白先勇《台北人》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36"/>
          <p:cNvSpPr/>
          <p:nvPr/>
        </p:nvSpPr>
        <p:spPr>
          <a:xfrm>
            <a:off x="10424160" y="656532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c8beb2"/>
                </a:solidFill>
                <a:latin typeface="Microsoft YaHei"/>
                <a:ea typeface="Microsoft YaHei"/>
              </a:rPr>
              <a:t>48  /  49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4a161c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7" name="Rectangle 2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b8935a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8" name="TextBox 3"/>
          <p:cNvSpPr/>
          <p:nvPr/>
        </p:nvSpPr>
        <p:spPr>
          <a:xfrm>
            <a:off x="731520" y="182880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zh-CN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收束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4"/>
          <p:cNvSpPr/>
          <p:nvPr/>
        </p:nvSpPr>
        <p:spPr>
          <a:xfrm>
            <a:off x="731520" y="2286000"/>
            <a:ext cx="10515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zh-CN" sz="28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永远的，不是美人，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zh-CN" sz="2800" spc="-1" strike="noStrike">
                <a:solidFill>
                  <a:srgbClr val="ffffff"/>
                </a:solidFill>
                <a:latin typeface="Microsoft YaHei"/>
                <a:ea typeface="Microsoft YaHei"/>
              </a:rPr>
              <a:t>而是欲望本身，以及人对幻觉的需要。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5"/>
          <p:cNvSpPr/>
          <p:nvPr/>
        </p:nvSpPr>
        <p:spPr>
          <a:xfrm>
            <a:off x="731520" y="3931920"/>
            <a:ext cx="10515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zh-CN" sz="1600" spc="-1" strike="noStrike">
                <a:solidFill>
                  <a:srgbClr val="e8c8c4"/>
                </a:solidFill>
                <a:latin typeface="Microsoft YaHei"/>
                <a:ea typeface="Microsoft YaHei"/>
              </a:rPr>
              <a:t>尹雪艳总也不老——因为心魔不老。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zh-CN" sz="1600" spc="-1" strike="noStrike">
                <a:solidFill>
                  <a:srgbClr val="e8c8c4"/>
                </a:solidFill>
                <a:latin typeface="Microsoft YaHei"/>
                <a:ea typeface="Microsoft YaHei"/>
              </a:rPr>
              <a:t>公馆总还开着牌局——因为自欺总还需要一个舞台。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zh-CN" sz="1600" spc="-1" strike="noStrike">
                <a:solidFill>
                  <a:srgbClr val="e8c8c4"/>
                </a:solidFill>
                <a:latin typeface="Microsoft YaHei"/>
                <a:ea typeface="Microsoft YaHei"/>
              </a:rPr>
              <a:t>文学手法的意义，是让读者在赞美的语调里，听见死亡的寒意。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6"/>
          <p:cNvSpPr/>
          <p:nvPr/>
        </p:nvSpPr>
        <p:spPr>
          <a:xfrm>
            <a:off x="731520" y="59436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zh-CN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白先勇  </a:t>
            </a:r>
            <a:r>
              <a:rPr b="0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《永远的尹雪艳》  </a:t>
            </a:r>
            <a:r>
              <a:rPr b="0" lang="en-US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·  </a:t>
            </a:r>
            <a:r>
              <a:rPr b="0" lang="zh-CN" sz="1400" spc="-1" strike="noStrike">
                <a:solidFill>
                  <a:srgbClr val="b8935a"/>
                </a:solidFill>
                <a:latin typeface="Microsoft YaHei"/>
                <a:ea typeface="Microsoft YaHei"/>
              </a:rPr>
              <a:t>《台北人》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