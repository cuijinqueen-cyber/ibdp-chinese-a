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E4A36"/>
                </a:solidFill>
                <a:latin typeface="微软雅黑"/>
                <a:ea typeface="微软雅黑"/>
              </a:rPr>
              <a:t>竹节人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4261C"/>
                </a:solidFill>
                <a:latin typeface="微软雅黑"/>
                <a:ea typeface="微软雅黑"/>
              </a:rPr>
              <a:t>从阅读中，学会把「好玩」写出来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4033"/>
                </a:solidFill>
                <a:latin typeface="微软雅黑"/>
                <a:ea typeface="微软雅黑"/>
              </a:rPr>
              <a:t>六年级 PYP 中文 · 第一课教学课件（原文导读 + 教案）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4033"/>
                </a:solidFill>
                <a:latin typeface="微软雅黑"/>
                <a:ea typeface="微软雅黑"/>
              </a:rPr>
              <a:t>统编版六年级上册 · 范锡林
课时：60 分钟 · 听说强 / 读写待提升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A36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4261C"/>
                </a:solidFill>
                <a:latin typeface="微软雅黑"/>
                <a:ea typeface="微软雅黑"/>
              </a:rPr>
              <a:t>01  学习目标与 PYP 框架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4261C"/>
                </a:solidFill>
                <a:latin typeface="微软雅黑"/>
                <a:ea typeface="微软雅黑"/>
              </a:rPr>
              <a:t>02  原文导读（三幕结构 + 教学节选）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4261C"/>
                </a:solidFill>
                <a:latin typeface="微软雅黑"/>
                <a:ea typeface="微软雅黑"/>
              </a:rPr>
              <a:t>03  一分钟教案流程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4261C"/>
                </a:solidFill>
                <a:latin typeface="微软雅黑"/>
                <a:ea typeface="微软雅黑"/>
              </a:rPr>
              <a:t>04  词语猎人与写作迁移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4261C"/>
                </a:solidFill>
                <a:latin typeface="微软雅黑"/>
                <a:ea typeface="微软雅黑"/>
              </a:rPr>
              <a:t>05  评估、反思与课后行动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4033"/>
                </a:solidFill>
                <a:latin typeface="微软雅黑"/>
                <a:ea typeface="微软雅黑"/>
              </a:rPr>
              <a:t>说明：全文请对照课本阅读；本课件提供结构导读与课堂节选，便于互动教学。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4A36"/>
                </a:solidFill>
                <a:latin typeface="微软雅黑"/>
                <a:ea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383280" cy="4572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语言目标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流利朗读重点段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理解：风靡、威风凛凛、悻悻然、津津有味、全神贯注等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概括三件事：做→斗→老师也玩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完成 80–120 字短写《我的童年小玩具》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51560"/>
            <a:ext cx="3383280" cy="4572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97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探究目标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比较作者与自己的游戏乐趣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发现：动作/声音词如何写出「好玩」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提出 1 个可继续探究的问题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383280" cy="4572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成功标准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能说出课文三件事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找出 ≥5 个「好玩」词句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短文有开头-经过-感受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有 2–3 处具体动作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4A36"/>
                </a:solidFill>
                <a:latin typeface="微软雅黑"/>
                <a:ea typeface="微软雅黑"/>
              </a:rPr>
              <a:t>PYP 框架一览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超学科主题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11556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我们是谁 / 我们如何表达自己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中心思想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9280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童年的游戏与故事，能帮助我们认识自己、连接他人，并用文字留住快乐。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关键概念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7004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联系 · 视角 · 形式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02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探究线索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44728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① 竹节人怎样被做、被玩、被记住？  ② 故事如何写出「好玩」？  ③ 我的游戏怎样用文字讲清楚？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793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学习者目标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2452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探究者 · 善于交流 · 反思者 · 心胸开阔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2011680" cy="65836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5663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A36"/>
                </a:solidFill>
                <a:latin typeface="微软雅黑"/>
                <a:ea typeface="微软雅黑"/>
              </a:rPr>
              <a:t>ATL 技能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0176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沟通（读/说/写）· 思考（比较与推断）· 自我管理（专注完成任务）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4A36"/>
                </a:solidFill>
                <a:latin typeface="微软雅黑"/>
                <a:ea typeface="微软雅黑"/>
              </a:rPr>
              <a:t>原文导读 · 整体结构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4033"/>
                </a:solidFill>
                <a:latin typeface="微软雅黑"/>
                <a:ea typeface="微软雅黑"/>
              </a:rPr>
              <a:t>作者：范锡林　｜　请打开课本对照全文阅读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474720" cy="38404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474720" cy="502920"/>
          </a:xfrm>
          <a:prstGeom prst="rect">
            <a:avLst/>
          </a:prstGeom>
          <a:solidFill>
            <a:srgbClr val="C99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A36"/>
                </a:solidFill>
                <a:latin typeface="微软雅黑"/>
                <a:ea typeface="微软雅黑"/>
              </a:rPr>
              <a:t>做竹节人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材料普通，亲手做成——乐趣自己长出来。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474720" cy="38404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474720" cy="50292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第二幕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A36"/>
                </a:solidFill>
                <a:latin typeface="微软雅黑"/>
                <a:ea typeface="微软雅黑"/>
              </a:rPr>
              <a:t>斗竹节人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课桌裂缝上的战场：威风凛凛，跺脚拍手。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1554480"/>
            <a:ext cx="3474720" cy="38404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554480"/>
            <a:ext cx="3474720" cy="50292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16276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第三幕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A36"/>
                </a:solidFill>
                <a:latin typeface="微软雅黑"/>
                <a:ea typeface="微软雅黑"/>
              </a:rPr>
              <a:t>老师也玩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没收之后的反转：悻悻然化为心满意足。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原文节选① · 做竹节人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329184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61C"/>
                </a:solidFill>
                <a:latin typeface="微软雅黑"/>
                <a:ea typeface="微软雅黑"/>
              </a:rPr>
              <a:t>【教学节选】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把毛笔杆锯成寸把长的一截，这就是竹节人的脑袋连同身躯了；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在上面钻一对小眼，供装手臂用。再锯八截短的，分别当四肢。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用一根纳鞋底的线把它们穿在一起，就成了。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把穿着九个竹节的鞋线嵌入课桌裂缝里，在下面一拉紧，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那立在裂缝上的竹节们就站成一个壮士模样——叉腿张胳膊，威风凛凛。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4A36"/>
                </a:solidFill>
                <a:latin typeface="微软雅黑"/>
                <a:ea typeface="微软雅黑"/>
              </a:rPr>
              <a:t>想一想：为什么「自己做」会让玩具更有意思？
写作迁移：写玩具时，也可以写「材料 → 步骤 → 做成后的样子」。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原文节选② · 斗竹节人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329184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61C"/>
                </a:solidFill>
                <a:latin typeface="微软雅黑"/>
                <a:ea typeface="微软雅黑"/>
              </a:rPr>
              <a:t>【教学节选】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两个竹节人放在一起，那就是搏斗了，没头没脑地对打着，不知疲倦，也永不会倒下。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下课时，教室里摆开场子，吸引了一圈黑脑袋，攒着观战，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还跺脚拍手，咋咋呼呼，好不热闹。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常要等老师进来，才知道已经上课，便一哄作鸟兽散。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上课了，意兴依然不减，手痒痒的，将课本竖在面前当屏风，跟同桌在课桌上又搏将起来……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4A36"/>
                </a:solidFill>
                <a:latin typeface="微软雅黑"/>
                <a:ea typeface="微软雅黑"/>
              </a:rPr>
              <a:t>想一想：哪一类描写最能写出「热闹」？→ 动作 + 声音
写作迁移：不要只写「大家很开心」，要写出跺脚、拍手、咋咋呼呼。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原文节选③ · 老师也玩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310896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61C"/>
                </a:solidFill>
                <a:latin typeface="微软雅黑"/>
                <a:ea typeface="微软雅黑"/>
              </a:rPr>
              <a:t>【教学节选】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竹节人被老师没收。孩子们又沮丧，又悻悻然。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后来从老师办公室门前经过，却见老师全神贯注，津津有味地玩着竹节人。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4261C"/>
                </a:solidFill>
                <a:latin typeface="微软雅黑"/>
                <a:ea typeface="微软雅黑"/>
              </a:rPr>
              <a:t>于是，先前的怨恨和沮丧化为乌有——原来大人也会被「好玩」抓住。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4A36"/>
                </a:solidFill>
                <a:latin typeface="微软雅黑"/>
                <a:ea typeface="微软雅黑"/>
              </a:rPr>
              <a:t>想一想：这个结尾为什么有力？→ 心情转折 + 共同的人性
心情线：怨恨 / 沮丧  →  全神贯注 / 津津有味  →  心满意足
写作迁移：故事里可以设计一个「小反转」。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教案流程 · 60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463040" cy="7772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0–8′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A36"/>
                </a:solidFill>
                <a:latin typeface="微软雅黑"/>
                <a:ea typeface="微软雅黑"/>
              </a:rPr>
              <a:t>Tuning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玩具时光机：分享童年游戏；抛出探究问题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463040" cy="7772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8–20′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A36"/>
                </a:solidFill>
                <a:latin typeface="微软雅黑"/>
                <a:ea typeface="微软雅黑"/>
              </a:rPr>
              <a:t>Finding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三幕速读 +「先…再…最后…」口头复述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463040" cy="7772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20–35′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A36"/>
                </a:solidFill>
                <a:latin typeface="微软雅黑"/>
                <a:ea typeface="微软雅黑"/>
              </a:rPr>
              <a:t>Sorting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词语猎人；站立 vs 搏斗对比朗读；心情翻转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463040" cy="7772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35–52′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A36"/>
                </a:solidFill>
                <a:latin typeface="微软雅黑"/>
                <a:ea typeface="微软雅黑"/>
              </a:rPr>
              <a:t>Going further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短写《我的童年小玩具》句架 + 词库迁移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463040" cy="7772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52–60′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A36"/>
                </a:solidFill>
                <a:latin typeface="微软雅黑"/>
                <a:ea typeface="微软雅黑"/>
              </a:rPr>
              <a:t>Reflection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分享朗读、反思三问、课后采访行动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教案细案（上）导入 + 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【0–8′ 导入】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1. 出示竹节人图：这是什么？怎么玩？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2. 学生分享：最迷的玩具/游戏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3. 探究问：为什么有些玩具多年后还想讲？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4. 揭示本课：读《竹节人》→ 学写「好玩」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【形成性评估】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口头完整度、用词、兴趣点（摸底）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【8–20′ 初读】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1. 范读开头，营造语感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2. 默读全文，填结构表：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   做 / 斗 / 老师｜事件｜心情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3. 口头复述：先…再…最后…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4. 快过影响理解的字词：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   风靡、嵌、悻悻然、鏖战…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61C"/>
                </a:solidFill>
                <a:latin typeface="微软雅黑"/>
                <a:ea typeface="微软雅黑"/>
              </a:rPr>
              <a:t>支架：读速慢则分段完成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教案细案（下）语言 + 写作 + 反思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566160" cy="493776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【20–35′ 精读】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核心问：哪些词让我们「看见」热闹？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找词猎手：动作/声音/样子/心情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对比朗读：威风 vs 呆傻热闹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· 情节翻转：心情如何变？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产出：找词表 + 口头释词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3566160" cy="493776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05156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【35–52′ 写作】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题目：《我的童年小玩具》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80–120 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句架：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1 开头：我小时候最迷…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2 经过：外形 + ≥2 动作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3 感受：玩时/回想…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先口述 1′ → 再限时写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914400"/>
            <a:ext cx="3566160" cy="493776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05156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【52–60′ 反思】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1. 朗读短文，给 1 条建议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2. 反思三问：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   读懂了什么？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   哪步最难？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   下周练哪一点？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3. 行动：采访家人童年玩具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61C"/>
                </a:solidFill>
                <a:latin typeface="微软雅黑"/>
                <a:ea typeface="微软雅黑"/>
              </a:rPr>
              <a:t>   记下 3 个关键词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词语猎人 · 写作词库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9212"/>
                </a:solidFill>
                <a:latin typeface="微软雅黑"/>
                <a:ea typeface="微软雅黑"/>
              </a:rPr>
              <a:t>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61C"/>
                </a:solidFill>
                <a:latin typeface="微软雅黑"/>
                <a:ea typeface="微软雅黑"/>
              </a:rPr>
              <a:t>叉腿张胳膊　｜　没头没脑　｜　跺脚拍手　｜　一哄作鸟兽散　｜　手痒痒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9212"/>
                </a:solidFill>
                <a:latin typeface="微软雅黑"/>
                <a:ea typeface="微软雅黑"/>
              </a:rPr>
              <a:t>声音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61C"/>
                </a:solidFill>
                <a:latin typeface="微软雅黑"/>
                <a:ea typeface="微软雅黑"/>
              </a:rPr>
              <a:t>咋咋呼呼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9212"/>
                </a:solidFill>
                <a:latin typeface="微软雅黑"/>
                <a:ea typeface="微软雅黑"/>
              </a:rPr>
              <a:t>样子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61C"/>
                </a:solidFill>
                <a:latin typeface="微软雅黑"/>
                <a:ea typeface="微软雅黑"/>
              </a:rPr>
              <a:t>威风凛凛　｜　壮士模样　｜　呆头呆脑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9212"/>
                </a:solidFill>
                <a:latin typeface="微软雅黑"/>
                <a:ea typeface="微软雅黑"/>
              </a:rPr>
              <a:t>心情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61C"/>
                </a:solidFill>
                <a:latin typeface="微软雅黑"/>
                <a:ea typeface="微软雅黑"/>
              </a:rPr>
              <a:t>不知疲倦　｜　悻悻然　｜　全神贯注　｜　津津有味　｜　心满意足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4A36"/>
                </a:solidFill>
                <a:latin typeface="微软雅黑"/>
                <a:ea typeface="微软雅黑"/>
              </a:rPr>
              <a:t>课堂任务：给每个词贴标签 → 收入词库 → 写作时调用
金句提醒：好句子 = 具体动作 + 声音/样子 + 真实心情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A36"/>
                </a:solidFill>
                <a:latin typeface="微软雅黑"/>
                <a:ea typeface="微软雅黑"/>
              </a:rPr>
              <a:t>写作任务与评价量规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B4F"/>
                </a:solidFill>
                <a:latin typeface="微软雅黑"/>
                <a:ea typeface="微软雅黑"/>
              </a:rPr>
              <a:t>《我的童年小玩具》　目标 80–120 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463040" cy="4572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361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63040"/>
            <a:ext cx="2560320" cy="4572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达标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463040"/>
            <a:ext cx="3200400" cy="4572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5361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良好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5361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优秀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1463040" cy="77724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402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011680"/>
            <a:ext cx="256032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有开头与结尾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01168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2402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开头-经过-感受完整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01168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2402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过渡自然，重点突出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34640"/>
            <a:ext cx="1463040" cy="77724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30632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细节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834640"/>
            <a:ext cx="256032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063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1 处动作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83464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0632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2–3 处具体动作/样子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83464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0632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动作+声音/心情结合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57600"/>
            <a:ext cx="1463040" cy="77724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语言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657600"/>
            <a:ext cx="256032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3886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句子基本通顺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65760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886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正确使用 ≥2 个生动词语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657600"/>
            <a:ext cx="3200400" cy="77724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3886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61C"/>
                </a:solidFill>
                <a:latin typeface="微软雅黑"/>
                <a:ea typeface="微软雅黑"/>
              </a:rPr>
              <a:t>有课文迁移且表达自然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4033"/>
                </a:solidFill>
                <a:latin typeface="微软雅黑"/>
                <a:ea typeface="微软雅黑"/>
              </a:rPr>
              <a:t>差异化：写得慢 → 先写 3 句完整句；写得快 → 加一句「和竹节人比，我的玩具……」
配套网页：词语收集 / 句架插入 / 成功标准自检（打开 index.html）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A36"/>
                </a:solidFill>
                <a:latin typeface="微软雅黑"/>
                <a:ea typeface="微软雅黑"/>
              </a:rPr>
              <a:t>课后行动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4261C"/>
                </a:solidFill>
                <a:latin typeface="微软雅黑"/>
                <a:ea typeface="微软雅黑"/>
              </a:rPr>
              <a:t>1. 把短文誊清或打字一版（练书写规范）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4261C"/>
                </a:solidFill>
                <a:latin typeface="微软雅黑"/>
                <a:ea typeface="微软雅黑"/>
              </a:rPr>
              <a:t>2. 采访家人：他们小时候玩什么？记下 3 个关键词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4261C"/>
                </a:solidFill>
                <a:latin typeface="微软雅黑"/>
                <a:ea typeface="微软雅黑"/>
              </a:rPr>
              <a:t>3. 选抄课文中自己最喜欢的一句，并造句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4261C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4261C"/>
                </a:solidFill>
                <a:latin typeface="微软雅黑"/>
                <a:ea typeface="微软雅黑"/>
              </a:rPr>
              <a:t>下一课预告：把短文扩写，或继续探究「传统玩具为什么渐渐少了？」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4033"/>
                </a:solidFill>
                <a:latin typeface="微软雅黑"/>
                <a:ea typeface="微软雅黑"/>
              </a:rPr>
              <a:t>竹节人课堂 · 从阅读到写作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PYP 中文 · 《竹节人》· 从阅读到写作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A4033"/>
                </a:solidFill>
                <a:latin typeface="微软雅黑"/>
                <a:ea typeface="微软雅黑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