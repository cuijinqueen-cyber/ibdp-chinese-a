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5C4A"/>
                </a:solidFill>
                <a:latin typeface="微软雅黑"/>
                <a:ea typeface="微软雅黑"/>
              </a:rPr>
              <a:t>草原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2F28"/>
                </a:solidFill>
                <a:latin typeface="微软雅黑"/>
                <a:ea typeface="微软雅黑"/>
              </a:rPr>
              <a:t>地方与相遇，如何让我们看见彼此？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A4F45"/>
                </a:solidFill>
                <a:latin typeface="微软雅黑"/>
                <a:ea typeface="微软雅黑"/>
              </a:rPr>
              <a:t>统编版六年级上册 · 老舍
MYP Year 1 · 语言与文学 · 2 课时教学课件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8B5A"/>
                </a:solidFill>
                <a:latin typeface="微软雅黑"/>
                <a:ea typeface="微软雅黑"/>
              </a:rPr>
              <a:t>全球背景：身份认同与人际关系　｜　关键概念：联系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MYP 探究框架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103120" cy="77724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4A"/>
                </a:solidFill>
                <a:latin typeface="微软雅黑"/>
                <a:ea typeface="微软雅黑"/>
              </a:rPr>
              <a:t>全球背景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188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身份认同与人际关系 —— 归属、友谊、跨文化理解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2103120" cy="77724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4A"/>
                </a:solidFill>
                <a:latin typeface="微软雅黑"/>
                <a:ea typeface="微软雅黑"/>
              </a:rPr>
              <a:t>关键概念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031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联系（Connections）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2103120" cy="77724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4A"/>
                </a:solidFill>
                <a:latin typeface="微软雅黑"/>
                <a:ea typeface="微软雅黑"/>
              </a:rPr>
              <a:t>相关概念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175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场景 · 风格 · 主题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2103120" cy="77724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4A"/>
                </a:solidFill>
                <a:latin typeface="微软雅黑"/>
                <a:ea typeface="微软雅黑"/>
              </a:rPr>
              <a:t>探究声明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31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文学作品通过描绘地方与相遇，揭示文化身份如何在联系中被理解与深化。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63440"/>
            <a:ext cx="2103120" cy="77724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5C4A"/>
                </a:solidFill>
                <a:latin typeface="微软雅黑"/>
                <a:ea typeface="微软雅黑"/>
              </a:rPr>
              <a:t>ATL 技能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463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沟通 · 思考 · 社交（换位思考）· 研究（提取信息）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三条探究问题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182880" cy="1371600"/>
          </a:xfrm>
          <a:prstGeom prst="rect">
            <a:avLst/>
          </a:prstGeom>
          <a:solidFill>
            <a:srgbClr val="3D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8B5A"/>
                </a:solidFill>
                <a:latin typeface="微软雅黑"/>
                <a:ea typeface="微软雅黑"/>
              </a:rPr>
              <a:t>事实性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>课文写了哪些风景？按什么顺序写了哪些人事活动？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972800" cy="137160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182880" cy="137160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6F8F"/>
                </a:solidFill>
                <a:latin typeface="微软雅黑"/>
                <a:ea typeface="微软雅黑"/>
              </a:rPr>
              <a:t>概念性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>作者如何把「景美」与「情美」联系起来？地方如何影响人的感受与关系？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0972800" cy="137160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182880" cy="137160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8A1A"/>
                </a:solidFill>
                <a:latin typeface="微软雅黑"/>
                <a:ea typeface="微软雅黑"/>
              </a:rPr>
              <a:t>辩论性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>真正的友谊是否一定需要共同的语言与相同的文化背景？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学习目标与成功标准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F28"/>
                </a:solidFill>
                <a:latin typeface="微软雅黑"/>
                <a:ea typeface="微软雅黑"/>
              </a:rPr>
              <a:t>【学习目标】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1. 理清：风光 → 迎客—相见—款待—联欢—话别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2. 理解概念：联系、场景、风格、主题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3. 品味比喻、拟人与情景交融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4. 写一次「温暖相遇」短文（100–150字）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5. 用开放心态理解跨文化交往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058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F28"/>
                </a:solidFill>
                <a:latin typeface="微软雅黑"/>
                <a:ea typeface="微软雅黑"/>
              </a:rPr>
              <a:t>【我能做到】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· 概括课文的「景」与「情」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· 找出 ≥3 处美/热/亲的语句并说明方法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· 解释结尾诗句与全文的联系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· 短文有动作细节与心情变化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· 用一句话回应：联系如何改变我们对他人的看法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课时一：地方如何塑造感受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8B5A"/>
                </a:solidFill>
                <a:latin typeface="微软雅黑"/>
                <a:ea typeface="微软雅黑"/>
              </a:rPr>
              <a:t>读出「景美」，看见「联系」的起点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371600" cy="868680"/>
          </a:xfrm>
          <a:prstGeom prst="rect">
            <a:avLst/>
          </a:prstGeom>
          <a:solidFill>
            <a:srgbClr val="3D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0–8′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Tuning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两张图一个问题：地方如何影响心情与待人方式？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1371600" cy="868680"/>
          </a:xfrm>
          <a:prstGeom prst="rect">
            <a:avLst/>
          </a:prstGeom>
          <a:solidFill>
            <a:srgbClr val="3D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8–23′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651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Finding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初读 + 双栏笔记（景 / 情）+ 结构拼图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371600" cy="868680"/>
          </a:xfrm>
          <a:prstGeom prst="rect">
            <a:avLst/>
          </a:prstGeom>
          <a:solidFill>
            <a:srgbClr val="3D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23–38′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Sorting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风光段三色标注：颜色形态 / 修辞 / 心情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1371600" cy="868680"/>
          </a:xfrm>
          <a:prstGeom prst="rect">
            <a:avLst/>
          </a:prstGeom>
          <a:solidFill>
            <a:srgbClr val="3D8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38–45′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754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Reflection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若草原会说话……；仿写一句家乡/校园景色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初读工具：双栏笔记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5212080" cy="457200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097280"/>
            <a:ext cx="5212080" cy="457200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C4A"/>
                </a:solidFill>
                <a:latin typeface="微软雅黑"/>
                <a:ea typeface="微软雅黑"/>
              </a:rPr>
              <a:t>我看见的「地方」（景）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C4A"/>
                </a:solidFill>
                <a:latin typeface="微软雅黑"/>
                <a:ea typeface="微软雅黑"/>
              </a:rPr>
              <a:t>我看见的「人与关系」（情）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天、空气、小丘、绿毯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羊群、骏马、大牛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一碧千里……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提示：先记下画面，再想心情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谁来迎？怎么迎？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怎样相见、款待、联欢？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话别时人们怎样不舍？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提示：关注关系如何变化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精读：风格如何写出「地方感」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F28"/>
                </a:solidFill>
                <a:latin typeface="微软雅黑"/>
                <a:ea typeface="微软雅黑"/>
              </a:rPr>
              <a:t>概念性问题：作者用哪些语言策略，让读者「进入」草原？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关注（请对照课文原文）：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「那里的天比别处的天更可爱……」——比较中见独特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「一碧千里，而并不茫茫」——辽阔却有边界感/亲切感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羊群像绣在绿毯上的白花 —— 比喻让静止的画面「活」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「翠色欲流……流入云际」——颜色像有了动作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· 骏马大牛静立「回味」——拟人写出宁静与诗意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2F28"/>
                </a:solidFill>
                <a:latin typeface="微软雅黑"/>
                <a:ea typeface="微软雅黑"/>
              </a:rPr>
              <a:t>活动：三色标注 = 颜色形态 / 修辞 / 心情　→　追问「景物与心情如何联系？」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课时二：相遇如何建立联系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8B5A"/>
                </a:solidFill>
                <a:latin typeface="微软雅黑"/>
                <a:ea typeface="微软雅黑"/>
              </a:rPr>
              <a:t>读出「情美」，迁移到真实世界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371600" cy="7772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0–5′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回接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从「风景中的我」走向「关系中的我们」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1371600" cy="7772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5–17′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场面阅读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迎—见—待—欢—别：动作、心情、联系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1371600" cy="7772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17–27′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主旨深挖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375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结尾诗句三层追问 + 迷你辩论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1371600" cy="7772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27–40′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写作迁移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062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《一次温暖的相遇》100–150字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92040"/>
            <a:ext cx="1371600" cy="777240"/>
          </a:xfrm>
          <a:prstGeom prst="rect">
            <a:avLst/>
          </a:prstGeom>
          <a:solidFill>
            <a:srgbClr val="2F6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40–45′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反思行动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74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三问反思 + 采访一个跨群体故事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全球背景渗透：三层追问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8B5A"/>
                </a:solidFill>
                <a:latin typeface="微软雅黑"/>
                <a:ea typeface="微软雅黑"/>
              </a:rPr>
              <a:t>聚焦：「蒙汉情深何忍别，天涯碧草话斜阳」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00" cy="109728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字面层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F28"/>
                </a:solidFill>
                <a:latin typeface="微软雅黑"/>
                <a:ea typeface="微软雅黑"/>
              </a:rPr>
              <a:t>谁不忍别？在什么地方话别？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10972800" cy="109728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文本层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F28"/>
                </a:solidFill>
                <a:latin typeface="微软雅黑"/>
                <a:ea typeface="微软雅黑"/>
              </a:rPr>
              <a:t>为什么「碧草斜阳」必须与「蒙汉情深」写在一起？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10972800" cy="109728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5C4A"/>
                </a:solidFill>
                <a:latin typeface="微软雅黑"/>
                <a:ea typeface="微软雅黑"/>
              </a:rPr>
              <a:t>全球背景层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2F28"/>
                </a:solidFill>
                <a:latin typeface="微软雅黑"/>
                <a:ea typeface="微软雅黑"/>
              </a:rPr>
              <a:t>跨越语言、习俗、地域的友谊靠什么建立？可迁移到哪些当代情境？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辩论 + 写作迁移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394960" cy="475488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394960" cy="475488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C4A"/>
                </a:solidFill>
                <a:latin typeface="微软雅黑"/>
                <a:ea typeface="微软雅黑"/>
              </a:rPr>
              <a:t>迷你辩论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正方：共同文化更易建立友谊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反方：真诚行动比相同背景更重要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规则：必须引用课文一个细节作证据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目的：把「民族团结」落成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可观察的行为与选择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C4A"/>
                </a:solidFill>
                <a:latin typeface="微软雅黑"/>
                <a:ea typeface="微软雅黑"/>
              </a:rPr>
              <a:t>短写句架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《一次温暖的相遇》100–150字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1. 在____，我遇到了____。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2. 起初我觉得____；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   后来因为____（动作），我感到____。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3. 这次相遇让我明白：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A2F28"/>
                </a:solidFill>
                <a:latin typeface="微软雅黑"/>
                <a:ea typeface="微软雅黑"/>
              </a:rPr>
              <a:t>   联系往往开始于____。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5C4A"/>
                </a:solidFill>
                <a:latin typeface="微软雅黑"/>
                <a:ea typeface="微软雅黑"/>
              </a:rPr>
              <a:t>评估与量规（微型）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463040" cy="45720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1704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097280"/>
            <a:ext cx="2560320" cy="45720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11704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达标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097280"/>
            <a:ext cx="3200400" cy="45720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1704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良好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097280"/>
            <a:ext cx="3200400" cy="45720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17043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优秀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645920"/>
            <a:ext cx="1463040" cy="82296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190195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组织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645920"/>
            <a:ext cx="256032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1901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有起因与结果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645920"/>
            <a:ext cx="320040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90195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相遇过程清楚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645920"/>
            <a:ext cx="320040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190195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关系变化清晰可见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514600"/>
            <a:ext cx="1463040" cy="82296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277063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细节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514600"/>
            <a:ext cx="256032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77063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1 处动作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514600"/>
            <a:ext cx="320040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7706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2–3 处具体细节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514600"/>
            <a:ext cx="320040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9" y="27706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动作+心情+场合融合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383280"/>
            <a:ext cx="1463040" cy="82296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63931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概念迁移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383280"/>
            <a:ext cx="256032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0" y="363931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提到友好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383280"/>
            <a:ext cx="320040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6393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点出联系/理解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3383280"/>
            <a:ext cx="320040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19" y="363931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连接课文与现实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251960"/>
            <a:ext cx="1463040" cy="82296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4507992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语言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4251960"/>
            <a:ext cx="256032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450799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基本通顺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4251960"/>
            <a:ext cx="320040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450799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有生动动词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251960"/>
            <a:ext cx="3200400" cy="822960"/>
          </a:xfrm>
          <a:prstGeom prst="rect">
            <a:avLst/>
          </a:prstGeom>
          <a:solidFill>
            <a:srgbClr val="F5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450799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F28"/>
                </a:solidFill>
                <a:latin typeface="微软雅黑"/>
                <a:ea typeface="微软雅黑"/>
              </a:rPr>
              <a:t>合理迁移课文写法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F45"/>
                </a:solidFill>
                <a:latin typeface="微软雅黑"/>
                <a:ea typeface="微软雅黑"/>
              </a:rPr>
              <a:t>可对接 MYP：A 分析 · B 组织 · C 创作文本 · D 使用语言（本课以形成性 + 微型总结性为主）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5C4A"/>
                </a:solidFill>
                <a:latin typeface="微软雅黑"/>
                <a:ea typeface="微软雅黑"/>
              </a:rPr>
              <a:t>带着概念离开教室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>今天请记住三句话：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>1. 草原不仅是风景，也是关系发生的地方。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>2. 「不同」可以通过具体行动变成「亲近」。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>3. 读写的目标，是更清楚地理解自己与他人。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2F28"/>
                </a:solidFill>
                <a:latin typeface="微软雅黑"/>
                <a:ea typeface="微软雅黑"/>
              </a:rPr>
              <a:t>课后行动：采访一个「跨群体互助」的真实故事，用三句话分享。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MYP 语言与文学 · 《草原》· 全球背景：身份认同与人际关系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3A4F45"/>
                </a:solidFill>
                <a:latin typeface="微软雅黑"/>
                <a:ea typeface="微软雅黑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