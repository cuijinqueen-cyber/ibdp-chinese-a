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1F5C4A"/>
                </a:solidFill>
                <a:latin typeface="微软雅黑"/>
                <a:ea typeface="微软雅黑"/>
              </a:rPr>
              <a:t>草原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2F28"/>
                </a:solidFill>
                <a:latin typeface="微软雅黑"/>
                <a:ea typeface="微软雅黑"/>
              </a:rPr>
              <a:t>地方与相遇，如何让我们看见彼此？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A4F45"/>
                </a:solidFill>
                <a:latin typeface="微软雅黑"/>
                <a:ea typeface="微软雅黑"/>
              </a:rPr>
              <a:t>统编版六年级上册 · 老舍
MYP Year 1 · 语言与文学 · 2 课时教学课件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8B5A"/>
                </a:solidFill>
                <a:latin typeface="微软雅黑"/>
                <a:ea typeface="微软雅黑"/>
              </a:rPr>
              <a:t>全球背景：身份认同与人际关系　｜　关键概念：联系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5C4A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>
                <a:solidFill>
                  <a:srgbClr val="1A2F28"/>
                </a:solidFill>
                <a:latin typeface="微软雅黑"/>
                <a:ea typeface="微软雅黑"/>
              </a:rPr>
              <a:t>01  MYP 框架与探究问题</a:t>
            </a:r>
          </a:p>
          <a:p>
            <a:pPr algn="l">
              <a:spcAft>
                <a:spcPts val="500"/>
              </a:spcAft>
            </a:pPr>
            <a:r>
              <a:rPr sz="2200" b="0">
                <a:solidFill>
                  <a:srgbClr val="1A2F28"/>
                </a:solidFill>
                <a:latin typeface="微软雅黑"/>
                <a:ea typeface="微软雅黑"/>
              </a:rPr>
              <a:t>02  学习目标与成功标准</a:t>
            </a:r>
          </a:p>
          <a:p>
            <a:pPr algn="l">
              <a:spcAft>
                <a:spcPts val="500"/>
              </a:spcAft>
            </a:pPr>
            <a:r>
              <a:rPr sz="2200" b="0">
                <a:solidFill>
                  <a:srgbClr val="1A2F28"/>
                </a:solidFill>
                <a:latin typeface="微软雅黑"/>
                <a:ea typeface="微软雅黑"/>
              </a:rPr>
              <a:t>03  课时一：读出景美，看见联系的起点</a:t>
            </a:r>
          </a:p>
          <a:p>
            <a:pPr algn="l">
              <a:spcAft>
                <a:spcPts val="500"/>
              </a:spcAft>
            </a:pPr>
            <a:r>
              <a:rPr sz="2200" b="0">
                <a:solidFill>
                  <a:srgbClr val="1A2F28"/>
                </a:solidFill>
                <a:latin typeface="微软雅黑"/>
                <a:ea typeface="微软雅黑"/>
              </a:rPr>
              <a:t>04  课时二：读出情美，迁移到真实世界</a:t>
            </a:r>
          </a:p>
          <a:p>
            <a:pPr algn="l">
              <a:spcAft>
                <a:spcPts val="500"/>
              </a:spcAft>
            </a:pPr>
            <a:r>
              <a:rPr sz="2200" b="0">
                <a:solidFill>
                  <a:srgbClr val="1A2F28"/>
                </a:solidFill>
                <a:latin typeface="微软雅黑"/>
                <a:ea typeface="微软雅黑"/>
              </a:rPr>
              <a:t>05  写作任务、评估与课后行动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MYP 探究框架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全球背景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12471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身份认同与人际关系 —— 归属、友谊、跨文化理解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8424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关键概念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9476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联系（Connections）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072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相关概念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77063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场景 · 风格 · 主题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30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探究声明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593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文学作品通过描绘地方与相遇，揭示文化身份如何在联系中被理解与深化。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531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ATL 技能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41655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沟通 · 思考 · 社交（换位思考）· 研究（提取信息）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210312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760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学习者目标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23951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心胸开阔 · 善于交流 · 富有爱心 · 反思者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三条探究问题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0972800" cy="13716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82880" cy="137160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325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8B5A"/>
                </a:solidFill>
                <a:latin typeface="微软雅黑"/>
                <a:ea typeface="微软雅黑"/>
              </a:rPr>
              <a:t>事实性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课文写了哪些风景？按什么顺序写了哪些人事活动？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13716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82880" cy="137160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F8F"/>
                </a:solidFill>
                <a:latin typeface="微软雅黑"/>
                <a:ea typeface="微软雅黑"/>
              </a:rPr>
              <a:t>概念性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918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作者如何把「景美」与「情美」联系起来？地方如何影响人的感受与关系？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82880" cy="13716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48A1A"/>
                </a:solidFill>
                <a:latin typeface="微软雅黑"/>
                <a:ea typeface="微软雅黑"/>
              </a:rPr>
              <a:t>辩论性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真正的友谊是否一定需要共同的语言与相同的文化背景？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学习目标与成功标准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2F28"/>
                </a:solidFill>
                <a:latin typeface="微软雅黑"/>
                <a:ea typeface="微软雅黑"/>
              </a:rPr>
              <a:t>【学习目标】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1. 理清：风光 → 迎客—相见—款待—联欢—话别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2. 理解概念：联系、场景、风格、主题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3. 品味比喻、拟人与情景交融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4. 写一次「温暖相遇」短文（100–150字）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5. 用开放心态理解跨文化交往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0058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2F28"/>
                </a:solidFill>
                <a:latin typeface="微软雅黑"/>
                <a:ea typeface="微软雅黑"/>
              </a:rPr>
              <a:t>【我能做到】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概括课文的「景」与「情」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找出 ≥3 处美/热/亲的语句并说明方法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解释结尾诗句与全文的联系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短文有动作细节与心情变化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用一句话回应：联系如何改变我们对他人的看法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课时一：地方如何塑造感受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8B5A"/>
                </a:solidFill>
                <a:latin typeface="微软雅黑"/>
                <a:ea typeface="微软雅黑"/>
              </a:rPr>
              <a:t>读出「景美」，看见「联系」的起点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371600" cy="91440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0–8′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554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Tuning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20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两张图一个问题：地方如何影响心情与待人方式？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371600" cy="91440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8–23′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06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Finding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971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初读 + 双栏笔记（景 / 情）+ 结构拼图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20440"/>
            <a:ext cx="1371600" cy="91440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23–38′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657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Sorting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023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风光段三色标注：颜色形态 / 修辞 / 心情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72000"/>
            <a:ext cx="1371600" cy="91440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38–45′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Reflection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074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若草原会说话……；仿写一句家乡/校园景色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初读工具：双栏笔记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5212080" cy="45720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097280"/>
            <a:ext cx="5212080" cy="45720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5C4A"/>
                </a:solidFill>
                <a:latin typeface="微软雅黑"/>
                <a:ea typeface="微软雅黑"/>
              </a:rPr>
              <a:t>我看见的「地方」（景）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5C4A"/>
                </a:solidFill>
                <a:latin typeface="微软雅黑"/>
                <a:ea typeface="微软雅黑"/>
              </a:rPr>
              <a:t>我看见的「人与关系」（情）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天、空气、小丘、绿毯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羊群、骏马、大牛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一碧千里、翠色欲流……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提示：先记下画面，再想心情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谁来迎？怎么迎？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怎样相见、款待、联欢？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话别时人们怎样不舍？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提示：关注关系如何变化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课文结构拼图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691640" cy="1280160"/>
          </a:xfrm>
          <a:prstGeom prst="rect">
            <a:avLst/>
          </a:prstGeom>
          <a:solidFill>
            <a:srgbClr val="3D8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风光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423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48A1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2011680"/>
            <a:ext cx="1691640" cy="1280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迎客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423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48A1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1691640" cy="1280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相见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23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48A1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011680"/>
            <a:ext cx="1691640" cy="1280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款待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423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48A1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59" y="2011680"/>
            <a:ext cx="1691640" cy="1280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联欢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39" y="2423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48A1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12680" y="2011680"/>
            <a:ext cx="1691640" cy="1280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237744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话别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写作顺序：先景后人，由事及情
核心概念：地方（场景）为关系（联系）提供发生的舞台
请对照课本，把每一环对应的关键句勾出来。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精读：风格如何写出「地方感」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2F28"/>
                </a:solidFill>
                <a:latin typeface="微软雅黑"/>
                <a:ea typeface="微软雅黑"/>
              </a:rPr>
              <a:t>概念性问题：作者用哪些语言策略，让读者「进入」草原？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关注（请对照课文原文）：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「那里的天比别处的天更可爱……」——比较中见独特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「一碧千里，而并不茫茫」——辽阔却亲切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羊群像绣在绿毯上的白花 —— 比喻让画面「活」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「翠色欲流……流入云际」——颜色像有了动作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· 骏马大牛静立「回味」——拟人写出宁静与诗意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F28"/>
                </a:solidFill>
                <a:latin typeface="微软雅黑"/>
                <a:ea typeface="微软雅黑"/>
              </a:rPr>
              <a:t>活动：三色标注 = 颜色形态 / 修辞 / 心情　→　追问「景物与心情如何联系？」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课时二：相遇如何建立联系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8B5A"/>
                </a:solidFill>
                <a:latin typeface="微软雅黑"/>
                <a:ea typeface="微软雅黑"/>
              </a:rPr>
              <a:t>读出「情美」，迁移到真实世界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371600" cy="77724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0–5′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508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回接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从「风景中的我」走向「关系中的我们」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371600" cy="77724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5–17′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场面阅读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迎—见—待—欢—别：动作、心情、联系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54680"/>
            <a:ext cx="1371600" cy="77724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832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17–27′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主旨深挖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3756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结尾诗句三层追问 + 迷你辩论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23360"/>
            <a:ext cx="1371600" cy="77724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519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27–40′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写作迁移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062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《一次温暖的相遇》100–150字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1371600" cy="777240"/>
          </a:xfrm>
          <a:prstGeom prst="rect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120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40–45′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反思行动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07492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三问反思 + 采访一个跨群体故事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场面阅读表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371600" cy="50292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097280"/>
            <a:ext cx="3200400" cy="50292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1188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关键动作/细节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097280"/>
            <a:ext cx="2560320" cy="50292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1887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人物心情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200400" cy="50292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体现的「联系」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691640"/>
            <a:ext cx="137160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9280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迎客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69164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91640"/>
            <a:ext cx="256032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69164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514600"/>
            <a:ext cx="137160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157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相见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251460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0" y="2514600"/>
            <a:ext cx="256032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51460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137160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5387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款待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33756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3337560"/>
            <a:ext cx="256032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333756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160520"/>
            <a:ext cx="137160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36168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联欢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416052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0" y="4160520"/>
            <a:ext cx="256032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416052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983480"/>
            <a:ext cx="1371600" cy="73152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8464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5C4A"/>
                </a:solidFill>
                <a:latin typeface="微软雅黑"/>
                <a:ea typeface="微软雅黑"/>
              </a:rPr>
              <a:t>话别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03120" y="498348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0" y="4983480"/>
            <a:ext cx="256032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4983480"/>
            <a:ext cx="3200400" cy="73152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全球背景渗透：三层追问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8B5A"/>
                </a:solidFill>
                <a:latin typeface="微软雅黑"/>
                <a:ea typeface="微软雅黑"/>
              </a:rPr>
              <a:t>聚焦：「蒙汉情深何忍别，天涯碧草话斜阳」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字面层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F28"/>
                </a:solidFill>
                <a:latin typeface="微软雅黑"/>
                <a:ea typeface="微软雅黑"/>
              </a:rPr>
              <a:t>谁不忍别？在什么地方话别？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39"/>
            <a:ext cx="10972800" cy="109728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文本层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F28"/>
                </a:solidFill>
                <a:latin typeface="微软雅黑"/>
                <a:ea typeface="微软雅黑"/>
              </a:rPr>
              <a:t>为什么「碧草斜阳」必须与「蒙汉情深」写在一起？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C4A"/>
                </a:solidFill>
                <a:latin typeface="微软雅黑"/>
                <a:ea typeface="微软雅黑"/>
              </a:rPr>
              <a:t>全球背景层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F28"/>
                </a:solidFill>
                <a:latin typeface="微软雅黑"/>
                <a:ea typeface="微软雅黑"/>
              </a:rPr>
              <a:t>跨越语言、习俗、地域的友谊靠什么建立？可迁移到哪些当代情境？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辩论 + 写作迁移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5394960" cy="475488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005840"/>
            <a:ext cx="5394960" cy="475488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5C4A"/>
                </a:solidFill>
                <a:latin typeface="微软雅黑"/>
                <a:ea typeface="微软雅黑"/>
              </a:rPr>
              <a:t>迷你辩论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正方：共同文化更易建立友谊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反方：真诚行动比相同背景更重要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规则：必须引用课文一个细节作证据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目的：把「民族团结」落成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可观察的行为与选择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5C4A"/>
                </a:solidFill>
                <a:latin typeface="微软雅黑"/>
                <a:ea typeface="微软雅黑"/>
              </a:rPr>
              <a:t>短写句架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《一次温暖的相遇》100–150字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1. 在____，我遇到了____。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2. 起初我觉得____；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   后来因为____（动作），我感到____。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3. 这次相遇让我明白：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A2F28"/>
                </a:solidFill>
                <a:latin typeface="微软雅黑"/>
                <a:ea typeface="微软雅黑"/>
              </a:rPr>
              <a:t>   联系往往开始于____。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写作评估量规（微型）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463040" cy="4572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1704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097280"/>
            <a:ext cx="2560320" cy="4572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1704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达标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097280"/>
            <a:ext cx="3200400" cy="4572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170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良好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097280"/>
            <a:ext cx="3200400" cy="4572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19" y="1170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优秀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645920"/>
            <a:ext cx="1463040" cy="82296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19019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组织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645920"/>
            <a:ext cx="256032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901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有起因与结果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164592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90195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相遇过程清楚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164592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190195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关系变化清晰可见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514600"/>
            <a:ext cx="1463040" cy="82296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" y="277063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细节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514600"/>
            <a:ext cx="256032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77063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1 处动作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51460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7706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2–3 处具体细节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251460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19" y="27706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动作+心情+场合融合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19" y="363931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概念迁移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3383280"/>
            <a:ext cx="256032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77440" y="363931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提到友好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38328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36393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点出联系/理解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338328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19" y="36393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连接课文与现实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251960"/>
            <a:ext cx="1463040" cy="82296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19" y="450799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语言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4251960"/>
            <a:ext cx="256032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77440" y="450799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基本通顺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25196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450799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有生动动词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4251960"/>
            <a:ext cx="3200400" cy="82296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19" y="450799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F28"/>
                </a:solidFill>
                <a:latin typeface="微软雅黑"/>
                <a:ea typeface="微软雅黑"/>
              </a:rPr>
              <a:t>合理迁移课文写法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A4F45"/>
                </a:solidFill>
                <a:latin typeface="微软雅黑"/>
                <a:ea typeface="微软雅黑"/>
              </a:rPr>
              <a:t>可对接 MYP：A 分析 · B 组织 · C 创作文本 · D 使用语言（本课以形成性 + 微型总结性为主）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5C4A"/>
                </a:solidFill>
                <a:latin typeface="微软雅黑"/>
                <a:ea typeface="微软雅黑"/>
              </a:rPr>
              <a:t>全球背景如何「渗入」课堂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1. 开课就问：不同文化的人靠什么建立信任？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2. 读文时把草原读成「关系发生的地方」。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3. 写作迁移到真实的温暖相遇。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4. 用行动（采访）把理解带出教室。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教师用语建议：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少说「今天学全球背景」，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多问「这段文字让你想到现实中哪些『人与人的桥梁』？」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5C4A"/>
                </a:solidFill>
                <a:latin typeface="微软雅黑"/>
                <a:ea typeface="微软雅黑"/>
              </a:rPr>
              <a:t>带着概念离开教室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今天请记住三句话：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1. 草原不仅是风景，也是关系发生的地方。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2. 「不同」可以通过具体行动变成「亲近」。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3. 读写的目标，是更清楚地理解自己与他人。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2F28"/>
                </a:solidFill>
                <a:latin typeface="微软雅黑"/>
                <a:ea typeface="微软雅黑"/>
              </a:rPr>
              <a:t>课后行动：采访一个「跨群体互助」的真实故事，用三句话分享。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MYP 语言与文学 · 《草原》· 全球背景：身份认同与人际关系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3A4F45"/>
                </a:solidFill>
                <a:latin typeface="微软雅黑"/>
                <a:ea typeface="微软雅黑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