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3D5A4C"/>
                </a:solidFill>
                <a:latin typeface="微软雅黑"/>
                <a:ea typeface="微软雅黑"/>
              </a:rPr>
              <a:t>丁香结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A2432"/>
                </a:solidFill>
                <a:latin typeface="微软雅黑"/>
                <a:ea typeface="微软雅黑"/>
              </a:rPr>
              <a:t>逐句精读 · 文学手法标注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A524C"/>
                </a:solidFill>
                <a:latin typeface="微软雅黑"/>
                <a:ea typeface="微软雅黑"/>
              </a:rPr>
              <a:t>统编版六年级上册 · 宗璞
教学课件：关键句精读 + 手法标签 + 表达效果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E6B"/>
                </a:solidFill>
                <a:latin typeface="微软雅黑"/>
                <a:ea typeface="微软雅黑"/>
              </a:rPr>
              <a:t>结构：赏花（1–3）→ 悟结（4–6）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4C"/>
                </a:solidFill>
                <a:latin typeface="微软雅黑"/>
                <a:ea typeface="微软雅黑"/>
              </a:rPr>
              <a:t>全文地图与手法总览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A2432"/>
                </a:solidFill>
                <a:latin typeface="微软雅黑"/>
                <a:ea typeface="微软雅黑"/>
              </a:rPr>
              <a:t>【结构】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赏花：城里 → 城外 → 斗室外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悟结：雨中丁香 → 丁香结由来 → 人生哲理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【主旨】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正视人生解不完的“结”，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以豁达从容面对，人生才有滋味。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A2432"/>
                </a:solidFill>
                <a:latin typeface="微软雅黑"/>
                <a:ea typeface="微软雅黑"/>
              </a:rPr>
              <a:t>【高频手法】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· 比喻 / 拟人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· 借代 / 借喻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· 引用（古诗词）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· 通感 / 多感官描写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· 象征 / 托物言志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· 反问 / 虚实结合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· 由远及近、层层推进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4C"/>
                </a:solidFill>
                <a:latin typeface="微软雅黑"/>
                <a:ea typeface="微软雅黑"/>
              </a:rPr>
              <a:t>阅读方法：怎么做“逐句精读”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A2432"/>
                </a:solidFill>
                <a:latin typeface="微软雅黑"/>
                <a:ea typeface="微软雅黑"/>
              </a:rPr>
              <a:t>每读一句，完成三步：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A2432"/>
                </a:solidFill>
                <a:latin typeface="微软雅黑"/>
                <a:ea typeface="微软雅黑"/>
              </a:rPr>
              <a:t>① 找手法：这句话用了什么写法？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A2432"/>
                </a:solidFill>
                <a:latin typeface="微软雅黑"/>
                <a:ea typeface="微软雅黑"/>
              </a:rPr>
              <a:t>② 说作用：写出了什么特点 / 什么情感？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A2432"/>
                </a:solidFill>
                <a:latin typeface="微软雅黑"/>
                <a:ea typeface="微软雅黑"/>
              </a:rPr>
              <a:t>③ 连主旨：和“丁香结 / 人生态度”有什么关系？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A2432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A2432"/>
                </a:solidFill>
                <a:latin typeface="微软雅黑"/>
                <a:ea typeface="微软雅黑"/>
              </a:rPr>
              <a:t>本课件每页格式：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A2432"/>
                </a:solidFill>
                <a:latin typeface="微软雅黑"/>
                <a:ea typeface="微软雅黑"/>
              </a:rPr>
              <a:t>【原句】→【手法标签】→【精读要点】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A2432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A2432"/>
                </a:solidFill>
                <a:latin typeface="微软雅黑"/>
                <a:ea typeface="微软雅黑"/>
              </a:rPr>
              <a:t>说明：请打开课本对照全文；课件聚焦关键句与手法训练。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5A4C"/>
                </a:solidFill>
                <a:latin typeface="微软雅黑"/>
                <a:ea typeface="微软雅黑"/>
              </a:rPr>
              <a:t>第1段① · 城里丁香（总写繁茂）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73736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“……忽然有一批雪白，顿使人眼前一亮，再仔细看，才知是两行丁香花。”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设悬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9344" y="2834640"/>
            <a:ext cx="1344168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28803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视觉冲击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90672" y="2834640"/>
            <a:ext cx="1344168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8803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延迟揭示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E6B"/>
                </a:solidFill>
                <a:latin typeface="微软雅黑"/>
                <a:ea typeface="微软雅黑"/>
              </a:rPr>
              <a:t>精读要点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先写“雪白”“眼前一亮”，不立刻点名“丁香”。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造成视觉冲击与阅读好奇，突出丁香繁盛夺目。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作用：开篇即抓住读者，奠定“喜爱、惊艳”的情感基调。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5A4C"/>
                </a:solidFill>
                <a:latin typeface="微软雅黑"/>
                <a:ea typeface="微软雅黑"/>
              </a:rPr>
              <a:t>第1段② · 宅院丁香（经典金句）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73736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“有的宅院里探出半树银妆，星星般的小花缀满枝头，从墙上窥着行人，惹得人走过了还要回头望。”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比喻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9344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拟人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8608" y="2834640"/>
            <a:ext cx="1344168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28803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动词锤炼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E6B"/>
                </a:solidFill>
                <a:latin typeface="微软雅黑"/>
                <a:ea typeface="微软雅黑"/>
              </a:rPr>
              <a:t>精读要点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比喻：“星星般”→ 小巧、繁密、闪亮。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拟人：“探”“窥”→ 丁香像调皮的人，俏皮灵动。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“银妆”写白而盛；“惹得……回头望”侧面写出魅力。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效果：把静止的花写成有生命、有神态的形象。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5A4C"/>
                </a:solidFill>
                <a:latin typeface="微软雅黑"/>
                <a:ea typeface="微软雅黑"/>
              </a:rPr>
              <a:t>第2段① · 城外丁香（色彩）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73736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“月光下白的潇洒，紫的朦胧。”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对举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9344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拟人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8608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炼字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E6B"/>
                </a:solidFill>
                <a:latin typeface="微软雅黑"/>
                <a:ea typeface="微软雅黑"/>
              </a:rPr>
              <a:t>精读要点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“白的 / 紫的”对举，写出两种丁香不同气质。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“潇洒”近拟人，写白丁香自然大方、高洁。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“朦胧”写紫丁香含蓄、柔和，带夜色诗意。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八个字完成“色 + 神”的双层描写。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5A4C"/>
                </a:solidFill>
                <a:latin typeface="微软雅黑"/>
                <a:ea typeface="微软雅黑"/>
              </a:rPr>
              <a:t>第2段② · 城外丁香（气味）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73736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“还有淡淡的幽雅的甜香，非桂非兰，在夜色中也能让人分辨出，这是丁香。”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1344168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通感倾向</a:t>
            </a:r>
          </a:p>
        </p:txBody>
      </p:sp>
      <p:sp>
        <p:nvSpPr>
          <p:cNvPr id="9" name="Rectangle 8"/>
          <p:cNvSpPr/>
          <p:nvPr/>
        </p:nvSpPr>
        <p:spPr>
          <a:xfrm>
            <a:off x="2121408" y="2834640"/>
            <a:ext cx="1344168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21408" y="28803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嗅觉描写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2736" y="2834640"/>
            <a:ext cx="1344168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28803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否定比较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E6B"/>
                </a:solidFill>
                <a:latin typeface="微软雅黑"/>
                <a:ea typeface="微软雅黑"/>
              </a:rPr>
              <a:t>精读要点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从视觉转入嗅觉，丰富感官层次。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“非桂非兰”用否定比较突出丁香香气的独特性。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“淡淡”“幽雅”写出清雅不浓烈的品格。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效果：丁香不仅好看，而且有可辨识的“个性”。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5A4C"/>
                </a:solidFill>
                <a:latin typeface="微软雅黑"/>
                <a:ea typeface="微软雅黑"/>
              </a:rPr>
              <a:t>第3段① · 斗室丁香（借代）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73736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“每到春来，伏案时抬头便看见檐前积雪。……最先映入眼帘的，也是那一片莹白。”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1600200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借代/借喻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39" y="2834640"/>
            <a:ext cx="1344168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39" y="28803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空间亲近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58768" y="2834640"/>
            <a:ext cx="1344168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8768" y="28803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情感加深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E6B"/>
                </a:solidFill>
                <a:latin typeface="微软雅黑"/>
                <a:ea typeface="微软雅黑"/>
              </a:rPr>
              <a:t>精读要点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用“积雪”“莹白”指代白丁香，不直说花名。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好处：更突出“白、盛、纯净、光洁”。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从城里、城外写到“斗室外”，距离越来越近。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花与“我”的生活绑定，情感由欣赏转向相依。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5A4C"/>
                </a:solidFill>
                <a:latin typeface="微软雅黑"/>
                <a:ea typeface="微软雅黑"/>
              </a:rPr>
              <a:t>第3段② · 斗室丁香（层次与照耀）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73736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“那十字小白花，那样小，却不显得单薄。许多小花形成一簇，许多簇花开满一树，……照耀着我的文思和梦想。”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层递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9344" y="2834640"/>
            <a:ext cx="1344168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28803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先抑后扬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90672" y="2834640"/>
            <a:ext cx="1600200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8803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通感/象征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E6B"/>
                </a:solidFill>
                <a:latin typeface="微软雅黑"/>
                <a:ea typeface="微软雅黑"/>
              </a:rPr>
              <a:t>精读要点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小花→一簇→一树：数量层递，写出繁盛过程。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“小却不单薄”：先抑后扬，赞美内在力量。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“照耀”不写阳光，而写照耀“文思和梦想”。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花已超越景物，成为精神力量的象征。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5A4C"/>
                </a:solidFill>
                <a:latin typeface="微软雅黑"/>
                <a:ea typeface="微软雅黑"/>
              </a:rPr>
              <a:t>第4段① · 引用古诗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73736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古人词云：“芭蕉不展丁香结”“丁香空结雨中愁”。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引用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9344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典故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8608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铺垫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E6B"/>
                </a:solidFill>
                <a:latin typeface="微软雅黑"/>
                <a:ea typeface="微软雅黑"/>
              </a:rPr>
              <a:t>精读要点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引用李商隐、李璟词句，引入古典“愁怨”意象。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作用：①丰富文化内涵 ②把丁香与“愁”相连 ③为下文翻新立意铺垫。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读法提醒：古人写“结”偏忧怨；作者后面会给出新态度。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5A4C"/>
                </a:solidFill>
                <a:latin typeface="微软雅黑"/>
                <a:ea typeface="微软雅黑"/>
              </a:rPr>
              <a:t>第4段② · 雨中丁香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73736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“在细雨迷蒙中，着了水滴的丁香格外妩媚。花墙边两株紫色的，如同印象派的画，线条模糊了，直向窗前的莹白渗过来……”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比喻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9344" y="2834640"/>
            <a:ext cx="1344168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28803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通感色彩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90672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意境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E6B"/>
                </a:solidFill>
                <a:latin typeface="微软雅黑"/>
                <a:ea typeface="微软雅黑"/>
              </a:rPr>
              <a:t>精读要点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“妩媚”写雨中姿态更柔美。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比喻“印象派的画”：颜色交融、线条模糊、如流动。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“渗过来”把色彩写成可流动之物，极富画面感。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效果：景更美，也为“结”的诗意氛围蓄势。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5A4C"/>
                </a:solidFill>
                <a:latin typeface="微软雅黑"/>
                <a:ea typeface="微软雅黑"/>
              </a:rPr>
              <a:t>第5段 · 恍然悟“结”（外形）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73736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“小小的花苞圆圆的，鼓鼓的，恰如衣襟上的盘花扣。我才恍然，果然是丁香结。”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比喻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9344" y="2834640"/>
            <a:ext cx="1344168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28803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恍然顿悟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90672" y="2834640"/>
            <a:ext cx="1344168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8803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形意双关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E6B"/>
                </a:solidFill>
                <a:latin typeface="微软雅黑"/>
                <a:ea typeface="微软雅黑"/>
              </a:rPr>
              <a:t>精读要点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本义落地：花苞 ≈ 盘花扣 → 外形之“结”。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“圆圆的，鼓鼓的”叠词，增强可感的形态。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“恍然”“果然”写出发现的惊喜与确认。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这是全文由“赏花”转向“悟理”的关键枢纽。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5A4C"/>
                </a:solidFill>
                <a:latin typeface="微软雅黑"/>
                <a:ea typeface="微软雅黑"/>
              </a:rPr>
              <a:t>第6段① · 象征生成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73736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“再联想到那些诗句，真觉得它们负担着解不开的愁怨了。每个人一辈子都有许多不顺心的事，一件完了一件又来。所以丁香结年年都有。”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象征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9344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联想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8608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类比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E6B"/>
                </a:solidFill>
                <a:latin typeface="微软雅黑"/>
                <a:ea typeface="微软雅黑"/>
              </a:rPr>
              <a:t>精读要点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从外形之结 → 古典愁怨 → 人生不顺。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“负担着”拟人化，把愁怨压在花上。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“一件完了一件又来 / 年年都有”：写人生难题的常态。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手法链：联想推动象征意义成立。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5A4C"/>
                </a:solidFill>
                <a:latin typeface="微软雅黑"/>
                <a:ea typeface="微软雅黑"/>
              </a:rPr>
              <a:t>第6段② · 主旨句（翻新）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73736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“结，是解不完的；人生中的问题也是解不完的，不然，岂不太平淡无味了吗？”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反问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9344" y="2834640"/>
            <a:ext cx="1344168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28803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对比翻新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90672" y="2834640"/>
            <a:ext cx="1344168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8803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托物言志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E6B"/>
                </a:solidFill>
                <a:latin typeface="微软雅黑"/>
                <a:ea typeface="微软雅黑"/>
              </a:rPr>
              <a:t>精读要点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反问加强语气，逼出作者态度。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翻新古典：古人多写愁；作者写“有结才有味”。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不是鼓励消极，而是接纳困难、积极面对。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全文中心：豁达、从容的人生态度。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5A4C"/>
                </a:solidFill>
                <a:latin typeface="微软雅黑"/>
                <a:ea typeface="微软雅黑"/>
              </a:rPr>
              <a:t>文末余韵（教材常见收束）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73736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432"/>
                </a:solidFill>
                <a:latin typeface="微软雅黑"/>
                <a:ea typeface="微软雅黑"/>
              </a:rPr>
              <a:t>“来年又有新的结待人去解——谁知道是否解得开呢？”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832104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留白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9344" y="2834640"/>
            <a:ext cx="1344168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28803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反问余韵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90672" y="2834640"/>
            <a:ext cx="1344168" cy="347472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8803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开放结尾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E6B"/>
                </a:solidFill>
                <a:latin typeface="微软雅黑"/>
                <a:ea typeface="微软雅黑"/>
              </a:rPr>
              <a:t>精读要点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不给封闭答案，把思考交给读者。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“新的结”呼应“年年都有”，结构回环。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432"/>
                </a:solidFill>
                <a:latin typeface="微软雅黑"/>
                <a:ea typeface="微软雅黑"/>
              </a:rPr>
              <a:t>· 余味：人生持续面对问题，也持续生长。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D5A4C"/>
                </a:solidFill>
                <a:latin typeface="微软雅黑"/>
                <a:ea typeface="微软雅黑"/>
              </a:rPr>
              <a:t>手法速查表（考试/写作可用）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011680" cy="41148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868680"/>
            <a:ext cx="4754880" cy="41148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868680"/>
            <a:ext cx="4023360" cy="41148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41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手法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9418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课文例子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9418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表达效果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371600"/>
            <a:ext cx="2011680" cy="68580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371600"/>
            <a:ext cx="4754880" cy="6858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1371600"/>
            <a:ext cx="4023360" cy="6858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5A4C"/>
                </a:solidFill>
                <a:latin typeface="微软雅黑"/>
                <a:ea typeface="微软雅黑"/>
              </a:rPr>
              <a:t>比喻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432"/>
                </a:solidFill>
                <a:latin typeface="微软雅黑"/>
                <a:ea typeface="微软雅黑"/>
              </a:rPr>
              <a:t>星星般 / 盘花扣 / 印象派的画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5544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432"/>
                </a:solidFill>
                <a:latin typeface="微软雅黑"/>
                <a:ea typeface="微软雅黑"/>
              </a:rPr>
              <a:t>化抽象为具体，强化形象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03120"/>
            <a:ext cx="2011680" cy="68580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2103120"/>
            <a:ext cx="4754880" cy="6858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2103120"/>
            <a:ext cx="4023360" cy="6858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5A4C"/>
                </a:solidFill>
                <a:latin typeface="微软雅黑"/>
                <a:ea typeface="微软雅黑"/>
              </a:rPr>
              <a:t>拟人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432"/>
                </a:solidFill>
                <a:latin typeface="微软雅黑"/>
                <a:ea typeface="微软雅黑"/>
              </a:rPr>
              <a:t>探、窥、潇洒、负担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286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432"/>
                </a:solidFill>
                <a:latin typeface="微软雅黑"/>
                <a:ea typeface="微软雅黑"/>
              </a:rPr>
              <a:t>赋予生命与情态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834639"/>
            <a:ext cx="2011680" cy="68580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51760" y="2834639"/>
            <a:ext cx="4754880" cy="6858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2834639"/>
            <a:ext cx="4023360" cy="6858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5A4C"/>
                </a:solidFill>
                <a:latin typeface="微软雅黑"/>
                <a:ea typeface="微软雅黑"/>
              </a:rPr>
              <a:t>借代/借喻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432"/>
                </a:solidFill>
                <a:latin typeface="微软雅黑"/>
                <a:ea typeface="微软雅黑"/>
              </a:rPr>
              <a:t>积雪、莹白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017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432"/>
                </a:solidFill>
                <a:latin typeface="微软雅黑"/>
                <a:ea typeface="微软雅黑"/>
              </a:rPr>
              <a:t>突出白与盛，含蓄雅致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66159"/>
            <a:ext cx="2011680" cy="68580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51760" y="3566159"/>
            <a:ext cx="4754880" cy="6858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79" y="3566159"/>
            <a:ext cx="4023360" cy="6858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5A4C"/>
                </a:solidFill>
                <a:latin typeface="微软雅黑"/>
                <a:ea typeface="微软雅黑"/>
              </a:rPr>
              <a:t>引用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432"/>
                </a:solidFill>
                <a:latin typeface="微软雅黑"/>
                <a:ea typeface="微软雅黑"/>
              </a:rPr>
              <a:t>芭蕉不展……雨中愁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74903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432"/>
                </a:solidFill>
                <a:latin typeface="微软雅黑"/>
                <a:ea typeface="微软雅黑"/>
              </a:rPr>
              <a:t>引入古典愁怨，铺垫翻新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297679"/>
            <a:ext cx="2011680" cy="68580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51760" y="4297679"/>
            <a:ext cx="4754880" cy="6858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79" y="4297679"/>
            <a:ext cx="4023360" cy="6858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480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5A4C"/>
                </a:solidFill>
                <a:latin typeface="微软雅黑"/>
                <a:ea typeface="微软雅黑"/>
              </a:rPr>
              <a:t>象征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4805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432"/>
                </a:solidFill>
                <a:latin typeface="微软雅黑"/>
                <a:ea typeface="微软雅黑"/>
              </a:rPr>
              <a:t>丁香结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48055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432"/>
                </a:solidFill>
                <a:latin typeface="微软雅黑"/>
                <a:ea typeface="微软雅黑"/>
              </a:rPr>
              <a:t>人生解不完的烦恼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029199"/>
            <a:ext cx="2011680" cy="68580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51760" y="5029199"/>
            <a:ext cx="4754880" cy="6858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79" y="5029199"/>
            <a:ext cx="4023360" cy="6858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2120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5A4C"/>
                </a:solidFill>
                <a:latin typeface="微软雅黑"/>
                <a:ea typeface="微软雅黑"/>
              </a:rPr>
              <a:t>反问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52120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432"/>
                </a:solidFill>
                <a:latin typeface="微软雅黑"/>
                <a:ea typeface="微软雅黑"/>
              </a:rPr>
              <a:t>岂不太平淡无味了吗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521207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432"/>
                </a:solidFill>
                <a:latin typeface="微软雅黑"/>
                <a:ea typeface="微软雅黑"/>
              </a:rPr>
              <a:t>强化豁达态度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4C"/>
                </a:solidFill>
                <a:latin typeface="微软雅黑"/>
                <a:ea typeface="微软雅黑"/>
              </a:rPr>
              <a:t>从阅读到写作：偷师三招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A2432"/>
                </a:solidFill>
                <a:latin typeface="微软雅黑"/>
                <a:ea typeface="微软雅黑"/>
              </a:rPr>
              <a:t>第一招：多角度写物（形、色、味、姿）——先写活，再抒情。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A2432"/>
                </a:solidFill>
                <a:latin typeface="微软雅黑"/>
                <a:ea typeface="微软雅黑"/>
              </a:rPr>
              <a:t>第二招：一个意象两层意思——外形 + 象征（像“丁香结”）。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A2432"/>
                </a:solidFill>
                <a:latin typeface="微软雅黑"/>
                <a:ea typeface="微软雅黑"/>
              </a:rPr>
              <a:t>第三招：翻新旧意——古人如何看？我今天如何看？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A2432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A2432"/>
                </a:solidFill>
                <a:latin typeface="微软雅黑"/>
                <a:ea typeface="微软雅黑"/>
              </a:rPr>
              <a:t>小练笔提示（80–120字）：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A2432"/>
                </a:solidFill>
                <a:latin typeface="微软雅黑"/>
                <a:ea typeface="微软雅黑"/>
              </a:rPr>
              <a:t>选一种熟悉的植物/物品，先写外形，再写它让你想到的人生道理。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A2432"/>
                </a:solidFill>
                <a:latin typeface="微软雅黑"/>
                <a:ea typeface="微软雅黑"/>
              </a:rPr>
              <a:t>至少用上：1个比喻 + 1个拟人 或 1处象征。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D5A4C"/>
                </a:solidFill>
                <a:latin typeface="微软雅黑"/>
                <a:ea typeface="微软雅黑"/>
              </a:rPr>
              <a:t>精读收束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A2432"/>
                </a:solidFill>
                <a:latin typeface="微软雅黑"/>
                <a:ea typeface="微软雅黑"/>
              </a:rPr>
              <a:t>记住一条阅读链：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A2432"/>
                </a:solidFill>
                <a:latin typeface="微软雅黑"/>
                <a:ea typeface="微软雅黑"/>
              </a:rPr>
              <a:t>看见花 → 读懂结 → 想到人生 → 学会豁达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A2432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A2432"/>
                </a:solidFill>
                <a:latin typeface="微软雅黑"/>
                <a:ea typeface="微软雅黑"/>
              </a:rPr>
              <a:t>记住一句主旨：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A2432"/>
                </a:solidFill>
                <a:latin typeface="微软雅黑"/>
                <a:ea typeface="微软雅黑"/>
              </a:rPr>
              <a:t>结解不完，人生才不至于平淡无味。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《丁香结》宗璞 · 逐句精读 · 文学手法标注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24C"/>
                </a:solidFill>
                <a:latin typeface="微软雅黑"/>
                <a:ea typeface="微软雅黑"/>
              </a:rP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