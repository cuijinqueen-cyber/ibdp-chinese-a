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A88A"/>
                </a:solidFill>
                <a:latin typeface="Microsoft YaHei"/>
                <a:ea typeface="Microsoft YaHei"/>
              </a:rPr>
              <a:t>白先勇 · 《台北人》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《一把青》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8B0C0"/>
                </a:solidFill>
                <a:latin typeface="Microsoft YaHei"/>
                <a:ea typeface="Microsoft YaHei"/>
              </a:rPr>
              <a:t>精读教学课件  ·  文本细节引证版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9A24B"/>
                </a:solidFill>
                <a:latin typeface="Microsoft YaHei"/>
                <a:ea typeface="Microsoft YaHei"/>
              </a:rPr>
              <a:t>目录顺序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F2EEE6"/>
                </a:solidFill>
                <a:latin typeface="Microsoft YaHei"/>
                <a:ea typeface="Microsoft YaHei"/>
              </a:rPr>
              <a:t>一、人物形象  →  二、艺术手法  →  三、叙事手法  →  四、情节结构  →  五、语言特色  →  六、主题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导读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依教学逻辑展开：人 → 法 → 叙 → 事 → 语 → 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685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88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10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人物形象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031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朱青的转变 · 郭轸 · 师娘 · 小顾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0972800" cy="685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24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88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877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艺术手法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80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对比 · 象征 · 反讽 · 比喻 · 细节 · 对话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685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88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649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叙事手法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57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第一人称见证 · 双城对照 · 省略跳跃 · 母题反复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10972800" cy="685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78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88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1422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故事情节结构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4348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上下篇对照 · 仁爱东村 · 死亡轮回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0972800" cy="685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88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9194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语言特色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2120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服饰编码 · 声口 · 歌谣母题 · 拟声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0972800" cy="685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332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88A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6967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主题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989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创伤 · 求生 · 流亡 · 及时行乐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人物关系总览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核心人物：朱青（转变轴心）｜郭轸、师娘、小顾、眷村众太太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74320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743200" cy="73152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朱青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转变的轴心人物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上：怯生生的女学生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下：「赛白光」式风情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证据链：服饰＋神态＋歌声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20240"/>
            <a:ext cx="274320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920240"/>
            <a:ext cx="274320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郭轸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「英气勃勃」的飞行员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美式制服／痴恋／坠机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爱情浪漫与命运反讽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274320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74320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师娘（秦太太）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叙述者＋过来人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「狠起心肠」的导师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对照朱青的另一条活法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920240"/>
            <a:ext cx="274320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920240"/>
            <a:ext cx="274320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小顾等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下部年轻空军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「童子鸡」式轮替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死亡重复，伦理改写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朱青（上）：青涩的初始档案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服饰细节＋神态细节＝身份基线，为后文剧变提供对照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210312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1206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「来做客还穿着一身半新旧直统子的蓝布长衫，襟上掖了一块白绸子手绢儿。头发也没有烫……脚上穿了一双带绊的黑皮鞋，一双白色的短统袜子倒是干干净净的。」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服饰编码：布料朴素、颜色冷静、形制保守 → 黄花闺女／女学生身份标签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210312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「见了我一径半低着头，腼腼腆腆，很有一股教人疼怜的怯态。一顿饭下来，我怎么逗她，她都不大答得上腔来，一味含糊地应着。」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神态／沟通：失语状态——还不会在男人世界里说话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11247120" cy="21945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精读要点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「蓝布长衫」是转变的基线档案：记住这些视觉细节，下部「透明紫纱洒金片的旗袍」才有冲击力。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「腼腼腆腆」不是害羞点缀，而是存在状态；与下部「说风话／哼歌」形成沟通方式的剧变。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眉眼间「水秀」暗示潜质——美质已在，只是尚未被时代与创伤改写。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朱青（下）：「赛白光」的社会重生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服饰翻转＋唱腔浪荡＋外号命名＝新身份的生成现场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1920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9202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「她穿了一身透明紫纱洒金片的旗袍，一双高跟鞋足有三寸高，一扭，全身的金锁片便闪闪发光起来。」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对比：素净→妖娆，遮蔽→暴露；每一修饰词都在改写「朱青是谁」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1920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19202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「倒是难为那个女人却也唱得出白光那股懒洋洋的浪荡劲儿。……「师娘，我是朱青。」那个女人笑吟吟地望着我说道。」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唱腔＝新人格；点名瞬间完成身份冲击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73152" cy="2286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「我们这里都管朱小姐叫「赛白光」呢。」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绰号象征：个人被流行文化符号替换；命名权在社群，不再是「郭轸的朱青」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73152" cy="2286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6908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「岁月在她的脸上好像刻不下痕迹来了似的。……可是我已经找不出什么话来可以开导她的了。」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反讽：脸不老，人已换；师娘失语＝旧伦理失效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朱青：小顾死后仍涂蔻丹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细节反差——「狠起心肠」的视觉完成态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828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8288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「却看见原来朱青正坐在窗台上，穿了一身粉红色的绸睡衣，捞起了裤管跷起脚，在脚趾甲上涂蔻丹，一头的发卷子也没有卸下来。」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丧事与美容并置：小动作在大死亡旁＝创伤麻木与生存惯性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23774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人物解读（勿简化为「堕落」）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上部师娘预言：「你就得狠起心肠来，才担得住日后的风险」——下部涂蔻丹、哼歌可回读为完成态。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「小顾这里没有亲人……昨天下午，我才把他的骨灰运到碧潭公墓下了葬」——她并非无情，而是把痛改写成另一种活法。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人物弧线：怯态女学生 → 丧夫崩解 → 康乐场「赛白光」→ 以及时行乐消化反复死亡。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郭轸：英气与反讽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细节堆叠塑造得意飞行员，亦为悲剧蓄势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201168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「郭轸全身都是美式凡立丁的空军制服，上身罩了一件翻领镶毛的皮夹克，腰身勒得紧峭。……竟出挑得英气勃勃了。」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物象定妆：年轻、得意、被时代选中；越英气，后文坠机越残酷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201168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201168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「「不是我故意犯规，是朱青把我的心拿走了。……我在天上飞，我的心都在地上跟着她呢。」」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比喻／空间对举：职业之天与恋人之地；浪漫修辞合理化违规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247120" cy="21945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19456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10881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「临走……一把攥住我手，嗓子嗄哑：「师娘，这次无论如何要拜托你老人家了——朱青还不大懂事……」……总部刚来通知，郭轸在徐州出了事，飞机和人都跌得粉碎。」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托付→粉碎：私人誓约在战争中瞬间失效；人物功能＝爱情理想的载体与被历史粉碎的对象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师娘：叙述者与过来人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视角人物＋文化传递者；她的劝诫是上部主题句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8288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8288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「「飞将军的太太，不容易当。……他们就像那些铁鸟儿，忽而飞到东，忽而飞到西，你抓也抓不住。……你就得狠起心肠来，才担得住日后的风险呢。」」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「铁鸟儿」喻＋「狠起心肠」：过来人冷知识，军眷生存说明书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人物功能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第一人称「我」：见证朱青上下两世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伟成抛海「嘭」一下：自身亦是流亡创伤体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下部「找不出话来开导」：旧伦理在新朱青面前失效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23774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对照意义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师娘：硬心肠＋守常过日子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朱青：硬心肠＋及时行乐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同一条「求生」命题，两种完成形态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主要手法一览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手法服务人物转变与主题：每一种都有文本落点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6576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Microsoft YaHei"/>
                <a:ea typeface="Microsoft YaHei"/>
              </a:rPr>
              <a:t>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3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蓝布长衫 ↔ 紫纱旗袍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怯态 ↔ 浪荡劲儿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嚎哭 ↔ 涂蔻丹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6576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Microsoft YaHei"/>
                <a:ea typeface="Microsoft YaHei"/>
              </a:rPr>
              <a:t>象征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3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《东山一把青》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五彩鸳鸯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「赛白光」外号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74519"/>
            <a:ext cx="36576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Microsoft YaHei"/>
                <a:ea typeface="Microsoft YaHei"/>
              </a:rPr>
              <a:t>反讽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3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「白头偕老」喜匾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死了却还有知觉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脸刻不下痕迹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60519"/>
            <a:ext cx="36576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Microsoft YaHei"/>
                <a:ea typeface="Microsoft YaHei"/>
              </a:rPr>
              <a:t>比喻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3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铁鸟儿／鱼肚皮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瞎耗子惨叫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天上飞／心在地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160519"/>
            <a:ext cx="36576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389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Microsoft YaHei"/>
                <a:ea typeface="Microsoft YaHei"/>
              </a:rPr>
              <a:t>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89203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服饰、丝巾、蔻丹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「嘭」一下抛海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筹码堆到鼻尖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160519"/>
            <a:ext cx="365760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3891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Microsoft YaHei"/>
                <a:ea typeface="Microsoft YaHei"/>
              </a:rPr>
              <a:t>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9203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狠起心肠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一个死了托一个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童子鸡议论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对比：服饰与身份的戏剧性翻转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同一人物的视觉系统整体对翻＝转变最显眼的证据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上部 · 初始身份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5A3"/>
                </a:solidFill>
                <a:latin typeface="Microsoft YaHei"/>
                <a:ea typeface="Microsoft YaHei"/>
              </a:rPr>
              <a:t>「半新旧直统子的蓝布长衫」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D5A3"/>
                </a:solidFill>
                <a:latin typeface="Microsoft YaHei"/>
                <a:ea typeface="Microsoft YaHei"/>
              </a:rPr>
              <a:t>「白绸子手绢儿」「未烫的头发」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8D5A3"/>
                </a:solidFill>
                <a:latin typeface="Microsoft YaHei"/>
                <a:ea typeface="Microsoft YaHei"/>
              </a:rPr>
              <a:t>「带绊的黑皮鞋」「白色的短统袜子」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效果：确立青涩纯真的女学生档案；规训、怯生、未充分社会化。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A88A"/>
                </a:solidFill>
                <a:latin typeface="Microsoft YaHei"/>
                <a:ea typeface="Microsoft YaHei"/>
              </a:rPr>
              <a:t>下部 · 社会重生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5A3"/>
                </a:solidFill>
                <a:latin typeface="Microsoft YaHei"/>
                <a:ea typeface="Microsoft YaHei"/>
              </a:rPr>
              <a:t>「透明紫纱洒金片的旗袍」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D5A3"/>
                </a:solidFill>
                <a:latin typeface="Microsoft YaHei"/>
                <a:ea typeface="Microsoft YaHei"/>
              </a:rPr>
              <a:t>「三寸高」高跟鞋、「金锁片」闪光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8D5A3"/>
                </a:solidFill>
                <a:latin typeface="Microsoft YaHei"/>
                <a:ea typeface="Microsoft YaHei"/>
              </a:rPr>
              <a:t>「懒洋洋的浪荡劲儿」「赛白光」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效果：视觉完成身份重生；风情是康乐文化中的生存资本，不宜只读成道德堕落。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象征：歌谣母题与婚恋器物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《东山一把青》＝篇名＝人物自我解释的口号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55448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55448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「东山哪，一把青。西山哪，一把青。郎有心来姊有心，郎呀，咱俩儿好成亲哪——」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母题初现：求成亲的欲望与青春（「一把青」＝一把转瞬青春）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5486400" cy="26517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73152" cy="265176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「一床绣满五彩鸳鸯的丝被面教她搓得全是皱纹。在她脸旁被面上，却浸着一块碗大的湿印子。」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象征反讽：鸳鸯＝双飞理想；皱纹与泪印＝理想被揉皱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486400" cy="26517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566160"/>
            <a:ext cx="73152" cy="265176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03320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「嘴里翻来滚去嚷着她常爱唱的那首《东山一把青》。……嗳呀嗳嗳呀，郎呀，采花儿要趁早哪——」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象征收束：歌词从「好成亲」滑到「采花趁早」＝及时行乐宣言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反讽：承诺、知觉与无痕之脸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祝福语、悖论句、外貌描写——皆可作「反面预言」精读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47120" cy="14173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A88A"/>
                </a:solidFill>
                <a:latin typeface="Microsoft YaHei"/>
                <a:ea typeface="Microsoft YaHei"/>
              </a:rPr>
              <a:t>器物反讽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「白头偕老」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D5A3"/>
                </a:solidFill>
                <a:latin typeface="Microsoft YaHei"/>
                <a:ea typeface="Microsoft YaHei"/>
              </a:rPr>
              <a:t>「墙上……乌木烫金的喜匾……写着「白头偕老」。」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新婚未度蜜月、战事将起；越庄重，后文「粉身碎骨」越残酷。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11247120" cy="14173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A88A"/>
                </a:solidFill>
                <a:latin typeface="Microsoft YaHei"/>
                <a:ea typeface="Microsoft YaHei"/>
              </a:rPr>
              <a:t>悖论反讽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「死了却还有知觉」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D5A3"/>
                </a:solidFill>
                <a:latin typeface="Microsoft YaHei"/>
                <a:ea typeface="Microsoft YaHei"/>
              </a:rPr>
              <a:t>「「他也死了……轰地一下便没了——我也死了，可是我却还有知觉呢。」」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活着的惩罚是继续感受；解释下部何以必须改换活法。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14173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A88A"/>
                </a:solidFill>
                <a:latin typeface="Microsoft YaHei"/>
                <a:ea typeface="Microsoft YaHei"/>
              </a:rPr>
              <a:t>外貌反讽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029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「刻不下痕迹」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D5A3"/>
                </a:solidFill>
                <a:latin typeface="Microsoft YaHei"/>
                <a:ea typeface="Microsoft YaHei"/>
              </a:rPr>
              <a:t>「岁月在她的脸上好像刻不下痕迹来了似的。」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外表无痕 vs 层层死亡；青春感成了创伤后的面具。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比喻：冷硬、血腥与非人化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喻体选择本身即主题——人被物化、痛苦被降格为噪声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6576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铁鸟儿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「他们就像那些铁鸟儿……你抓也抓不住。」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「铁」冷硬，「鸟」残留自由幻觉；军眷等待＝结构性命运。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6576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鱼肚皮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「她的一张脸像是划破了的鱼肚皮，一块白、一块红，血汗斑斑。」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面部创伤写成被剖开的鱼腹；美与尊严被战争碾成可怖视觉。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74519"/>
            <a:ext cx="36576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瞎耗子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「喉头不断发出……好像一只瞎耗子被人踩得发出吱吱的惨叫。」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悲恸降格为被践踏小动物声；与后文浪荡歌声对照＝声音史即转变史。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三 /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叙事手法总览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第一人称见证＋上下对照结构；靠衣、声、歌、物推动转变，少直抒胸臆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78892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第一人称见证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师娘「我」讲述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过来人＋旁观者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非全知上帝视角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278892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双城对照结构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68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南京／台北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同名仁爱东村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名字可复制，人生不可复原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78892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时间省略跳跃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热恋坠机写细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南迁来台压缩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重逢猛然接上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78892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0116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细节器物叙事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468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服饰／喜匾／蔻丹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少心理独白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以物推进弧线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60520"/>
            <a:ext cx="3200400" cy="2148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母题反复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00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《东山一把青》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成亲→采花趁早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歌词变奏＝哲学变奏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160520"/>
            <a:ext cx="3200400" cy="2148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死亡轮回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郭轸→伟成→小顾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重复修辞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悲剧写成常态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160520"/>
            <a:ext cx="3200400" cy="2148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对话侧面叙事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00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狠起心肠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童子鸡／风话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社群声口补全人物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三 /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① 第一人称见证  ② 上下篇双城对照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叙述者功能与结构叙事——结构本身在讲流亡断裂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22860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「我觉得虽然我比朱青还大了一大把年纪，可是我已经找不出什么话来可以开导她的了。」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第一人称：转变靠「我看见／我听见」；下部叙述者失语＝旧伦理失效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22860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2286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「我们这个眷属区碰巧又叫做仁爱东村，可是和我在南京住的那个却毫不相干。」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结构叙事：同名反复、「碰巧」拆穿连续性幻觉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19659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精读要点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师娘不是全知上帝，而是过来人＋旁观者；朱青内心少直接剖白，多由见证场面呈现。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• 南京→台北同名村子：结构本身说出主题——迁徙之后，记忆无法原样安置。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三 /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③ 时间省略跳跃  ④ 细节／器物推进叙事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空白逼读者补全变身；少心理分析，多可感证据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C9A24B"/>
                </a:solidFill>
                <a:latin typeface="Microsoft YaHei"/>
                <a:ea typeface="Microsoft YaHei"/>
              </a:rPr>
              <a:t>时间跨度＋省略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上部：热恋、新婚、坠机——写细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中间：南迁、来台多年——压缩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下部：新生社重逢——猛然接上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效果：中间「空白」逼读者用重逢场面补全朱青如何变成「赛白光」。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引证：「师娘，我是朱青。」那个女人笑吟吟地望着我说道。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5BA88A"/>
                </a:solidFill>
                <a:latin typeface="Microsoft YaHei"/>
                <a:ea typeface="Microsoft YaHei"/>
              </a:rPr>
              <a:t>以细节／器物叙事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蓝布长衫 → 紫纱旗袍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喜匾「白头偕老」／鸳鸯被面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涂蔻丹／「嘭」一下抛海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效果：几乎不用长篇内心独白；衣、声、歌、物带动情节与人物弧线。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8D5A3"/>
                </a:solidFill>
                <a:latin typeface="Microsoft YaHei"/>
                <a:ea typeface="Microsoft YaHei"/>
              </a:rPr>
              <a:t>答题提示：先引「看得见／听得见」的证据，再上推主题。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三 /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⑤ 母题反复  ⑥ 死亡轮回  ⑦ 对话侧面叙事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歌词变奏、情节重复、社群声口——三者合力完成转变叙事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4173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41732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「东山哪，一把青……咱俩儿好成亲哪——  →  嗳呀嗳嗳呀，郎呀，采花儿要趁早哪——」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母题反复：歌词从求成亲滑到采花趁早＝人物哲学变奏，兼作全篇收束句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5486400" cy="28346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73152" cy="28346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「「一个死了托一个，这么轮下来的。」……「不笑难道叫她们哭不成？」／郭轸坠机 → 伟成抛海 → 小顾再死」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死亡轮回：情节重复＝命运结构；私人悲剧被写成眷村常态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29000"/>
            <a:ext cx="5486400" cy="28346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429000"/>
            <a:ext cx="73152" cy="28346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「「你就得狠起心肠来」／「爱吃童子鸡」／「两个小挨刀的，……还吃起大姊的豆腐来！」」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对话／转述侧面叙事：用社群声口补全朱青，避免单一视角说教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三 /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叙事手法 · 一句话收束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答题可用总括句——先点手法，再挂证据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247120" cy="429768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总括</a:t>
            </a:r>
          </a:p>
          <a:p>
            <a:pPr algn="l">
              <a:spcAft>
                <a:spcPts val="1800"/>
              </a:spcAft>
            </a:pPr>
            <a:r>
              <a:rPr sz="1600" b="0">
                <a:solidFill>
                  <a:srgbClr val="F2EEE6"/>
                </a:solidFill>
                <a:latin typeface="Microsoft YaHei"/>
                <a:ea typeface="Microsoft YaHei"/>
              </a:rPr>
              <a:t>第一人称见证＋上下对照结构，靠服饰／歌声／死亡重复推动转变，少直抒胸臆，多让读者从「看得见、听得见」的证据里读出创伤与求生。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七条叙事手法速记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1. 第一人称见证　2. 双城对照结构　3. 时间省略跳跃　4. 细节器物叙事</a:t>
            </a:r>
          </a:p>
          <a:p>
            <a:pPr algn="l">
              <a:spcAft>
                <a:spcPts val="18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5. 《东山一把青》母题反复　6. 死亡轮回的重复修辞　7. 对话／转述侧面叙事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与「艺术手法」区分：叙事手法偏视角／结构／推进方式；艺术手法偏修辞与表现手段（对比、象征、反讽、比喻等）。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四 / 故事情节结构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上下篇双城对照结构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南京仁爱东村 → 台北「碰巧又叫做」仁爱东村：同名反复，人生不可复原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3716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3716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「来到台北这些年……我们这个眷属区碰巧又叫做仁爱东村，可是和我在南京住的那个却毫不相干。」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结构枢纽：名字可复制，记忆与人生不可复原；「碰巧」拆穿连续性幻觉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5486400" cy="28346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C9A24B"/>
                </a:solidFill>
                <a:latin typeface="Microsoft YaHei"/>
                <a:ea typeface="Microsoft YaHei"/>
              </a:rPr>
              <a:t>上部 · 南京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还都繁华 → 热恋结婚 → 出征托付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→ 坠机丧夫 → 创伤崩解 → 被娘拖走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功能：建立理想与粉碎；完成「狠心肠」的预言与第一次死亡冲击。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29000"/>
            <a:ext cx="5486400" cy="28346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5BA88A"/>
                </a:solidFill>
                <a:latin typeface="Microsoft YaHei"/>
                <a:ea typeface="Microsoft YaHei"/>
              </a:rPr>
              <a:t>下部 · 台北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重逢「赛白光」→ 康乐／麻将生活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→ 小顾再死 → 涂蔻丹／采花趁早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A8B0C0"/>
                </a:solidFill>
                <a:latin typeface="Microsoft YaHei"/>
                <a:ea typeface="Microsoft YaHei"/>
              </a:rPr>
              <a:t>功能：死亡轮回；把上部预言写成完成态；主题收束于及时行乐。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四 / 故事情节结构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关键情节节点与结构功能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每一步都在推进「转变」与「求生」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① 亮相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郭轸「英气勃勃」；朱青蓝布长衫初见——建立对照基线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② 痴恋越界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920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飞到金陵女中上空；「心都在地上跟着她」——浪漫与违规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③ 婚而未欢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63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喜匾「白头偕老」；鸳鸯被面泪印——承诺已遭分离撕裂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26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④ 第一次死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063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徐州坠机；鱼肚皮／瞎耗子——创伤峰值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⑤ 流亡错位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06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同名仁爱东村「毫不相干」；伟成「嘭」一下抛海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69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⑥ 重逢变身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206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《东山一把青》舞台；「师娘，我是朱青」——结构惊变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12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⑦ 轮回再死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349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小顾出事；「童子鸡」议论——死亡重复为常态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212080"/>
            <a:ext cx="566928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A88A"/>
                </a:solidFill>
                <a:latin typeface="Microsoft YaHei"/>
                <a:ea typeface="Microsoft YaHei"/>
              </a:rPr>
              <a:t>⑧ 冷酷收束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5349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涂蔻丹＋「采花儿要趁早」——生存哲学公开化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四 / 故事情节结构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死亡轮回：结构即主题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私人悲剧被写成社区常态；情节重复＝命运结构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4630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46304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「「像你后头那个周太太吧，她已经嫁了四次了。一个死了托一个，这么轮下来的。」「可是她们看着还有说有笑的。」……「不笑难道叫她们哭不成？」」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引证 · 对话写出眷村法则：再嫁轮替消化死亡；为朱青转变提供社会样本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11247120" cy="274320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结构读法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2EEE6"/>
                </a:solidFill>
                <a:latin typeface="Microsoft YaHei"/>
                <a:ea typeface="Microsoft YaHei"/>
              </a:rPr>
              <a:t>郭轸之死（上部峰值） → 伟成抛海（叙述者创伤） → 小顾之死（下部回声）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A8B0C0"/>
                </a:solidFill>
                <a:latin typeface="Microsoft YaHei"/>
                <a:ea typeface="Microsoft YaHei"/>
              </a:rPr>
              <a:t>三次死亡不是偶然叠加，而是情节结构的「重复修辞」：军眷世界里，坠落与消失会一再发生。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8B0C0"/>
                </a:solidFill>
                <a:latin typeface="Microsoft YaHei"/>
                <a:ea typeface="Microsoft YaHei"/>
              </a:rPr>
              <a:t>朱青从嚎哭到涂蔻丹，不是情节断裂，而是结构逼出的伦理改写：在轮回中学会「狠心肠」。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五 / 语言特色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语言如何「做事」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服饰语汇、声口对话、歌谣穿插、拟声压缩——皆为人物与主题服务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4712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服饰编码语言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88A"/>
                </a:solidFill>
                <a:latin typeface="Microsoft YaHei"/>
                <a:ea typeface="Microsoft YaHei"/>
              </a:rPr>
              <a:t>衣着词汇密集、可档案化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「蓝布长衫」「紫纱洒金片」「粉红绸睡衣」「涂蔻丹」——以物写人，几乎不用抽象形容词定论。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124712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叙述声口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88A"/>
                </a:solidFill>
                <a:latin typeface="Microsoft YaHei"/>
                <a:ea typeface="Microsoft YaHei"/>
              </a:rPr>
              <a:t>过来人闲话体＋冷知识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「我的姑娘」「莫怪我讲句老实话」——师娘语气习以为常，把集体创伤说得家常。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1124712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市井俚语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06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88A"/>
                </a:solidFill>
                <a:latin typeface="Microsoft YaHei"/>
                <a:ea typeface="Microsoft YaHei"/>
              </a:rPr>
              <a:t>侧面描写的消费式闲话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「爱吃童子鸡」「吃起大姊的豆腐」「两个小挨刀的」——口语活力与物化目光并存。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247120" cy="10058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歌谣穿插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349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88A"/>
                </a:solidFill>
                <a:latin typeface="Microsoft YaHei"/>
                <a:ea typeface="Microsoft YaHei"/>
              </a:rPr>
              <a:t>流行歌词成为主题句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从「咱俩儿好成亲」到「采花儿要趁早」——歌词演变＝人物哲学演变。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五 / 语言特色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拟声、节奏与「瞬间消失」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复杂人生被收成单音节——语言本身再现流亡中的潦草与无助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219456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「他一断气，船上水手便把他用麻包袋套起来……我只听得「嘭」一下，人便没了。」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拟声细节：死亡压缩成一声闷响；与郭轸「轰地一下便没了」呼应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219456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「朱青不停地笑着，嘴里翻来滚去嚷着……隔不了一会儿，她便哼出两句：……采花儿要趁早哪——」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节奏：麻将笑声＋反复哼歌＝结尾的冷酷轻快，与上部嚎哭形成声部对位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47120" cy="201168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语言特色小结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白先勇不以长篇心理分析写朱青，而以可感的衣、声、歌、物推进转变；精读时应抓住「看得见／听得见」的证据，再上推到主题。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六 / 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主题总览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战争年代军眷女性的创伤、求生与伦理改写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566928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创伤与知觉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「我也死了，可是我却还有知觉呢」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未亡人比死者更残酷：活着即持续受刑。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66928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求生与狠心肠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5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「你就得狠起心肠来」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情感硬化不是道德失败，而是职业配偶的生存训练。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19"/>
            <a:ext cx="566928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流亡与错位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5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同名「仁爱东村」却「毫不相干」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迁徙之后，记忆无法原样安置。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60519"/>
            <a:ext cx="5669280" cy="2103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及时行乐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93775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8D5A3"/>
                </a:solidFill>
                <a:latin typeface="Microsoft YaHei"/>
                <a:ea typeface="Microsoft YaHei"/>
              </a:rPr>
              <a:t>「采花儿要趁早哪」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朝不保夕处，抓住眼前欢愉成了逻辑。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六 / 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主题深化：勿止步于「堕落」评判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若只谴责朱青「变坏」，则未完成精读——应看见制度性死亡逼出的伦理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43891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核心命题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2EEE6"/>
                </a:solidFill>
                <a:latin typeface="Microsoft YaHei"/>
                <a:ea typeface="Microsoft YaHei"/>
              </a:rPr>
              <a:t>作者如何通过上下结构、服饰细节与《东山一把青》母题，细读朱青的转变，并再现战争年代军眷女性的创伤与求生？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5BA88A"/>
                </a:solidFill>
                <a:latin typeface="Microsoft YaHei"/>
                <a:ea typeface="Microsoft YaHei"/>
              </a:rPr>
              <a:t>文本证据链（答题可用）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1. 结构：南京／台北「仁爱东村」同名反讽 → 流亡断裂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2. 人物：蓝布长衫 → 紫纱旗袍；嚎哭 → 涂蔻丹 → 采花趁早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3. 手法：对比＋象征母题＋反讽喜匾＋「铁鸟儿」之喻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4. 主题落点：私人誓约脆弱；社群以轮替消化死亡；及时行乐是被迫形成的生存哲学。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六 / 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何以题为「一把青」？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歌名即篇名：青春、欲望、时限——三者叠合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16459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64592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5A3"/>
                </a:solidFill>
                <a:latin typeface="Microsoft YaHei"/>
                <a:ea typeface="Microsoft YaHei"/>
              </a:rPr>
              <a:t>「东山哪，一把青。……嗳呀嗳嗳呀，郎呀，采花儿要趁早哪——」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「一把青」＝一把转瞬即逝的青春；与飞行员朝不保夕的生命互文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247120" cy="256032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三重含义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物象层：一把青葱／青春颜色——鲜嫩而短促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人物层：朱青之名与「青」呼应；她的美与变，都在「趁早」逻辑里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2EEE6"/>
                </a:solidFill>
                <a:latin typeface="Microsoft YaHei"/>
                <a:ea typeface="Microsoft YaHei"/>
              </a:rPr>
              <a:t>• 主题层：在随时可能「轰地一下／嘭一下」的世界，抓住眼前欢愉成为唯一可抓住的「一把」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88A"/>
                </a:solidFill>
                <a:latin typeface="Microsoft YaHei"/>
                <a:ea typeface="Microsoft YaHei"/>
              </a:rPr>
              <a:t>《一把青》精读  ·  综合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课堂收束：证据 → 手法 → 效果 → 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IB 式精读路径：先引句，再命名手法，再说效果，最后上推主题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78892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78892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① 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先引关键词句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例：「蓝布长衫」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「采花儿要趁早」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278892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278892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② 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命名艺术手段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对比／象征／反讽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比喻／细节／对话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278892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278892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③ 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对读者／人物的作用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塑造、情感、预示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求生、反讽冲击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920240"/>
            <a:ext cx="2788920" cy="4206240"/>
          </a:xfrm>
          <a:prstGeom prst="roundRect">
            <a:avLst/>
          </a:prstGeom>
          <a:solidFill>
            <a:srgbClr val="24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920240"/>
            <a:ext cx="2788920" cy="73152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④ 主题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83464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EEE6"/>
                </a:solidFill>
                <a:latin typeface="Microsoft YaHei"/>
                <a:ea typeface="Microsoft YaHei"/>
              </a:rPr>
              <a:t>上推到作品命题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创伤、流亡、轮回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0C0"/>
                </a:solidFill>
                <a:latin typeface="Microsoft YaHei"/>
                <a:ea typeface="Microsoft YaHei"/>
              </a:rPr>
              <a:t>及时行乐的伦理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《一把青》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BA88A"/>
                </a:solidFill>
                <a:latin typeface="Microsoft YaHei"/>
                <a:ea typeface="Microsoft YaHei"/>
              </a:rPr>
              <a:t>人物 · 手法 · 叙事 · 结构 · 语言 · 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8B0C0"/>
                </a:solidFill>
                <a:latin typeface="Microsoft YaHei"/>
                <a:ea typeface="Microsoft YaHei"/>
              </a:rPr>
              <a:t>精读须有文本细节引证 —— 看得见的衣，听得见的歌，抓不住的铁鸟儿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0C0"/>
                </a:solidFill>
                <a:latin typeface="Microsoft YaHei"/>
                <a:ea typeface="Microsoft YaHei"/>
              </a:rPr>
              <a:t>白先勇  ·  文脉精读教学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