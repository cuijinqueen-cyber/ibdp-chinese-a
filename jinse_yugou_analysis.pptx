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2C3E50"/>
                </a:solidFill>
                <a:latin typeface="微软雅黑"/>
                <a:ea typeface="微软雅黑"/>
              </a:rPr>
              <a:t>金色的鱼钩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C222E"/>
                </a:solidFill>
                <a:latin typeface="微软雅黑"/>
                <a:ea typeface="微软雅黑"/>
              </a:rPr>
              <a:t>小说精读：情节 · 人物 · 象征 · 主题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A555F"/>
                </a:solidFill>
                <a:latin typeface="微软雅黑"/>
                <a:ea typeface="微软雅黑"/>
              </a:rPr>
              <a:t>统编版六年级上册 · 革命传统题材小说
线索：鱼钩　｜　核心人物：老班长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88A2E"/>
                </a:solidFill>
                <a:latin typeface="微软雅黑"/>
                <a:ea typeface="微软雅黑"/>
              </a:rPr>
              <a:t>“在这个长满了红锈的鱼钩上，闪烁着灿烂的金色的光芒！”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5F"/>
                </a:solidFill>
                <a:latin typeface="微软雅黑"/>
                <a:ea typeface="微软雅黑"/>
              </a:rPr>
              <a:t>《金色的鱼钩》· 小说精读 · 人物·情节·主题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5F"/>
                </a:solidFill>
                <a:latin typeface="微软雅黑"/>
                <a:ea typeface="微软雅黑"/>
              </a:rP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微软雅黑"/>
                <a:ea typeface="微软雅黑"/>
              </a:rPr>
              <a:t>基本信息与体裁特点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>体裁：革命传统题材小说（记叙真实长征故事）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>叙述视角：第一人称“我”（小梁）——便于写感受，侧面烘托老班长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>时代背景：红军长征过草地，粮食极度短缺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>核心事件：老班长照顾三个病号过草地，自己牺牲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>线索物：鱼钩（贯穿情节，升华主题）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>单元价值：读懂人物形象 + 体会思想感情 + 学习细节描写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>读法提醒：小说看什么？→ 情节推进、人物言行、环境压迫、象征意义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5F"/>
                </a:solidFill>
                <a:latin typeface="微软雅黑"/>
                <a:ea typeface="微软雅黑"/>
              </a:rPr>
              <a:t>《金色的鱼钩》· 小说精读 · 人物·情节·主题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5F"/>
                </a:solidFill>
                <a:latin typeface="微软雅黑"/>
                <a:ea typeface="微软雅黑"/>
              </a:rP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微软雅黑"/>
                <a:ea typeface="微软雅黑"/>
              </a:rPr>
              <a:t>情节四段式（鱼骨图）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645920" cy="1051560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开端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接受任务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32588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>指导员派老班长照顾三个病号过草地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1645920" cy="1051560"/>
          </a:xfrm>
          <a:prstGeom prst="rect">
            <a:avLst/>
          </a:prstGeom>
          <a:solidFill>
            <a:srgbClr val="3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发展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照顾病号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51460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>挖野菜、做鱼钩、钓鱼、熬汤、鼓励前行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83280"/>
            <a:ext cx="1645920" cy="1051560"/>
          </a:xfrm>
          <a:prstGeom prst="rect">
            <a:avLst/>
          </a:prstGeom>
          <a:solidFill>
            <a:srgbClr val="8B4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204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高潮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862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壮烈牺牲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70332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>自己不吃，把生的希望留给战友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72000"/>
            <a:ext cx="1645920" cy="10515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709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结局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永远怀念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489204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>保存鱼钩，金色光芒象征精神不朽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5F"/>
                </a:solidFill>
                <a:latin typeface="微软雅黑"/>
                <a:ea typeface="微软雅黑"/>
              </a:rPr>
              <a:t>《金色的鱼钩》· 小说精读 · 人物·情节·主题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5F"/>
                </a:solidFill>
                <a:latin typeface="微软雅黑"/>
                <a:ea typeface="微软雅黑"/>
              </a:rP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微软雅黑"/>
                <a:ea typeface="微软雅黑"/>
              </a:rPr>
              <a:t>核心矛盾：他把生留给别人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>环境矛盾：草地茫茫 × 粮食将尽 × 病号体弱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>人物矛盾：老班长越来越瘦弱 × 仍坚持照顾三人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>行为矛盾：他做鱼汤给病号 × 自己只嚼草根鱼骨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>情感矛盾：“我”发现秘密想说破 × 老班长坚持隐瞒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>读小说抓矛盾：矛盾越尖锐，人物越高大。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>本课最大冲突：完成党的任务 / 保全自己生命 → 他选择前者。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5F"/>
                </a:solidFill>
                <a:latin typeface="微软雅黑"/>
                <a:ea typeface="微软雅黑"/>
              </a:rPr>
              <a:t>《金色的鱼钩》· 小说精读 · 人物·情节·主题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5F"/>
                </a:solidFill>
                <a:latin typeface="微软雅黑"/>
                <a:ea typeface="微软雅黑"/>
              </a:rP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微软雅黑"/>
                <a:ea typeface="微软雅黑"/>
              </a:rPr>
              <a:t>人物形象：老班长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3383280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789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外貌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C222E"/>
                </a:solidFill>
                <a:latin typeface="微软雅黑"/>
                <a:ea typeface="微软雅黑"/>
              </a:rPr>
              <a:t>· 四十岁却两鬓斑白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C222E"/>
                </a:solidFill>
                <a:latin typeface="微软雅黑"/>
                <a:ea typeface="微软雅黑"/>
              </a:rPr>
              <a:t>· 皱纹很深，十分苍老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C222E"/>
                </a:solidFill>
                <a:latin typeface="微软雅黑"/>
                <a:ea typeface="微软雅黑"/>
              </a:rPr>
              <a:t>· 后来瘦得皮包骨头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C222E"/>
                </a:solidFill>
                <a:latin typeface="微软雅黑"/>
                <a:ea typeface="微软雅黑"/>
              </a:rPr>
              <a:t>· → 操劳、透支生命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005840"/>
            <a:ext cx="3383280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0789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品质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69164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C222E"/>
                </a:solidFill>
                <a:latin typeface="微软雅黑"/>
                <a:ea typeface="微软雅黑"/>
              </a:rPr>
              <a:t>· 忠于革命、完成任务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C222E"/>
                </a:solidFill>
                <a:latin typeface="微软雅黑"/>
                <a:ea typeface="微软雅黑"/>
              </a:rPr>
              <a:t>· 舍己为人、关爱战友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C222E"/>
                </a:solidFill>
                <a:latin typeface="微软雅黑"/>
                <a:ea typeface="微软雅黑"/>
              </a:rPr>
              <a:t>· 坚韧乐观、鼓励前行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C222E"/>
                </a:solidFill>
                <a:latin typeface="微软雅黑"/>
                <a:ea typeface="微软雅黑"/>
              </a:rPr>
              <a:t>· → 金子般的内心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005840"/>
            <a:ext cx="3383280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0789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塑造方法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69164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C222E"/>
                </a:solidFill>
                <a:latin typeface="微软雅黑"/>
                <a:ea typeface="微软雅黑"/>
              </a:rPr>
              <a:t>· 外貌 / 语言 / 动作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C222E"/>
                </a:solidFill>
                <a:latin typeface="微软雅黑"/>
                <a:ea typeface="微软雅黑"/>
              </a:rPr>
              <a:t>· 神态对比（皱眉→笑意）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C222E"/>
                </a:solidFill>
                <a:latin typeface="微软雅黑"/>
                <a:ea typeface="微软雅黑"/>
              </a:rPr>
              <a:t>· 三次“说谎”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C222E"/>
                </a:solidFill>
                <a:latin typeface="微软雅黑"/>
                <a:ea typeface="微软雅黑"/>
              </a:rPr>
              <a:t>· “我”的侧面烘托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5F"/>
                </a:solidFill>
                <a:latin typeface="微软雅黑"/>
                <a:ea typeface="微软雅黑"/>
              </a:rPr>
              <a:t>《金色的鱼钩》· 小说精读 · 人物·情节·主题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5F"/>
                </a:solidFill>
                <a:latin typeface="微软雅黑"/>
                <a:ea typeface="微软雅黑"/>
              </a:rP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C3E50"/>
                </a:solidFill>
                <a:latin typeface="微软雅黑"/>
                <a:ea typeface="微软雅黑"/>
              </a:rPr>
              <a:t>细节精读：老班长的三次“说谎”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>① 说自己“吃过了”“一起锅就吃”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>   → 不想让病号担心，把食物留给别人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>② 被发现后仍劝大家吃，自己硬撑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>   → 党性与父爱般的责任感压过自己的饥饿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>③ 临终仍说“别浪费”“一定要走出草地”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>   → 生命最后一刻，想的仍是任务与战友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>手法点拨：“说谎”不是品行问题，而是爱的方式——用善意的隐瞒完成更大的担当。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5F"/>
                </a:solidFill>
                <a:latin typeface="微软雅黑"/>
                <a:ea typeface="微软雅黑"/>
              </a:rPr>
              <a:t>《金色的鱼钩》· 小说精读 · 人物·情节·主题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5F"/>
                </a:solidFill>
                <a:latin typeface="微软雅黑"/>
                <a:ea typeface="微软雅黑"/>
              </a:rP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C3E50"/>
                </a:solidFill>
                <a:latin typeface="微软雅黑"/>
                <a:ea typeface="微软雅黑"/>
              </a:rPr>
              <a:t>外貌变化线：看见他怎样把自己“耗尽”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>出场：个儿挺高，背有点驼；脸上布满皱纹，两鬓斑白——苍老。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>照顾中：比病号还瘦得厉害——把吃的让出去。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>病号吃下后：皱纹舒展，嘴边露出一丝笑意——为别人高兴。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>草地边：瘦得皮包骨头，眼睛深陷，却仍用饱满情绪鼓励——意志不垮。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>牺牲时：手垂下去，眼睛慢慢闭上——生命燃尽。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>读写迁移：写人物不要一次写死；用“变化中的外貌”写出时间与付出。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5F"/>
                </a:solidFill>
                <a:latin typeface="微软雅黑"/>
                <a:ea typeface="微软雅黑"/>
              </a:rPr>
              <a:t>《金色的鱼钩》· 小说精读 · 人物·情节·主题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5F"/>
                </a:solidFill>
                <a:latin typeface="微软雅黑"/>
                <a:ea typeface="微软雅黑"/>
              </a:rP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C3E50"/>
                </a:solidFill>
                <a:latin typeface="微软雅黑"/>
                <a:ea typeface="微软雅黑"/>
              </a:rPr>
              <a:t>语言·动作·神态：如何写“舍己”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>【动作】做鱼钩、钓鱼、熬汤、嚼草根鱼骨、抚摸“我”的头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>　　　→ 具体行动证明爱，不只说口号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>【神态对比】病号不吃→皱眉；病号吃了→笑意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>　　　→ 他的喜怒全系于战友是否活下去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>【语言】“一定要走出草地去”“我没完成党交给我的任务……”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>　　　→ 临终遗言把“责任”放在“生命”之前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>【侧面】“我”的发现、哭泣、呼喊、珍藏鱼钩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>　　　→ 用目击者的情感放大人物光辉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5F"/>
                </a:solidFill>
                <a:latin typeface="微软雅黑"/>
                <a:ea typeface="微软雅黑"/>
              </a:rPr>
              <a:t>《金色的鱼钩》· 小说精读 · 人物·情节·主题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5F"/>
                </a:solidFill>
                <a:latin typeface="微软雅黑"/>
                <a:ea typeface="微软雅黑"/>
              </a:rP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微软雅黑"/>
                <a:ea typeface="微软雅黑"/>
              </a:rPr>
              <a:t>环境描写：不是风景，是压力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C222E"/>
                </a:solidFill>
                <a:latin typeface="微软雅黑"/>
                <a:ea typeface="微软雅黑"/>
              </a:rPr>
              <a:t>草地、野菜、草根、夜色、重重叠叠的山峰……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1C222E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1C222E"/>
                </a:solidFill>
                <a:latin typeface="微软雅黑"/>
                <a:ea typeface="微软雅黑"/>
              </a:rPr>
              <a:t>作用一：交代长征艰险，说明“钓鱼救命”为何必要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1C222E"/>
                </a:solidFill>
                <a:latin typeface="微软雅黑"/>
                <a:ea typeface="微软雅黑"/>
              </a:rPr>
              <a:t>作用二：反衬老班长的坚韧——环境越恶，人物越亮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1C222E"/>
                </a:solidFill>
                <a:latin typeface="微软雅黑"/>
                <a:ea typeface="微软雅黑"/>
              </a:rPr>
              <a:t>作用三：推动情节——没有绝境，就没有牺牲的悲壮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1C222E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1C222E"/>
                </a:solidFill>
                <a:latin typeface="微软雅黑"/>
                <a:ea typeface="微软雅黑"/>
              </a:rPr>
              <a:t>一句话记住：环境写苦，是为了人物写光。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5F"/>
                </a:solidFill>
                <a:latin typeface="微软雅黑"/>
                <a:ea typeface="微软雅黑"/>
              </a:rPr>
              <a:t>《金色的鱼钩》· 小说精读 · 人物·情节·主题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5F"/>
                </a:solidFill>
                <a:latin typeface="微软雅黑"/>
                <a:ea typeface="微软雅黑"/>
              </a:rP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C3E50"/>
                </a:solidFill>
                <a:latin typeface="微软雅黑"/>
                <a:ea typeface="微软雅黑"/>
              </a:rPr>
              <a:t>象征精读：为什么鱼钩是“金色”的？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10972800" cy="1463040"/>
          </a:xfrm>
          <a:prstGeom prst="rect">
            <a:avLst/>
          </a:prstGeom>
          <a:solidFill>
            <a:srgbClr val="ED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8A2E"/>
                </a:solidFill>
                <a:latin typeface="微软雅黑"/>
                <a:ea typeface="微软雅黑"/>
              </a:rPr>
              <a:t>“在这个长满了红锈的鱼钩上，闪烁着灿烂的金色的光芒！”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>表层：鱼钩已生锈——时间过去了，物已陈旧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>深层：金色光芒——老班长金子般的精神永不褪色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>鱼钩 = 线索物 + 遗物 + 丰碑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>它记录：照顾、牺牲、完成任务的意志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>它教育：后人看见的不是锈，而是光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5F"/>
                </a:solidFill>
                <a:latin typeface="微软雅黑"/>
                <a:ea typeface="微软雅黑"/>
              </a:rPr>
              <a:t>《金色的鱼钩》· 小说精读 · 人物·情节·主题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5F"/>
                </a:solidFill>
                <a:latin typeface="微软雅黑"/>
                <a:ea typeface="微软雅黑"/>
              </a:rP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微软雅黑"/>
                <a:ea typeface="微软雅黑"/>
              </a:rPr>
              <a:t>主题概括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>课文通过老班长用鱼钩钓鱼养活病号、自己牺牲的故事，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>赞颂红军战士忠于革命、舍己为人、关爱战友的崇高品质。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>可背记三词：忠诚 · 担当 · 牺牲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>对学生的当代意义：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>不是要求每个人都经历战争，而是学会——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>在困难中把责任扛起来，把关爱落在具体行动上。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5F"/>
                </a:solidFill>
                <a:latin typeface="微软雅黑"/>
                <a:ea typeface="微软雅黑"/>
              </a:rPr>
              <a:t>《金色的鱼钩》· 小说精读 · 人物·情节·主题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5F"/>
                </a:solidFill>
                <a:latin typeface="微软雅黑"/>
                <a:ea typeface="微软雅黑"/>
              </a:rP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微软雅黑"/>
                <a:ea typeface="微软雅黑"/>
              </a:rPr>
              <a:t>文学手法速查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2011680" cy="411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51760" y="868680"/>
            <a:ext cx="4572000" cy="411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868680"/>
            <a:ext cx="4206240" cy="411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9418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手法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94183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例子/表现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94183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作用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371600"/>
            <a:ext cx="2011680" cy="685800"/>
          </a:xfrm>
          <a:prstGeom prst="rect">
            <a:avLst/>
          </a:prstGeom>
          <a:solidFill>
            <a:srgbClr val="ED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1371600"/>
            <a:ext cx="4572000" cy="6858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0" y="1371600"/>
            <a:ext cx="4206240" cy="6858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  <a:latin typeface="微软雅黑"/>
                <a:ea typeface="微软雅黑"/>
              </a:rPr>
              <a:t>第一人称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1554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22E"/>
                </a:solidFill>
                <a:latin typeface="微软雅黑"/>
                <a:ea typeface="微软雅黑"/>
              </a:rPr>
              <a:t>以“我”所见所感叙事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5544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22E"/>
                </a:solidFill>
                <a:latin typeface="微软雅黑"/>
                <a:ea typeface="微软雅黑"/>
              </a:rPr>
              <a:t>真实、亲切，便于侧面烘托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103120"/>
            <a:ext cx="2011680" cy="685800"/>
          </a:xfrm>
          <a:prstGeom prst="rect">
            <a:avLst/>
          </a:prstGeom>
          <a:solidFill>
            <a:srgbClr val="ED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51760" y="2103120"/>
            <a:ext cx="4572000" cy="6858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2103120"/>
            <a:ext cx="4206240" cy="6858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  <a:latin typeface="微软雅黑"/>
                <a:ea typeface="微软雅黑"/>
              </a:rPr>
              <a:t>细节描写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2860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22E"/>
                </a:solidFill>
                <a:latin typeface="微软雅黑"/>
                <a:ea typeface="微软雅黑"/>
              </a:rPr>
              <a:t>外貌、动作、神态、语言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2860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22E"/>
                </a:solidFill>
                <a:latin typeface="微软雅黑"/>
                <a:ea typeface="微软雅黑"/>
              </a:rPr>
              <a:t>让品质看得见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834639"/>
            <a:ext cx="2011680" cy="685800"/>
          </a:xfrm>
          <a:prstGeom prst="rect">
            <a:avLst/>
          </a:prstGeom>
          <a:solidFill>
            <a:srgbClr val="ED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51760" y="2834639"/>
            <a:ext cx="4572000" cy="6858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2834639"/>
            <a:ext cx="4206240" cy="6858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  <a:latin typeface="微软雅黑"/>
                <a:ea typeface="微软雅黑"/>
              </a:rPr>
              <a:t>对比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3017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22E"/>
                </a:solidFill>
                <a:latin typeface="微软雅黑"/>
                <a:ea typeface="微软雅黑"/>
              </a:rPr>
              <a:t>瘦弱外表×饱满情绪；皱眉×笑意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0175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22E"/>
                </a:solidFill>
                <a:latin typeface="微软雅黑"/>
                <a:ea typeface="微软雅黑"/>
              </a:rPr>
              <a:t>突出舍己与深情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566159"/>
            <a:ext cx="2011680" cy="685800"/>
          </a:xfrm>
          <a:prstGeom prst="rect">
            <a:avLst/>
          </a:prstGeom>
          <a:solidFill>
            <a:srgbClr val="ED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51760" y="3566159"/>
            <a:ext cx="4572000" cy="6858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0" y="3566159"/>
            <a:ext cx="4206240" cy="6858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  <a:latin typeface="微软雅黑"/>
                <a:ea typeface="微软雅黑"/>
              </a:rPr>
              <a:t>线索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374903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22E"/>
                </a:solidFill>
                <a:latin typeface="微软雅黑"/>
                <a:ea typeface="微软雅黑"/>
              </a:rPr>
              <a:t>鱼钩贯穿始终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3749039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22E"/>
                </a:solidFill>
                <a:latin typeface="微软雅黑"/>
                <a:ea typeface="微软雅黑"/>
              </a:rPr>
              <a:t>串起情节并升华主题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297679"/>
            <a:ext cx="2011680" cy="685800"/>
          </a:xfrm>
          <a:prstGeom prst="rect">
            <a:avLst/>
          </a:prstGeom>
          <a:solidFill>
            <a:srgbClr val="ED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651760" y="4297679"/>
            <a:ext cx="4572000" cy="6858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0" y="4297679"/>
            <a:ext cx="4206240" cy="6858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4805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  <a:latin typeface="微软雅黑"/>
                <a:ea typeface="微软雅黑"/>
              </a:rPr>
              <a:t>象征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448055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22E"/>
                </a:solidFill>
                <a:latin typeface="微软雅黑"/>
                <a:ea typeface="微软雅黑"/>
              </a:rPr>
              <a:t>金色光芒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4480559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22E"/>
                </a:solidFill>
                <a:latin typeface="微软雅黑"/>
                <a:ea typeface="微软雅黑"/>
              </a:rPr>
              <a:t>精神永存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029199"/>
            <a:ext cx="2011680" cy="685800"/>
          </a:xfrm>
          <a:prstGeom prst="rect">
            <a:avLst/>
          </a:prstGeom>
          <a:solidFill>
            <a:srgbClr val="ED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651760" y="5029199"/>
            <a:ext cx="4572000" cy="6858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15200" y="5029199"/>
            <a:ext cx="4206240" cy="6858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2120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  <a:latin typeface="微软雅黑"/>
                <a:ea typeface="微软雅黑"/>
              </a:rPr>
              <a:t>环境烘托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521207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22E"/>
                </a:solidFill>
                <a:latin typeface="微软雅黑"/>
                <a:ea typeface="微软雅黑"/>
              </a:rPr>
              <a:t>草地绝境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5212079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22E"/>
                </a:solidFill>
                <a:latin typeface="微软雅黑"/>
                <a:ea typeface="微软雅黑"/>
              </a:rPr>
              <a:t>加大牺牲的分量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5F"/>
                </a:solidFill>
                <a:latin typeface="微软雅黑"/>
                <a:ea typeface="微软雅黑"/>
              </a:rPr>
              <a:t>《金色的鱼钩》· 小说精读 · 人物·情节·主题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5F"/>
                </a:solidFill>
                <a:latin typeface="微软雅黑"/>
                <a:ea typeface="微软雅黑"/>
              </a:rP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微软雅黑"/>
                <a:ea typeface="微软雅黑"/>
              </a:rPr>
              <a:t>课堂精读路径（可直接上课）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>第一步：速读——用四字概括情节四段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>第二步：圈画——找出写老班长外貌变化的句子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>第三步：讨论——他为什么“说谎”？这算不算真正的说谎？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>第四步：突破——解释“金色的光芒”不等于鱼钩真的镀金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>第五步：迁移——写一个“把方便留给别人”的生活小片段（80–120字）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>成功标准：能说出人物品质 + 举出2处细节证据 + 说清鱼钩象征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5F"/>
                </a:solidFill>
                <a:latin typeface="微软雅黑"/>
                <a:ea typeface="微软雅黑"/>
              </a:rPr>
              <a:t>《金色的鱼钩》· 小说精读 · 人物·情节·主题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5F"/>
                </a:solidFill>
                <a:latin typeface="微软雅黑"/>
                <a:ea typeface="微软雅黑"/>
              </a:rP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微软雅黑"/>
                <a:ea typeface="微软雅黑"/>
              </a:rPr>
              <a:t>从阅读到写作：偷师人物描写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>招式一：外貌要会“变”——开始怎样，后来怎样，说明付出了什么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>招式二：神态要会“对比”——忧与喜指向他所爱的人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>招式三：语言要短而重——关键时刻说最在乎的话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>招式四：物件可升格——一根鱼钩也能成为精神象征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>小练笔句架：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C222E"/>
                </a:solidFill>
                <a:latin typeface="微软雅黑"/>
                <a:ea typeface="微软雅黑"/>
              </a:rPr>
              <a:t>起初，他……；后来，他……。直到……，我才明白，他真正在意的是……。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5F"/>
                </a:solidFill>
                <a:latin typeface="微软雅黑"/>
                <a:ea typeface="微软雅黑"/>
              </a:rPr>
              <a:t>《金色的鱼钩》· 小说精读 · 人物·情节·主题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5F"/>
                </a:solidFill>
                <a:latin typeface="微软雅黑"/>
                <a:ea typeface="微软雅黑"/>
              </a:rP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微软雅黑"/>
                <a:ea typeface="微软雅黑"/>
              </a:rPr>
              <a:t>必背理解句（对照课本）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>1. 外貌出场句：写苍老——见操劳与责任之重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>2. “吃过了”一类假话：善意隐瞒——舍己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>3. 嚼草根鱼骨硬咽：动作细节——饥饿中仍坚持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>4. 临终嘱托走出草地：语言——任务高于生命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>5. 长满红锈却闪金色光芒：象征——精神永存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>考试常见问法：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>· 鱼钩为什么是金色的？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22E"/>
                </a:solidFill>
                <a:latin typeface="微软雅黑"/>
                <a:ea typeface="微软雅黑"/>
              </a:rPr>
              <a:t>· 老班长是怎样的人？请结合具体内容说明。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5F"/>
                </a:solidFill>
                <a:latin typeface="微软雅黑"/>
                <a:ea typeface="微软雅黑"/>
              </a:rPr>
              <a:t>《金色的鱼钩》· 小说精读 · 人物·情节·主题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5F"/>
                </a:solidFill>
                <a:latin typeface="微软雅黑"/>
                <a:ea typeface="微软雅黑"/>
              </a:rP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C3E50"/>
                </a:solidFill>
                <a:latin typeface="微软雅黑"/>
                <a:ea typeface="微软雅黑"/>
              </a:rPr>
              <a:t>一句话记住这篇课文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C222E"/>
                </a:solidFill>
                <a:latin typeface="微软雅黑"/>
                <a:ea typeface="微软雅黑"/>
              </a:rPr>
              <a:t>锈迹斑斑的是鱼钩，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C222E"/>
                </a:solidFill>
                <a:latin typeface="微软雅黑"/>
                <a:ea typeface="微软雅黑"/>
              </a:rPr>
              <a:t>永不生锈的是老班长金子般的心。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C222E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C222E"/>
                </a:solidFill>
                <a:latin typeface="微软雅黑"/>
                <a:ea typeface="微软雅黑"/>
              </a:rPr>
              <a:t>读英雄，不是只流泪；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C222E"/>
                </a:solidFill>
                <a:latin typeface="微软雅黑"/>
                <a:ea typeface="微软雅黑"/>
              </a:rPr>
              <a:t>是学会在日常里，把责任与关爱做成具体行动。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5F"/>
                </a:solidFill>
                <a:latin typeface="微软雅黑"/>
                <a:ea typeface="微软雅黑"/>
              </a:rPr>
              <a:t>《金色的鱼钩》· 小说精读 · 人物·情节·主题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5F"/>
                </a:solidFill>
                <a:latin typeface="微软雅黑"/>
                <a:ea typeface="微软雅黑"/>
              </a:rP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